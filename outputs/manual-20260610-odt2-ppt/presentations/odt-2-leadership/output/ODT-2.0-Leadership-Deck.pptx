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2537948e6f4e7a" /><Relationship Type="http://schemas.openxmlformats.org/officeDocument/2006/relationships/extended-properties" Target="/docProps/app.xml" Id="R4690c73fa62c466b" /><Relationship Type="http://schemas.openxmlformats.org/officeDocument/2006/relationships/officeDocument" Target="/ppt/presentation.xml" Id="Rbdf3905d36774a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71d532e12f4350"/>
  </p:sldMasterIdLst>
  <p:notesMasterIdLst>
    <p:notesMasterId xmlns:r="http://schemas.openxmlformats.org/officeDocument/2006/relationships" r:id="R930da54e55ed406f"/>
  </p:notesMasterIdLst>
  <p:sldIdLst>
    <p:sldId xmlns:r="http://schemas.openxmlformats.org/officeDocument/2006/relationships" id="256" r:id="R3752e2f55a12465d"/>
    <p:sldId xmlns:r="http://schemas.openxmlformats.org/officeDocument/2006/relationships" id="257" r:id="Rd57834bbe518428a"/>
    <p:sldId xmlns:r="http://schemas.openxmlformats.org/officeDocument/2006/relationships" id="258" r:id="R5d9af820b93b4e62"/>
    <p:sldId xmlns:r="http://schemas.openxmlformats.org/officeDocument/2006/relationships" id="259" r:id="R1b562d6a9e664923"/>
    <p:sldId xmlns:r="http://schemas.openxmlformats.org/officeDocument/2006/relationships" id="260" r:id="R4b7a183c0d754816"/>
    <p:sldId xmlns:r="http://schemas.openxmlformats.org/officeDocument/2006/relationships" id="261" r:id="R7e4b4466b6d64d42"/>
    <p:sldId xmlns:r="http://schemas.openxmlformats.org/officeDocument/2006/relationships" id="262" r:id="R00418344b01c45e1"/>
    <p:sldId xmlns:r="http://schemas.openxmlformats.org/officeDocument/2006/relationships" id="263" r:id="R901f7fd6705f4a7a"/>
    <p:sldId xmlns:r="http://schemas.openxmlformats.org/officeDocument/2006/relationships" id="264" r:id="R218121df79cf4a0d"/>
    <p:sldId xmlns:r="http://schemas.openxmlformats.org/officeDocument/2006/relationships" id="265" r:id="Rad1e02f52e5a48e8"/>
    <p:sldId xmlns:r="http://schemas.openxmlformats.org/officeDocument/2006/relationships" id="266" r:id="R5c6276e6c4ac49fe"/>
    <p:sldId xmlns:r="http://schemas.openxmlformats.org/officeDocument/2006/relationships" id="267" r:id="R1ca5206b01494e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f3d4ca38cd443a" /><Relationship Type="http://schemas.openxmlformats.org/officeDocument/2006/relationships/slideMaster" Target="/ppt/slideMasters/slideMaster1.xml" Id="R8171d532e12f4350" /><Relationship Type="http://schemas.openxmlformats.org/officeDocument/2006/relationships/notesMaster" Target="/ppt/notesMasters/notesMaster1.xml" Id="R930da54e55ed406f" /><Relationship Type="http://schemas.openxmlformats.org/officeDocument/2006/relationships/presProps" Target="/ppt/presProps.xml" Id="Rcf099036969e46dc" /><Relationship Type="http://schemas.openxmlformats.org/officeDocument/2006/relationships/viewProps" Target="/ppt/viewProps.xml" Id="R375ae8188d0f402c" /><Relationship Type="http://schemas.openxmlformats.org/officeDocument/2006/relationships/tableStyles" Target="/ppt/tableStyles.xml" Id="Rf724e66660614538" /><Relationship Type="http://schemas.openxmlformats.org/officeDocument/2006/relationships/slide" Target="/ppt/slides/slide1.xml" Id="R3752e2f55a12465d" /><Relationship Type="http://schemas.openxmlformats.org/officeDocument/2006/relationships/slide" Target="/ppt/slides/slide2.xml" Id="Rd57834bbe518428a" /><Relationship Type="http://schemas.openxmlformats.org/officeDocument/2006/relationships/slide" Target="/ppt/slides/slide3.xml" Id="R5d9af820b93b4e62" /><Relationship Type="http://schemas.openxmlformats.org/officeDocument/2006/relationships/slide" Target="/ppt/slides/slide4.xml" Id="R1b562d6a9e664923" /><Relationship Type="http://schemas.openxmlformats.org/officeDocument/2006/relationships/slide" Target="/ppt/slides/slide5.xml" Id="R4b7a183c0d754816" /><Relationship Type="http://schemas.openxmlformats.org/officeDocument/2006/relationships/slide" Target="/ppt/slides/slide6.xml" Id="R7e4b4466b6d64d42" /><Relationship Type="http://schemas.openxmlformats.org/officeDocument/2006/relationships/slide" Target="/ppt/slides/slide7.xml" Id="R00418344b01c45e1" /><Relationship Type="http://schemas.openxmlformats.org/officeDocument/2006/relationships/slide" Target="/ppt/slides/slide8.xml" Id="R901f7fd6705f4a7a" /><Relationship Type="http://schemas.openxmlformats.org/officeDocument/2006/relationships/slide" Target="/ppt/slides/slide9.xml" Id="R218121df79cf4a0d" /><Relationship Type="http://schemas.openxmlformats.org/officeDocument/2006/relationships/slide" Target="/ppt/slides/slide10.xml" Id="Rad1e02f52e5a48e8" /><Relationship Type="http://schemas.openxmlformats.org/officeDocument/2006/relationships/slide" Target="/ppt/slides/slide11.xml" Id="R5c6276e6c4ac49fe" /><Relationship Type="http://schemas.openxmlformats.org/officeDocument/2006/relationships/slide" Target="/ppt/slides/slide12.xml" Id="R1ca5206b01494e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34e15aee2c41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e3d05ee2374b41" /><Relationship Type="http://schemas.openxmlformats.org/officeDocument/2006/relationships/notesMaster" Target="/ppt/notesMasters/notesMaster1.xml" Id="R48b8a971b70544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667646937f467f" /><Relationship Type="http://schemas.openxmlformats.org/officeDocument/2006/relationships/notesMaster" Target="/ppt/notesMasters/notesMaster1.xml" Id="R9fdc82e39f944d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7540c546254696" /><Relationship Type="http://schemas.openxmlformats.org/officeDocument/2006/relationships/notesMaster" Target="/ppt/notesMasters/notesMaster1.xml" Id="Re3bb899478f840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d737909b5849ca" /><Relationship Type="http://schemas.openxmlformats.org/officeDocument/2006/relationships/notesMaster" Target="/ppt/notesMasters/notesMaster1.xml" Id="R57219e260f9d43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bac52c20a34955" /><Relationship Type="http://schemas.openxmlformats.org/officeDocument/2006/relationships/notesMaster" Target="/ppt/notesMasters/notesMaster1.xml" Id="Ra1d0d3b4a6924b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563e1eb35641a0" /><Relationship Type="http://schemas.openxmlformats.org/officeDocument/2006/relationships/notesMaster" Target="/ppt/notesMasters/notesMaster1.xml" Id="Re672399add9d4d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b51a20803746b9" /><Relationship Type="http://schemas.openxmlformats.org/officeDocument/2006/relationships/notesMaster" Target="/ppt/notesMasters/notesMaster1.xml" Id="R41dac2e0294240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26e67984bc4efa" /><Relationship Type="http://schemas.openxmlformats.org/officeDocument/2006/relationships/notesMaster" Target="/ppt/notesMasters/notesMaster1.xml" Id="R7a0c4fda49d544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0a9d8635854a2d" /><Relationship Type="http://schemas.openxmlformats.org/officeDocument/2006/relationships/notesMaster" Target="/ppt/notesMasters/notesMaster1.xml" Id="Rd59c5856751f4d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1eaaa6d8f64e7d" /><Relationship Type="http://schemas.openxmlformats.org/officeDocument/2006/relationships/notesMaster" Target="/ppt/notesMasters/notesMaster1.xml" Id="Rcef37783cc874b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b19e52b9a94d34" /><Relationship Type="http://schemas.openxmlformats.org/officeDocument/2006/relationships/notesMaster" Target="/ppt/notesMasters/notesMaster1.xml" Id="Rf8b3b9cca41f49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f06cb6e7224b6c" /><Relationship Type="http://schemas.openxmlformats.org/officeDocument/2006/relationships/notesMaster" Target="/ppt/notesMasters/notesMaster1.xml" Id="R43732c61778f43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ODT 2.0 should be positioned as the enterprise control plane around AI coding workers, not as a replacement for Codex or Cline.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updates the original problem statement to show why AI coding alone is incomplete in enterprise delivery.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clearly separates ODT from coding assistants: ODT is not competing with Codex; ODT orchestrates and governs Codex-style workers.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'what is built today' slide. It is intentionally product-surface focused.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updated workflow diagram. It replaces the earlier 7-stage concept with the current ODT 2.0 requirement-to-PR-ready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user emphasized sequential relay between planner, developer, reviewer, and verifier. This slide makes that core product idea explicit.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ODT 2.0 architecture slide. It intentionally simplifies the older dark architecture while preserving the same visual family.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user called out customization for team/company policy packs, WCAG/VPAT, coding standards, and do/don't rules. This slide captures that.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why ODT matters for cost and privacy, not only productivity.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future improvement slide requested by the user. It includes OCI GenAI/OCA, MCP, auth/RBAC, DB awareness, and connector upgrades.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reflects the recent ODT behavior work: completed Jira verification should launch Reviewer and Build Verifier before PR Ready.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summary slide: ODT is the enterprise control plane for agentic AI development.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7980206db43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3b8ff5f5564be3" /><Relationship Type="http://schemas.openxmlformats.org/officeDocument/2006/relationships/slideLayout" Target="/ppt/slideLayouts/slideLayout1.xml" Id="Rffb62fdfdbc140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b62fdfdbc140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51e8107df4a88" /><Relationship Type="http://schemas.openxmlformats.org/officeDocument/2006/relationships/notesSlide" Target="/ppt/notesSlides/notesSlide1.xml" Id="Re748ab3003a64c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ba87e29b741da" /><Relationship Type="http://schemas.openxmlformats.org/officeDocument/2006/relationships/notesSlide" Target="/ppt/notesSlides/notesSlide2.xml" Id="R99cc99e02c3948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95ebfb9ba467e" /><Relationship Type="http://schemas.openxmlformats.org/officeDocument/2006/relationships/notesSlide" Target="/ppt/notesSlides/notesSlide3.xml" Id="R7ddc7cc4f7ca45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21abf50c4443a" /><Relationship Type="http://schemas.openxmlformats.org/officeDocument/2006/relationships/notesSlide" Target="/ppt/notesSlides/notesSlide4.xml" Id="Rf9d79cef030b43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096e7415640f5" /><Relationship Type="http://schemas.openxmlformats.org/officeDocument/2006/relationships/notesSlide" Target="/ppt/notesSlides/notesSlide5.xml" Id="Re213bac401a541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5ebd87f3b4490" /><Relationship Type="http://schemas.openxmlformats.org/officeDocument/2006/relationships/notesSlide" Target="/ppt/notesSlides/notesSlide6.xml" Id="Ra47783e53b0848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bd7bcf92d4da6" /><Relationship Type="http://schemas.openxmlformats.org/officeDocument/2006/relationships/notesSlide" Target="/ppt/notesSlides/notesSlide7.xml" Id="R0bbf7c1a75fc47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e3006e1a740dd" /><Relationship Type="http://schemas.openxmlformats.org/officeDocument/2006/relationships/notesSlide" Target="/ppt/notesSlides/notesSlide8.xml" Id="Rf12cbf841ed545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8271679624b94" /><Relationship Type="http://schemas.openxmlformats.org/officeDocument/2006/relationships/notesSlide" Target="/ppt/notesSlides/notesSlide9.xml" Id="Ra0048841a2bc4e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5f6115e004641" /><Relationship Type="http://schemas.openxmlformats.org/officeDocument/2006/relationships/notesSlide" Target="/ppt/notesSlides/notesSlide10.xml" Id="Rf6201127dc7848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159ca46194d9c" /><Relationship Type="http://schemas.openxmlformats.org/officeDocument/2006/relationships/notesSlide" Target="/ppt/notesSlides/notesSlide11.xml" Id="R303128972b7247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f32d60c32482e" /><Relationship Type="http://schemas.openxmlformats.org/officeDocument/2006/relationships/notesSlide" Target="/ppt/notesSlides/notesSlide12.xml" Id="R566c038802f94e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76EFD4-7D4E-4ABE-888C-93B9576F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410D6-0BB3-48E5-B669-E114CA2B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17F51-D6BB-419C-AC2C-ECF26EF3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8EC69-EC3C-4023-9D33-810A2900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0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FE094-6D15-4CA1-843F-C18713BA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2DF30-25BF-4D2D-B0AA-76C9440D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04C56-1B3E-4419-A8BD-1E3ED791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090DD-24D7-48CD-8D74-F9684B46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C1BAE-0A65-459C-A437-D53E195C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BEDDA-A312-4BFE-94B5-2007F7C2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352F1-D8F1-4A41-A29D-95D6F6C4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87FEF-CDD8-407C-9C0D-B839FB88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A10DA-5CBB-4364-8EEB-C7655649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271448-8002-4EEC-913B-288543B5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38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FD4A8-917C-49C3-8BA2-A61EEEC0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8F766-B433-4A9C-958E-FE439AA8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2059B-E958-40C9-B121-E5A38E5E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84408-5C5C-4E2A-8F4E-60D7B7A5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6EECC-ECE7-4EAF-B2C8-7B037CAC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937F5-52F8-42FE-A9FB-8BBE042C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28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F43AD-C956-4B2F-AA30-E3D18D30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24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61B5E-5546-486E-A11D-9EA153FE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905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684B6C-ADAA-410E-A11D-1400367D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28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E8FA62-C034-40C9-9956-35B11EC6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5F5CB3-8FC2-468C-AB9E-A60BF37A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905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76FB36-2C4E-4A1C-9AFB-940CAB3D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B52C77-1D20-45D9-949E-E4980CD6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524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9DF0FA-5646-4737-9D80-0B228D45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05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28EEE2-61B0-48A7-8180-AFBA0567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28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23BC7A-256A-49E8-8447-F4B7260B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524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A2643D-038D-4381-A0CD-0A51ABCC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92441A-9978-4A9E-925C-C7172987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286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8F4C85-847B-4ED9-A8EA-8EF5F8D9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C1DC8A-8C7A-45B6-8F88-BEC21064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789224-7A60-4815-8E03-7501A53C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8191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A4479D-1ADE-49A6-A7C0-24364190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8572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29AE42-517E-43BB-AE03-D2DCF3C4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81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F778FD-6559-4664-8EF5-9D5D0749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191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17603A-D444-423E-AAD4-83409640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572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4FB73B-F5C0-44B9-BCF7-7AD0613A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81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BED0B0-C52A-4AA1-9136-BBCF12EA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191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1FA901-4B7E-42D8-8D96-1E45A4BE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8572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B56D4C-3EEA-486D-8258-5474CDA8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781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8AE39A-DAA3-4EAC-826C-29C9BA87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191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EA43F9-A4FC-4B48-86AC-47C09D7C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8572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92EB06-E2BC-45ED-BB75-2F38159B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81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0657AD-B6E6-4942-B23B-A36F6D7F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8191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3C13ED-AFA2-4B45-95CF-62D49BD5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572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AA76B1-F56C-4394-A6ED-20F33DC0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4D528C-CEAA-4F4A-96AB-8D439818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9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F85BAC-9A37-43BC-84A4-A1E95A98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0477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DA9E43-A0E4-40F6-A49F-5F8C2D87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85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15AE0E0-D350-454D-B003-EDA83B15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09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F07745-D47A-41A2-AFFA-36BA853F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FCB8F9-A018-41CF-B8E5-986FDAC9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085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7A0634-245D-4F6C-8223-A3BBBA50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09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1EE4ED-113F-489F-B051-0382B660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0477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5B53EF-1F6A-49BE-A32F-106327F8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85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0FEFE3-2308-42B2-86FF-1A4C02B3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D8F64D2-0158-473D-93F7-62921A25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62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3C2C8AA-7E3D-4DAB-A3D2-17EE0FD9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869B896-336E-4C23-BB44-E6693D25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72250"/>
            <a:ext cx="438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ODT 2.0 Leadership Deck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A64008D-7ED2-4447-8717-927F640F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ECB9AE4-3C14-488A-8283-855C0714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62725"/>
            <a:ext cx="228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22FE7EA-5C26-4383-8DBC-34902013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76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Oracle Developer Twin 2.0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DB19A93-7606-4CA1-B20C-11A7F01C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Governed Agentic SDLC Workbench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1C5A6D3-AB44-4F94-9C3E-2E0D8E0B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57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A control plane that turns Codex, Cline, OCI GenAI, and future model engines into supervised, evidence-backed software delivery workers.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F2EE540-9481-418E-AFF5-D9CCF4C2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190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8CB56FE-61A2-451A-A487-D10D4762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6B032BA-EC74-4529-970D-0A1DE3A7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6707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ENTERPRISE GOVERNANCE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1E7AEA3-563A-4BE9-AFA6-0A5E09D8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90875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DD2D112-84E5-4091-9816-2C881199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90875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C6906EC-D655-497E-A2F5-C0FAE573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67075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AGENTIC WORKFLOW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B7B8CA8-0A79-41A8-A79D-9C7E38B4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90875"/>
            <a:ext cx="2190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49E58DF-F6DF-42E5-893D-C3C3AEBF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90875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10AC5FF-31DB-452D-B6D7-59DE37ED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6707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LOCAL EVIDENCE FIRST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347E61E-2C3D-45B3-8B38-36FCDC2F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9527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B89C1D2-BFD9-41CC-BE4A-B64D6939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4F0A0CF-A963-4CA3-9609-46AEF607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Control plane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DAF7910-74D1-403D-B1FE-ED4C92D6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255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ODT owns intake, planning, evidence, standards, approvals, delegation, review, build proof, and PR readiness.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9004A50-2388-4228-AB74-3F12C644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71950"/>
            <a:ext cx="29527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BFE9382-B682-4BAF-97D5-9BA168E4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7195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15C229C-5D47-483E-92A5-8DFB3743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434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Worker engines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C999D9E-900C-4F2F-90F0-F916EAF2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48200"/>
            <a:ext cx="255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Codex is wired today. Cline, OCI GenAI/OCA, Ollama, and OpenAI-compatible adapters fit behind governed gates.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6B93F7D-F54A-48A1-88CA-C2C2AE72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71950"/>
            <a:ext cx="29527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374FC73-5AB2-45FD-B26D-77D8B3A5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7195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DBC221D-4F7F-4A1E-A767-6E570E7D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434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Enterprise promise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14A2CAF-34C9-4E8A-89F3-50729DEA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48200"/>
            <a:ext cx="255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Less repeated context work, stronger standards discipline, lower token waste, and auditable human-in-the-loop delivery.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A201B70-9560-4D55-8F89-8E3251F3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009650"/>
            <a:ext cx="211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A558C88-82CC-4CC7-9B1B-86FD330D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668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ODT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6449115-41E7-40EF-BA57-800C19B0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43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6A05AA9-1A8D-443F-B0F3-D4411223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741EFBF-1FDF-4DE1-B0BF-32F641F4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343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23808D7-2977-44EB-A63E-35E249D4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CONTROL PLANE</a:t>
            </a:r>
          </a:p>
          <a:p xmlns:a="http://schemas.openxmlformats.org/drawingml/2006/main">
            <a:pPr algn="ctr">
              <a:defRPr sz="1350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FOR AI DELIVERY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2DBA733-BDB7-4829-B948-90CFACE6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09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9C871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CEC751E-F9B1-4145-AFB5-629EDF53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67400"/>
            <a:ext cx="975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ODT 2.0 is not another coding assistant. It is the governed workbench around coding assistants.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E6E8E58-57DE-4F66-A162-4105C6F6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745ED04-9E9A-4293-8BFD-C0D912DF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62725"/>
            <a:ext cx="228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81601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EE4628-D8E1-475F-A999-BC49C1DD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D3A73-1642-46EE-9BF9-998884D7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024E3-317C-4D5F-AFF6-4DD0A06B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941E4-C276-44D8-977A-CA6FA46E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0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C39FB-AD59-4200-BBC1-03F849B8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55016-7CD8-4FBC-8B06-06E8451E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A3E4A-B7C2-486E-A3BD-AF645982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D94BB-B491-4421-869A-D118F8B5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71C0D-184A-480D-B641-A6337238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704FB-A478-4950-A73C-D47AFB9C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3D331-3F5A-402A-AED9-BD92EAD5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D2E6F-3827-4225-92D0-22A5F477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36F99-D9FA-4A44-AC5F-C46855F1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9B0EA-CD7B-4A50-9749-890EB87F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38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6C83B-1EE4-4AC8-8F3C-AB144866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0DF8E-6F08-47C5-9B80-23FB506A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E61E8-E866-40B7-A91D-60DF5B35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C26B2F-E9C3-4D63-8DE8-2805E866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0B2339-D50D-44AC-9CC8-D091A08E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AC11E3-BE59-4323-A117-639EF671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28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BE77F-AFE7-482E-BE44-A3EEFE90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24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837660-EDF6-4648-9B42-0077DA4C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905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5CF78-EC83-4A9F-8597-C3DFCD58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28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10B579-4E03-4528-A059-07B71A34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75C783-A7FA-4003-8DB7-87A8B703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905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916FB9-AE6E-4F92-82DC-B2BD8D9D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E0DA77-B9CA-4D50-84F0-617C9EF5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524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3C844C-1AE3-49D7-BE79-482A92E4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05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9696BF-3E8B-4601-99FA-6E3182BC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28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BACAB9-53B8-413D-A818-6251EF5A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524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13DF1B-40A4-4CF6-A196-C313A228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A51303-A264-4C23-A6B1-755B419F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286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56920C-9BB0-4A69-BC29-E61CC460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89DF58-FBC9-49D3-A319-DBD1B250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3C17E8-8450-4CC3-B433-414CE307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8191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1BCCAF-1A80-4714-8ACD-E7E1846A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8572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B87354-1017-4108-8954-8BC878DE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81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9540F3-3A2B-4E65-9D18-97442FF2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191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CF276C-4307-4491-9888-CE11760C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572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22AA43-86C8-4EF3-8870-82CDB514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81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E9B511-87A2-43FA-A61C-7C9C2B90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191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6BF2CD-5D4B-4FFB-B589-511B5032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8572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8436A8-A779-4307-85E6-AF29F293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781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5F5A8C-B239-41C1-9637-E27B20E3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191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2D5A4C-A34F-41E7-961A-B8473D67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8572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0A7F9E-A70E-4E69-BB94-829C7A46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81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0CFAA0-BB35-4A83-86C1-D839B0CF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8191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C65C2A-6265-45F6-B836-796A7DDC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572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20E94A-B6BC-4B5E-98AD-E2FA510B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AD34AD-AF67-4981-A028-6B5E0138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9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E56C30-CFF2-4A57-BC35-E86977F8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0477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871C91-B2C8-4E69-BEF9-FBEDD8B0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85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15DD8D-C5C1-4467-BA9E-BD7683EE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09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7052B9-04EB-48D2-A77D-3714AFF2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36EC89-9DB6-4445-A11F-204B148D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085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9CEC00-64D5-4E03-A591-AD07DA2A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09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236F15-A698-4BDB-92ED-0DD66A18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0477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BA7A4A-5807-4004-9627-60F19CF5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85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668283-0992-4FFC-AE25-BE0672E6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29F086D-5C6E-44BB-8830-E41D52A5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62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4862099-EADE-4019-B2D2-3C42A3DD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27AF5E5-D928-4C42-9E3E-706A6881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72250"/>
            <a:ext cx="438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Problem and Value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B056CB9-0B7A-4B22-BE74-6DE20376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660DF6-AA8F-4E90-90A2-CD78A17C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62725"/>
            <a:ext cx="228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7A25BD9-640F-4AF6-BD26-6DAA2872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Teams need governed AI delivery, not only faster code generation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D0AA742-CB86-4E20-9E8E-F644B60E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AI can write code, but enterprise SDLC still needs requirement clarity, standards, approvals, evidence, and PR readiness.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96E8E70-BCB5-4392-B31F-D4AEF003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0863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B6CB991-55AF-483F-BE8C-315AE1B4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AE5C523-AB33-4313-9E39-B54C21DB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503D214-3CED-4C5F-9D27-24715799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6863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Developers spend significant time translating tickets into engineering action: understanding requirements, finding impacted files, planning changes, standards rules, and coding-assistant prompts.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3F99857-F3BB-4828-96F9-2CD2A09C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95450"/>
            <a:ext cx="55626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E2D57E5-6FAB-4C58-8344-E895C1A1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9545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6F5F65-E8D0-4F90-94E6-E54A8BFB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66900"/>
            <a:ext cx="516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Who faces this problem?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0865F8-EF7C-4104-BECF-A0E78B65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71700"/>
            <a:ext cx="5162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Developers, tech leads, reviewers, delivery managers, platform owners, and teams adopting AI-assisted software delivery across governed enterprise repositories.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D84F49E-3A51-4194-8823-7CC0F3AD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50863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BC1925A-E2CD-42F9-9906-DA689E74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7649B97-97B3-403C-B5FB-68BE8D28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ODT answer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73E4BDE-F328-4E71-8DB0-0AD9E7C2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4686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ODT turns hidden preparation work into a visible SDLC workflow: intake, analysis, design, standards, approval, delegation, review, build verification, and PR readiness.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B0EC658-7A0A-4619-BB6C-0703A9DE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100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E1"/>
          </a:solidFill>
          <a:ln xmlns:a="http://schemas.openxmlformats.org/drawingml/2006/main" w="9525">
            <a:solidFill>
              <a:srgbClr val="DED8D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6E45F85-C8F7-4676-804C-9BF9E25D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24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Improvement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E78B100-C469-4BD5-9E74-536A2DED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1000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E1"/>
          </a:solidFill>
          <a:ln xmlns:a="http://schemas.openxmlformats.org/drawingml/2006/main" w="9525">
            <a:solidFill>
              <a:srgbClr val="DED8D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79684BB-C77A-4032-B059-306EE1E2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24300"/>
            <a:ext cx="3371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ODT contribution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04DAB49-8850-48FC-89A1-DEEA433E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529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61A648E-39EB-4C0E-9C17-5B8D88D9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386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Less repeated prep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688B9A3-DA7E-4996-806A-5472D5ED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5290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513312F-9CD0-44AA-A05E-C1DA956C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Local evidence + scoped prompts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68B17EC-5F89-4D3C-BB73-490AA31C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958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23C723E-01C8-4868-926F-47A3768C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815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Better quality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CA2D504-288C-4CF8-B11E-5D055022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9580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2CF14F8-7ED6-4A5E-AB93-82D63363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81525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Standards and review gates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918B7E9-527C-4A4A-86E6-BE672C1A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8387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49B9CF3-889C-4092-B5AA-EDA56DAA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244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Safer AI use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6D738FB-EF03-4DC2-A5F0-17E70ADA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3870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150EFAA-CBD3-441D-BFDA-EAD5FE89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24425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Human approval before writes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98A5689-D47D-4DBD-B7D8-048FF651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816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080A243-13A0-4DF7-9608-A1236A75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673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Clearer PRs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CF66031-FA5D-48E5-B735-61084833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18160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2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C6AA4BB-4D3B-4AF0-A71B-BF970B11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67325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Evidence-backed closeout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6D6FA1C-C77A-4EED-AE17-8B708B75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9C871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97CF55F-C8F7-485F-B38F-3A166AA4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51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ODT helps teams stay closer to the requirement while keeping execution governed and review-ready.</a:t>
            </a:r>
          </a:p>
        </p:txBody>
      </p:sp>
    </p:spTree>
    <p:extLst>
      <p:ext uri="{BB962C8B-B14F-4D97-AF65-F5344CB8AC3E}">
        <p14:creationId xmlns:p14="http://schemas.microsoft.com/office/powerpoint/2010/main" val="5610552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A26661-EB6A-4965-BCE7-F51FE307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5422A-CB2F-4B11-B7B7-1771DA5B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65E7A-A122-4E57-9034-221805B2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FFA3B-E63B-446C-8747-3E8FFA88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0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BEBAB-4E57-4B3D-AC89-D59B4A39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B9870-3829-4FD0-B610-AED4537A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97437-8322-4FE0-9134-E3A944AD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79F97-0A31-4CE5-8577-560B9A31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64F6D-6025-421C-8F95-53D66401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06193-41B2-49E5-90C8-6E3F2EC3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05A8E-8228-4A9D-B224-F469435C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2D6FC-DB1F-4CB1-B73B-7273876F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73626-0F87-4C38-A445-C74902F9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5F793-25D1-41DC-BE90-4D46DED2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38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2C9B1-2701-458B-968B-E4F5B1AF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50BB3-9104-481B-86D2-605EEE5B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CE4E5-74F8-44B9-8B66-3BFA9EFC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41F96-7216-449D-B15C-763D853E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918E7F-D576-459B-8620-0580437F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42A92-0051-4268-B9F3-4F174A86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28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587C0-D6F5-4D92-A14E-F161FF04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24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76CEA1-0670-4384-84E1-B5167941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905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C384E6-B37A-437A-B89A-D7E1ADE3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28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E25285-6F33-4D4B-B0A5-A214F28F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ED9C47-976B-47A6-AD84-D4FADF77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905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D5ACB0-B955-4973-914F-E381D109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A1EBC6-E766-4316-A373-AFC1E1F1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524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86E62A-B89B-4EFD-8E8E-1EAAA285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05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1C7EF2-1E9A-48CD-B341-1A8BF3C0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28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FCCC4C-30B7-465B-9B2E-52EE8361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524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1E8B25-034C-4416-9B27-3639CF6F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BD3FEC-DE64-4104-AFB7-C760B248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286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F24BED-19E3-48C6-A82F-8ECFA870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F9C4B6-E6D6-4BFD-A8F7-2F0E6687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33C59E-3E15-4F8E-B61A-2D070DF2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8191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375252-F449-46FB-BCB3-C065131E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8572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862DB7-982D-4A50-9AC3-79E4010C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81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C2391E-1268-43BE-9B94-A0AF26C9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191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C2A068-BF5E-4B4D-AAAB-DB98788F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572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B81E8B-A239-4E73-A5C5-B14EA5D0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81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009503-AA4A-4741-8F0F-F4FD3219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191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6804B0-0152-4CAE-886F-5B486080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8572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BFFC70-B415-46C6-BDDB-F7504ED8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781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2FAF6B-67A6-49A9-839F-12187818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191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D07098-B8C1-4309-8353-81227B30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8572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06A521-DC52-4C6F-BC11-0BE53DAD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81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B4E842-1C65-48DB-84D1-7016B655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8191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D283F3-669F-4EAB-9273-5F3A2EBA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572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CE22A0-04F7-49E3-82CC-67944D8A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423C39-B69B-4205-95D4-77B45213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9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6BFBE8-E24A-4CF2-AA08-A5F9CA36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0477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4333A1-72AE-4D65-93AB-043AE918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85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F27AA8-1C79-46A8-BA78-2A44BD62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09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51EC9DE-6EA2-49A8-8F9F-8F028CB7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EF9705-89FC-4209-AA3F-5327D7BD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085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31876A7-6C30-4809-9D7E-950A9C67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09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10D03CB-FDA4-4C5A-A651-DB9AAE42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0477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F7A4283-2103-474B-A838-D7ABCDF9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85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F1F74E-4228-4314-8F7E-BB9E17C6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6A63332-E6BB-49AC-B262-5C115196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62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440AB0E-3887-458A-BD1C-6B1AB2D4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064AB75-AEEC-48BD-BF95-478EDF15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72250"/>
            <a:ext cx="438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Positioning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95E071E-B957-4661-84CA-21CACF45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E00566F-06A1-496D-8101-030F3861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62725"/>
            <a:ext cx="228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8C7FC98-F30D-4D6A-BEC8-A6F2530E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ODT complements Codex and Cline by governing the full SDLC path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9793B00-1143-4C88-AEC9-3C0D2717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Worker engines are powerful. ODT decides what context they get, when they run, and what evidence is required.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7D1D193-1654-4FED-BD60-7E828E7E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2781300" cy="31432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CF7F720-9914-4AED-8EB0-038CFC60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8A186D6-13BB-474A-8DBD-AC112D9C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383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E5F8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E5F8A"/>
                </a:solidFill>
                <a:latin typeface="Aptos"/>
                <a:ea typeface="Aptos"/>
                <a:cs typeface="Aptos"/>
              </a:rPr>
              <a:t>Codex / Cline / Cursor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C34A61-F2BE-4A21-BDC5-92884D4F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23812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Excellent coding and technical execution assistants.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Weakness if used alone:</a:t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prompt/session dependent</a:t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standards depend on user memory</a:t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evidence is scattered</a:t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approval is manual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D74A3E7-9460-4DBF-ADF4-A371B2BF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1465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3D852C9-F62D-45C9-B6F8-41EF0B74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28750"/>
            <a:ext cx="3143250" cy="36576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BE5E1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39A04D3-74E4-44F6-A42A-A796F728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28750"/>
            <a:ext cx="762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BA3B743-A483-4A3C-BF1F-7DE88DBD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0020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ODT 2.0 Control Plane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D66D6E3-FB6C-4325-B934-6900F02C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05000"/>
            <a:ext cx="27432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Owns SDLC workflow:</a:t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requirement intake</a:t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repo/Jira evidence</a:t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standards gate</a:t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human approval</a:t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worker handoff</a:t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relay context</a:t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review/rework</a:t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build proof</a:t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PR readiness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6EF8833-0C1F-405B-8B25-556900DF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1465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7069EAC-9432-493A-9069-1A2513A2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66875"/>
            <a:ext cx="2781300" cy="31432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36A6EF5-D154-43DE-8774-C184EB44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66875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05D6DCF-BA94-4F0E-B11E-77D41AE2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383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7D4B"/>
                </a:solidFill>
                <a:latin typeface="Aptos"/>
                <a:ea typeface="Aptos"/>
                <a:cs typeface="Aptos"/>
              </a:rPr>
              <a:t>Enterprise outcome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693946C-2E29-46E2-8A22-E2CDFF8E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43125"/>
            <a:ext cx="23812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Teams get AI speed without losing control of:</a:t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governance</a:t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privacy</a:t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quality gates</a:t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cost visibility</a:t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repeatability</a:t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auditability</a:t>
            </a:r>
          </a:p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leadership reporting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31DD123-E797-4443-8565-5A67A5AE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687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FD469AA-2821-4052-B67C-869B37A2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Simple framing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520454D-94D2-438A-A441-D595C757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61975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ODT is the orchestration, evidence, and policy layer. Codex/Cline/OCI/Ollama/OpenAI-compatible models are pluggable workers/providers.</a:t>
            </a:r>
          </a:p>
        </p:txBody>
      </p:sp>
    </p:spTree>
    <p:extLst>
      <p:ext uri="{BB962C8B-B14F-4D97-AF65-F5344CB8AC3E}">
        <p14:creationId xmlns:p14="http://schemas.microsoft.com/office/powerpoint/2010/main" val="20854203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216F60-5A1B-4ABA-B16F-92BFEFDF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B3CC4-7185-4BC8-9930-748878FD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1A9A2-2974-47F4-BAA3-C4BA4645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4BD05-5D6F-4EB9-BFB7-D4284408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0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D6AFA-4732-421C-BDFF-1CBBE53F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BAC24-EC4C-4F7A-BFEB-2243F671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C098A-CFF8-4AF4-9B8F-C5C6AB01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B420F-7A1D-426F-93D5-F8AAB4EF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4A6EC-8B22-41DE-8501-4935AFAC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C313E-4D8B-4899-80A8-043B130E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3D5DF-D346-4E0B-ABC5-876C4D40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B01E9-94A1-4630-BC8B-95A66E51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C5BE7-480D-4FE7-83D5-94729282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EB6FB-F38D-48B2-A879-B316B84D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38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8E307-AFC8-411C-BD0C-5F3BD367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1408F-F89F-48E2-8C6B-5263E0EA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BC2DE-29CF-4F3B-B7F4-C02AF452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23FA0-C0B3-4289-AD41-5CD555F9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3E6F4-FA3E-424B-AB32-F00118E1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2B3120-E294-4277-85C8-D6634113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28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6CAAB7-3426-4637-90C0-25C065CE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24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E1F94-28EE-40F2-92A0-C6485D32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905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5AD6C9-5840-4FC5-BF39-04564704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28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6DAC49-291D-4D9F-9820-D24275E4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B24D17-B913-4F43-A7AD-C30CBED3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905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797D4-F639-4973-B0B7-0A251A21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3A5975-8121-4EDE-9061-DFC56B18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524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948CFA-9B14-4028-9371-82F1A558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05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7CE52F-FB35-466C-93F7-C19A745C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28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0DBC21-3AA7-4686-AD24-7AF32564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524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A899FA-EEA4-4251-BAFF-C7A1C89E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57D7C0-C403-41AD-B66E-E526D378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286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CA1238-AA63-4F27-835D-87EF4146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9CB019-B897-4EA2-BF1E-085C3172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A723F5-BA80-4FFE-851F-9DB48452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8191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89E64C-AAAB-4520-A8B2-64F6A45B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8572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7556BA-A47C-4812-B17D-0417E2E2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81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B9A56D-2F25-49EA-9A5C-ABA856C1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191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44F736-15A4-43D0-AD77-009B331D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572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837076-9862-42B7-9F95-9B172EE2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81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D85C28-B47A-4403-8E30-15F0B488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191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B4FD9F-A8F2-457C-93F3-C65CEBD5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8572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B0C065-2CD6-4010-8102-C7B8338F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781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FECD9B-9978-41DD-A2EE-B9C8C393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191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FA860C-C35A-4D10-8B9F-F9258204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8572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BBE733-34CD-4E77-B8F1-8446A125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81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4B4B04-7EF1-4D45-948E-2ED557CC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8191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388E47-F8E7-42AE-96AF-42096E0B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572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7CF45A-5634-436F-B910-A82BB0D4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355825-66E3-498F-839E-D012B85F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9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871D4B-8DD6-4848-BF29-0AC88718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0477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3B9CB1-AE09-4175-B39A-C7C1DFCB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85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898424-84C6-4FD8-9E6F-A774C2B2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09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E1566D-FE83-4FDB-805A-75B3E265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13BF4E-CDA1-4AAB-B5B0-0201571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085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22893F7-0668-48D6-BAFF-AA042151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09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BE49408-17B7-42BB-B2A2-3C1BC8AE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0477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B38FDC6-C858-4EFA-B5BE-45BB5723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85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8777F1-1E9A-487C-BC36-5B6CC87A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B4F7DAA-DF58-48E4-AFBF-6B4F76B4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62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C8597D-DF73-41F4-8C26-7A16E353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1F61560-9D2C-43C0-B5B2-675A8435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72250"/>
            <a:ext cx="438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Current Build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52EF57-D298-4BC7-9EB0-048800C8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59E643D-B651-4A21-AB30-D8FC29C6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62725"/>
            <a:ext cx="228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0A62BF3-FB40-4A7C-BEDF-34D65F3D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ODT 2.0 already behaves like a workbench, not a static dashboard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9560354-CFAD-47A1-ADA4-58C4DD22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The current product surface combines intake, planning, standards, agent execution, review, PR readiness, artifacts, guide, runs, monitoring, and settings.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ED7B299-56FD-4BCE-8B8D-3ADFBB1A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766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555DDA3-F3D4-4063-978C-2477241E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23CFCD5-C888-4C3D-B1A5-781F6A9A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7463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74634"/>
                </a:solidFill>
                <a:latin typeface="Aptos"/>
                <a:ea typeface="Aptos"/>
                <a:cs typeface="Aptos"/>
              </a:rPr>
              <a:t>Intake + Jira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2D8B5CC-FA8C-4CB3-B483-D086DCF0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876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Requirement capture, Jira2 read path, repo folder analysis, uploads and supporting assets.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C113E5-E171-4B38-9B7B-BE75DC9C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32766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B6DE34E-87EF-46CE-8F44-0B6C592E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C766126-5512-4D7B-9FE4-87693C5B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9070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E5F8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E5F8A"/>
                </a:solidFill>
                <a:latin typeface="Aptos"/>
                <a:ea typeface="Aptos"/>
                <a:cs typeface="Aptos"/>
              </a:rPr>
              <a:t>Planner + Standards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28FDF0E-2830-40F4-B125-1DAA68C2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2876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Plan summary, implementation strategy, policy/standards gate, accessibility/security/testing concerns.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F542301-CCBD-43C4-A6D1-1197951B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2766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B95F17F-AB5F-4221-974D-A1A43840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565B4DA-84CC-4F8C-B305-1CCF9278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9070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7D4B"/>
                </a:solidFill>
                <a:latin typeface="Aptos"/>
                <a:ea typeface="Aptos"/>
                <a:cs typeface="Aptos"/>
              </a:rPr>
              <a:t>Agent Team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1F6D7E0-1630-4360-9220-784ABA0B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2876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Lead Planner, Senior Full Stack Dev, Reviewer, Build Verifier, worker launch/refresh/stop/ingest.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FF37091-F467-4F73-AE4B-9C7A1ED1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32766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16A3C97-9F5A-4A55-91C9-03984495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15E61ED-C772-4C39-B09B-5AF01D6A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9B2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D99B2B"/>
                </a:solidFill>
                <a:latin typeface="Aptos"/>
                <a:ea typeface="Aptos"/>
                <a:cs typeface="Aptos"/>
              </a:rPr>
              <a:t>Review + PR Ready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4D3B6AB-8EBC-43CE-B431-4793A200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876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Reviewer closeout, rework routing, accepted risk, build proof, evidence-backed PR package.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BB896F4-D646-487A-9101-ED740A8B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32766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5BE28FF-D5E1-4889-87A3-02791C6F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A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008F2D1-183B-4A03-AB9C-F7DEA823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1470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A5AC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7A5AC8"/>
                </a:solidFill>
                <a:latin typeface="Aptos"/>
                <a:ea typeface="Aptos"/>
                <a:cs typeface="Aptos"/>
              </a:rPr>
              <a:t>Artifacts + Runs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B4261CA-7D73-4644-B66D-EAF057AA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19500"/>
            <a:ext cx="2876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Structured evidence, generated outputs, worker logs, relay context, run history.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3242AE2-F46A-49AF-8336-6627FFC9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2766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4132A11-1DEC-4CA3-AF5A-66D3D18F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F6BE18D-A474-4CA2-B2A9-6A9A56F2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1470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Monitoring + Settings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2D32275-6512-4AA6-92A8-9A02E2A9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19500"/>
            <a:ext cx="2876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Connector readiness, health log, UI smoke validation, provider and MCP readiness.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04B4346-61D4-4430-B23B-65540EDD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9C871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FC92AB0-F53F-4E75-9216-EBC122E2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0229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Current emphasis: completed-Jira verification now launches Reviewer first, then Build Verifier/test evidence, then PR Ready.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B88CDF6-7B85-429F-80FC-55DD9B19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Production direction: make every button/action evidence-aware, governable, resumable, observable, and explainable.</a:t>
            </a:r>
          </a:p>
        </p:txBody>
      </p:sp>
    </p:spTree>
    <p:extLst>
      <p:ext uri="{BB962C8B-B14F-4D97-AF65-F5344CB8AC3E}">
        <p14:creationId xmlns:p14="http://schemas.microsoft.com/office/powerpoint/2010/main" val="10802212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099A49-FE82-4AAD-BB62-AAD01EC6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F7E2C-DA48-47EF-96AD-F893E2E4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1F7A4-ABC7-41EF-B0D5-19FEF1AF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92FA3-DFA3-4D2C-AADA-C892A6A7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0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CF791-4516-4344-B096-70802875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C7FCE-E776-4BAF-916B-965B0456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EF15E-BBB7-468C-9365-26FF3B37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4B59F-4E12-44A0-A365-ABDD5183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96998-6D68-4B7E-B75E-546D2C3D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536C3-8F2D-4552-9D84-33136BB1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B4C74-4C91-4B85-BFB3-6CC8DA5A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C3DD2-8FA2-4BCF-B4E7-FB50A84E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8C4B4-4687-430A-A7C3-A326E61A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C17CC-B17D-4FED-A1BD-8D811D9C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38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1880A-8DD0-4DEF-8257-7F28157D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3BC611-E08E-4E40-9B24-4975264B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C823A-B7AA-4B71-BE1F-8AAED00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991D9-464E-4C78-AB73-798FF07C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940E2-5054-4581-90BE-E4DAAF20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6FD88-C04F-44A4-B4F2-C6B4AED0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28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2208C1-8F20-4CC6-95C6-D11B06CD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24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008680-BC70-453D-B3F6-60B6DE54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905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F26BC2-06B2-4696-A72C-0631BE3E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28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CBF629-1B51-41EE-B11C-DABE937E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DB7B9-259C-420C-98C5-712BF30D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905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2A4317-69B6-42C1-BBDA-CC5D253F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418676-5356-40B7-A5B2-849D6A46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524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22B7E3-B076-4592-8E03-32171C38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05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BEEA20-69F9-4392-8566-A898291D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28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DCAA53-11FF-4567-8284-BD1F3888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524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6F235F-C63C-4233-80B0-F350D7B3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71FEAD-FA9A-49DC-BFFC-B2DEAA18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286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0F77A2-EF51-4F96-B521-E0B0A6E6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1ABF74-1C5C-4314-BDD1-BCB8898B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B7BE9A-75D0-4D9D-9A73-2D451F58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8191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718E97-D384-4A24-9B06-F2C4C299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8572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0389E4-193A-4256-BE5A-C6C9166C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81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FDE5FE-6B7B-4551-9295-147BE9A1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191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B61958-03C8-44EF-B31F-0E808360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572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EA9F1E-24A5-4F36-9739-CDC97A9A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81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51F132-FCEE-4155-9EA1-C67A0780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191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E2268B-B146-463B-A878-7B236AA1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8572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19F4AD-C37E-4DA3-872A-8A2BB6F6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781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B46506-AA8C-482E-8D52-06B1D03F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191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FCE908-9E0F-429B-94C9-DD1B33E9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8572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43AAE0-1A14-46A5-A885-53E53D3D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81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0AEAA6-1601-472A-BD64-14129233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8191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410CA2-5740-46B0-A46D-A475DE1F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572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E220C9-3FA7-4286-A5EA-36A8A1F8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489595-3A75-46E8-AE86-3AAB40F7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9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93C523-79BB-4093-A707-EA3E870B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0477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0891D4-CE2B-4600-B9C1-4A840A8A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85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4F5C88-C6CF-48B0-A3C9-084EAFD2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09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C43FEF1-C295-420E-AE85-D2BDC549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F785C6-A093-404D-874E-C2E7F255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085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5C7BE5-322E-4B70-9920-8C2DEE60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09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8EF50B-C13E-4A2A-A624-C10EDA70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0477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B7AD2C-E4B5-4AF3-A43E-D3790349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85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AB59AE-4B7D-4C6B-A56F-E2EDEE44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2F721FC-1D15-4E9D-8B68-AF47CEFD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62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DAE793C-4C63-44F2-A5EC-D8BD0035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EBA1399-1933-4646-9DB6-4B22827B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72250"/>
            <a:ext cx="438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8F87D8-E041-4EE6-882A-40CD0A8B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D6D4E8-0758-4D16-A361-8287C73F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62725"/>
            <a:ext cx="228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AE06EA8-4F61-4A8E-AF86-E9C766CE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ODT turns a requirement into PR readiness through evidence gates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9A421C-9F9F-4FE6-ADFE-676A2A0F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Each stage creates evidence. Gates decide whether to continue, clarify, delegate, rework, accept risk, or stop.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28A5596-CC7D-4115-A6DA-B03050D6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D8D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1E91174-A077-47A1-BDEF-AFB7B094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448ACC8-3F33-4309-A4A3-26E80DCC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4255853-A653-480D-89C4-9B5F599D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335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Intake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48D6F8E-FC9B-4F61-9E24-E8400C01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025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Requirement, Jira,</a:t>
            </a:r>
          </a:p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repo, assets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0D76F5F-7C14-4D84-85BB-9A93C734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4310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9525">
            <a:solidFill>
              <a:srgbClr val="2E5F8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EBA6ED7-3FA2-4A82-9458-717EDD2D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0020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D8D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23EBFC5-F8E0-47CE-943F-6943FE1C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33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6E8A6E7-E8F1-42B4-A13C-9B11A6D0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907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03665E1-8C11-432B-80AB-65360577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35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DE60967-AA58-4FD4-A0F4-B186CD0F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0025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Repo evidence,</a:t>
            </a:r>
          </a:p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gaps, context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87C28EB-99FE-493B-9FB7-564BE0BF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9525">
            <a:solidFill>
              <a:srgbClr val="2E5F8A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C9A7D0D-EAE9-4E2D-B53D-AB320965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0020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D8D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9117F21-5680-4693-A0DB-062F700D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33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8D9A49F-E782-4ADF-B66F-6932CE71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907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89C31DE-ED84-47F9-A233-9F693DE4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7335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CEA7E68-8583-4294-B5CC-15D9835E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0025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Design and</a:t>
            </a:r>
          </a:p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implementation plan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AC87E59-6F70-4A64-87AF-083B9FB0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4310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9525">
            <a:solidFill>
              <a:srgbClr val="2E5F8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93E33A2-E687-4458-A8FA-7DC1C671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0020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7F2"/>
          </a:solidFill>
          <a:ln xmlns:a="http://schemas.openxmlformats.org/drawingml/2006/main" w="13335">
            <a:solidFill>
              <a:srgbClr val="DED8D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D70831F-7611-4351-985A-8170BA9D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33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AFF4CF5-6473-461C-866C-54139F9C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907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B9544F6-77D0-49AE-A004-DDE7D6B3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335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Standards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1F71EC2-5F17-4C87-9C63-82ACA748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0025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Security, testing,</a:t>
            </a:r>
          </a:p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accessibility, policy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FF9BD0A-D210-48CF-BE47-DDDDBAF0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4310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9525">
            <a:solidFill>
              <a:srgbClr val="2E5F8A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2FEAB02-FD55-4080-A713-A0AAF20F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0020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7F2"/>
          </a:solidFill>
          <a:ln xmlns:a="http://schemas.openxmlformats.org/drawingml/2006/main" w="13335">
            <a:solidFill>
              <a:srgbClr val="DED8D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C0A0E80-17CE-4285-8E21-E0490741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33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FA19D5E-EE63-4833-936F-01D6C1A3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907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FF9889C-464F-4174-BB7B-0DA9DAED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335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Approval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170B468-D4C8-472F-8D9B-8E382A8D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0025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Write scope and</a:t>
            </a:r>
          </a:p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risk decision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D8D599B-C9B3-4275-9171-8769A8D7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52700"/>
            <a:ext cx="22860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E4326EE-AB51-49F5-9B91-8600ECA7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D8D2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92EF1E5-06FB-4F16-85CC-EBCD6179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37C8A0B-9D30-4255-AF7D-B43B1CE5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B01B918-D79C-47B0-A318-F13C478F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480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 Ready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81B3AAE-D851-4DB1-93C6-8A983987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Evidence-backed</a:t>
            </a:r>
          </a:p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PR package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E19772B-20D2-403D-ADAD-23DE3383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5760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9525">
            <a:solidFill>
              <a:srgbClr val="2F7D4B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4D6EDE6-8A4D-4D7B-AB72-34975AD1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1470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D8D2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7CA42E3-32A9-4C7E-B33D-09965CC7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48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87EB24A-6431-495E-B196-73C4F41F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052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A1EDBA2-792B-4D5D-93A5-682318D6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480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Build Verify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CFBDB9A-D20E-44C7-BE48-55344D13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1475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Approved test and</a:t>
            </a:r>
          </a:p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build proof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7F1EA46-AB43-4279-ABA9-42AF65EA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5760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9525">
            <a:solidFill>
              <a:srgbClr val="2F7D4B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40405E5-EF86-4F08-894E-A8D62B0C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1470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9E8"/>
          </a:solidFill>
          <a:ln xmlns:a="http://schemas.openxmlformats.org/drawingml/2006/main" w="13335">
            <a:solidFill>
              <a:srgbClr val="DED8D2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1D17260-2668-468D-85F2-C01F8BF2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48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AC8EB0A-04E8-4777-AD45-27C0F2E1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052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2E612B4-DB19-45C7-A32A-A74A31B9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480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118FC8D-69FD-4F91-99A4-1CD58CC4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1475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Findings and</a:t>
            </a:r>
          </a:p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rework relay</a:t>
            </a:r>
          </a:p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A062537-B9C2-4E40-9E1F-1AD7C2A9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5760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9525">
            <a:solidFill>
              <a:srgbClr val="2E5F8A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6186F25-F15B-4EF2-9152-E85649A1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1470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D8D2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75D5AE2-3A55-4DB9-9A32-5F1015DD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48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4C1F584-0DD9-4062-A0CE-565D2C58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052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F8F2804-144A-4E0A-83D5-6E04D7EB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480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Ingest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7BBC2BA-8B32-4C8B-8ABB-EB15CD42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1475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Worker output,</a:t>
            </a:r>
          </a:p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logs, evidence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7CBE043-83D0-4B8A-A4AB-3FEA179B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5760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9525">
            <a:solidFill>
              <a:srgbClr val="2E5F8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2CCA969-DFF6-4045-BA08-E6499D6B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1470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D8D2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C588FDF-AAA0-4131-A5B8-6E7A24D8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48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A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DB51A97-0E55-4B3B-93BA-37268D82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052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7CC9AA0-5AE4-4CC0-8302-1F938D5E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480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Delegate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5BD056E-20F0-45E2-9B80-47228E6B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1475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Codex/Cline/OCI</a:t>
            </a:r>
          </a:p>
          <a:p xmlns:a="http://schemas.openxmlformats.org/drawingml/2006/main"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worker handoff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E53B0A4-2E77-45E7-AC7E-6C7C5FC7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29125"/>
            <a:ext cx="1562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9E8"/>
          </a:solidFill>
          <a:ln xmlns:a="http://schemas.openxmlformats.org/drawingml/2006/main" w="11430">
            <a:solidFill>
              <a:srgbClr val="E2A23A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1F7CDC4-DC88-4A9B-998B-6C9440B8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54342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Rework loop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97ECC0B-F5A6-4646-9899-3009023E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2095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9B2B"/>
          </a:solidFill>
          <a:ln xmlns:a="http://schemas.openxmlformats.org/drawingml/2006/main" w="9525">
            <a:solidFill>
              <a:srgbClr val="D99B2B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6B2ECFA-8BEB-40FC-9FBA-8D5AD82B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314950"/>
            <a:ext cx="295275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99B2B"/>
          </a:solidFill>
          <a:ln xmlns:a="http://schemas.openxmlformats.org/drawingml/2006/main" w="9525">
            <a:solidFill>
              <a:srgbClr val="D99B2B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7D93FA6-D7C9-4C69-8C4E-A6187FC7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61975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Reviewer findings can route scoped relay context back to the right worker.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222BD8F-6BC3-45FF-8813-EBF9950F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9C871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B3F6835-5E01-4303-BEC8-7BD2F403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76950"/>
            <a:ext cx="1032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Human review remains active before write delegation and before final PR readiness.</a:t>
            </a:r>
          </a:p>
        </p:txBody>
      </p:sp>
    </p:spTree>
    <p:extLst>
      <p:ext uri="{BB962C8B-B14F-4D97-AF65-F5344CB8AC3E}">
        <p14:creationId xmlns:p14="http://schemas.microsoft.com/office/powerpoint/2010/main" val="14119600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FFD38C-D616-41E7-B0B8-FAF3C86F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D1BED-012D-4F90-BCFC-515788BF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6EB61-E157-498A-9FC5-6B1C2180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A9C7D-CD5D-4E7E-BE1F-923EA9FF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0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AF40A-6FE6-4A2A-8E09-C26C4CD4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38FDA-1D6A-4619-B167-754F7091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2F5CA-F3A0-4A0E-8D0D-BC10110C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D2909-79A4-4A55-91C9-390B231F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40ABB-6918-4BF1-B2B1-EC394E54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3A6FE-CFA6-4BDC-863C-4E897B50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1ED87-D9F0-4471-9D16-68712D2F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E2E76-26F5-4BB3-859B-F524C612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DA99A-92C6-447E-9715-FEC3511D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4F20A-FE55-453B-AF66-A091E09B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38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337EE-5D76-4009-AE03-9E86A98D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652BF-F80E-4748-90E4-5560B195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B87B3-AB72-474E-A657-BB17B493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20956A-566B-49B7-80F3-40A81A91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1F3963-B548-45F6-9044-C1DB9D95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6F847-49BD-4BB3-8570-5CBBCE91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28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BBF867-B3D7-4AE0-8BB9-3AB0465F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24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080A94-4258-496E-814F-C5C3676C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905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AECDE8-740D-4AC9-9A13-761393C2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28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EB3F58-FE11-445E-B66A-9FA60C7E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7A075B-B381-4D63-8AAE-7268299C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905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8F55BF-1494-40D0-B8AD-7A339344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B2782C-4B31-4D44-B5D1-AB89218F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524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F1538F-784E-4AD4-8791-93E19E81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05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454094-32C9-48EE-9A59-F2F55006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28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16436C-3593-4E18-B3C1-1057C944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524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7E5306-87D9-45C7-BFF9-83BFB52C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4FC0C0-340F-40D2-B5BC-299E2F71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286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24D704-1D07-4A91-9B5F-4C91D0C6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B0475E-26D3-4D3D-8826-73C0F604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BF5B9A-498E-4567-8429-93373EBB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8191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356227-3B7F-4EA9-8357-1245ED79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8572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754BD3-6C84-4892-8983-07BD5A1F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81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0E702C-D871-4F4C-BA30-FC709712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191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FBD141-F3E2-4661-A8B5-23CFD5AF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572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5FBF35-5D0B-422B-B55F-3D0F6E61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81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C1847D-E265-40BB-A306-17B0F331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191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C5AE6D-3DFD-48FA-89CE-DF280B52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8572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C55395-1148-4FDA-9ECD-4C155956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781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41D515-CF2F-4B45-978D-FE8EBAF7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191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3A9A12-1654-419D-844B-AD676FE8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8572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118ED1-46E8-4F94-91F6-73A7FDCD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81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B64769-A47F-46BF-BC43-6A276A3C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8191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6327AE-03F0-4109-9AE7-94D1A3E1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572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D9608E-2571-4690-A4AC-4A1C0ACF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417598-2D17-4DB9-A6EF-FECEA975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9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3BD8F8-B764-4009-988D-7D00CC6F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0477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E91353-A8D0-4CA4-9ED3-8ABF62BA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85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98B3AE-B60C-4A77-BE2A-E7029BDE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09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A6D20A-20CB-43BB-A17A-0EB7715F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9ACFA5-2E45-4C85-8495-7F90E16B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085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32A801-4E82-4205-AE21-94C99A28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09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1EC54A2-7A26-452A-9B4F-7460FF8A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0477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5C9A06-4254-41B5-8AEE-BAEF984F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85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500488E-241F-48F8-84E6-64BA81FC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6D30937-4499-4F35-A684-9D2D1DA5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62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D9C72E2-FBA6-4CEE-8D14-3A27610F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F0D8941-E812-4083-8719-A0EC21CB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72250"/>
            <a:ext cx="438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Agent Team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88B2981-138A-4E25-AD96-45A60DB8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2DA860D-DC22-40A6-985D-BBAFA8B3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62725"/>
            <a:ext cx="228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1473211-110A-4B85-BBF2-4220F4FA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Agent Team makes worker execution sequential, reviewable, and relay-aware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BE87124-7806-42BB-9226-67AD3214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ODT should pass context from one worker to the next instead of dumping the whole conversation into every model call.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54D989-F567-4D9E-B528-5B03CB2B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3241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105012B-5126-430E-A5EB-FC3B2824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9B48FD9-3D37-4807-B61E-78AC3E68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7463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74634"/>
                </a:solidFill>
                <a:latin typeface="Aptos"/>
                <a:ea typeface="Aptos"/>
                <a:cs typeface="Aptos"/>
              </a:rPr>
              <a:t>Lead Planner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CDB5512-67A1-4579-A914-D2CAE801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924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Clarifies requirement, analyzes gaps, drafts plan and handoff bundle.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589E67E-D992-4966-ADF6-FFEE08D3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669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2CA64F5-716E-4B82-8754-45EFDEA9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3241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791E4ED-4064-4F85-B647-7F7D73E1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A33804E-0BCF-4BF2-9998-0AE4FB22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478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E5F8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E5F8A"/>
                </a:solidFill>
                <a:latin typeface="Aptos"/>
                <a:ea typeface="Aptos"/>
                <a:cs typeface="Aptos"/>
              </a:rPr>
              <a:t>Senior Full Stack Dev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9A15E18-88B5-40C8-877E-B9E9F33B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52650"/>
            <a:ext cx="1924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Implements approved scope against target repo via Codex today; Cline/other adapters later.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F6B2E23-8C0B-43D1-A2D4-D025ED36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F2FF3E3-1879-4F48-9278-202E8AA3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76400"/>
            <a:ext cx="23241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EE05C4B-9F9A-4E31-8895-22C4190E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7640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E87D1CA-9398-4562-8965-149E06A4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9B2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D99B2B"/>
                </a:solidFill>
                <a:latin typeface="Aptos"/>
                <a:ea typeface="Aptos"/>
                <a:cs typeface="Aptos"/>
              </a:rPr>
              <a:t>Reviewer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EBF49AD-7DB3-4EAE-A811-23441111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1924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Reviews worker output, standards impact, risks, missing tests, and rework needs.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36D9DD3-4016-4190-BE04-E4BF55EB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3CB1F62-7FC7-41F8-9017-5687E41C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76400"/>
            <a:ext cx="23241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650388B-0A94-48A8-90EC-BD2ABBB1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7640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5D84A28-F0E9-4683-8C16-8ED78CDD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7D4B"/>
                </a:solidFill>
                <a:latin typeface="Aptos"/>
                <a:ea typeface="Aptos"/>
                <a:cs typeface="Aptos"/>
              </a:rPr>
              <a:t>Build Verifier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7465456-EF9E-448C-8B90-4AA5EA92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52650"/>
            <a:ext cx="1924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Runs approved validation path and captures build/test evidence.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13474B5-88D4-4478-94C8-2C3DE25A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9906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34B7B4F-1C00-4BFB-B601-48AD3A30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Relay context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993903E-8B0B-40DB-8654-E19F94D6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862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Questions, assumptions, decisions, implementation notes, review comments, accepted risk, and build proof are passed forward as structured evidence.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388F796-C756-43D0-95B0-BD04D41A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7675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E5F8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E5F8A"/>
                </a:solidFill>
                <a:latin typeface="Aptos"/>
                <a:ea typeface="Aptos"/>
                <a:cs typeface="Aptos"/>
              </a:rPr>
              <a:t>This is the core improvement over ad hoc multi-agent prompting.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FDC303B-5744-40D7-8C93-2A89941D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9C87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15970D5-FE53-4B0E-993E-99DC89A3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29250"/>
            <a:ext cx="956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Important boundary: dependency installs and write actions stay behind explicit approval paths.</a:t>
            </a:r>
          </a:p>
        </p:txBody>
      </p:sp>
    </p:spTree>
    <p:extLst>
      <p:ext uri="{BB962C8B-B14F-4D97-AF65-F5344CB8AC3E}">
        <p14:creationId xmlns:p14="http://schemas.microsoft.com/office/powerpoint/2010/main" val="10014019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6B98D8-3AF9-4F8C-BC6F-F73EED4E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AD115-AF29-47A2-85B4-628107FB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1FC06-01D1-48FD-86E2-238C8205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8F0D7-257E-471E-9811-27182359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675FA-E798-4FF0-9CF8-C683D268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0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6FB63-CD51-4286-9AC0-0706F81C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C00FA-D8A3-4FB9-8014-526329CA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3555F-8C32-4D34-BD41-93BD307D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78181-0FFE-4633-8763-EC378C05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124CC-7AB3-419A-9162-7B772075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DD5EA-6500-4DE6-B240-EE9428A5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22F7A-854B-4CBF-A1E7-AA63829A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A63EB-A184-4C14-A9D2-97B68778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1FB73-F609-48FE-BD98-B6BB756E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E3AB1-AB6C-417D-BF41-95C077BD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38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D630E-294B-4159-B1E6-345C59D7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1DCF92-DB52-4E14-90ED-D7098C8D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FC3F8-D797-495C-BED7-9D277B38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3EDF5E-FEFB-4814-868E-072E3F97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A1D8F5-AFD3-47A5-BA4C-FE34DC74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1F3F84-F2CB-4A82-93B4-92AC9AF0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28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37489-D3E5-4460-B706-92E99BF4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24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EE81C7-251D-4B8A-BA14-F69335CC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905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27443E-5531-4E3D-88D1-F5AB215E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28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A4820B-181B-406A-8E1B-E89883FF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88A286-C8AC-47CB-AF79-D71354B0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905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AB3213-619F-4640-B053-758142A8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2BD816-87FC-4E4C-ABC6-FEF6358B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524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A988EF-2400-4718-ACDD-7ADDBB3E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05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E3D9EA-31DD-4CCE-839D-DBDD2D45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28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D71CCF-178A-413E-A69A-E201FDD1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524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ED5F58-B90C-407B-8DD8-E0047E88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3C8E54-7019-43CC-8980-C190E16B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286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C424DC-85B7-47EB-BF60-EFFCC0A0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5C3B3F-C943-4C16-BD76-EC7DE7D3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F841DB-B02D-462A-89C9-74563430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8191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E68A59-B8D1-4AA1-86E8-BFC704E9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8572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86B66F-E167-4420-B4DA-8EB908ED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81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5205DF-28E5-4C5C-AEC1-0A5F0C97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191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31817E-6F78-4E16-95B6-67FE5126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572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A1B5CE-FC4D-4671-B68C-0FC250F4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81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F0C2A4-7AD3-44F2-BDE6-E90FE05C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191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ED8B6F-EC21-4975-80D1-C07F566E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8572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1F5A31-37B3-42FC-AE95-6A15391B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781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18A35B-7BAE-4763-A09D-2CBF71E6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191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5B9F3F-A13F-41D3-AF89-184B0E0A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8572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8782B4-25B2-4572-9377-F4789EEB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81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03E1AD-F176-4DE2-942C-A7CC401B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8191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AE85A3-4993-4154-966A-7931B798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572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61502E-2C90-4601-B135-37CD6436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50E0E0-52FD-4BD2-9338-3BB6D826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9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71B2C0-8BBB-4009-9E06-6384266F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0477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2FDD7E-C452-4103-897C-77DEC4A4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85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DBFD049-5804-4FE1-A8AC-1A76419C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09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883BF7-99E9-4F13-B8EF-9ABB87A5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72B155-5EC1-4CDB-86C1-BC9DD89B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085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F893BC-3EEC-4A8A-BE30-EEE8A8E3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09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7E28E24-7611-4C7D-9C6A-1084CDD8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0477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B083AD9-EEAA-48EA-846D-7BFE048B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85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23A55E0-D75C-4BDC-A147-3EF44313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0F5E83A-5547-4407-B1EC-9C87E7EB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45D459-243B-406A-A608-714EEB08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72250"/>
            <a:ext cx="438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Technical Architecture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44BC20-2E25-4C3A-93C3-203C4DD6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226DCE2-B31D-4CE7-924A-7AF7AF35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62725"/>
            <a:ext cx="228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4F1AEDA-3A47-4512-8422-5BBF8ACA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ODT 2.0 Architecture and Tech Stack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B33EF70-7D6B-4EF2-A458-1C550E26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Human + AI collaboration across the governed development lifecycle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2BFABDC-022F-433D-882F-9407A5B3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809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3335">
            <a:solidFill>
              <a:srgbClr val="4CC9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D68713E-0E94-4C18-8221-28EFF91B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A91F3BF-47B3-43B0-9178-C1FFBA41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1. Frontend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94CE4B6-EB0A-4D65-B14C-0BF63109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1466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React 18 + Vite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Workbench UI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workflow pages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operator controls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6CD9EAD-BF74-4B04-BAC6-E8D3FEA7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33500"/>
            <a:ext cx="1809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3335">
            <a:solidFill>
              <a:srgbClr val="91C84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A01CDE1-E28D-4562-93E2-F729147E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335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B322A8D-14D2-4288-A695-49F9EFB0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5240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2. Backend API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1EF1B81-98D3-4DF3-A0C7-44922B58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28800"/>
            <a:ext cx="1466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Node.js 24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local HTTP API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node:sqlite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evidence services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9DFAE93-57A7-4102-9470-D5186531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333500"/>
            <a:ext cx="21336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3335">
            <a:solidFill>
              <a:srgbClr val="C74634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D028F64-A24D-49E9-A134-3F400223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333500"/>
            <a:ext cx="2133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8B48339-CA41-4DB4-B215-0D6D7F8B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5240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3. Governance Engine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E180188-08CD-4608-8563-3DE73C88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28800"/>
            <a:ext cx="1790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standards gates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approval state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accepted risk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PR readiness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A9D1F80-28DB-4257-A620-34A44B26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33500"/>
            <a:ext cx="1809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3335">
            <a:solidFill>
              <a:srgbClr val="4CC9F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905A2CE-CE78-43E3-9A92-C605BA4F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335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A826700-5D69-4069-92F1-A6B56A9E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5240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4. Evidence Store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6F5E8FE-0F5B-4A83-965A-472B806C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28800"/>
            <a:ext cx="1466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SQLite today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artifacts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logs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future enterprise DB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D454C62-ED51-484B-A315-5E227CE0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333500"/>
            <a:ext cx="18859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3335">
            <a:solidFill>
              <a:srgbClr val="A78BF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356CB70-0112-4CAC-A890-604A04CC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3335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25D0FD0-F044-4766-A36E-2F9280CF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52400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5. Connectors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7A2B6D9-F605-40B7-89A8-6AB98C90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28800"/>
            <a:ext cx="1543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Jira2 today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Git/SCM next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build service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MCP gateway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8B44C22-74D9-44BF-A341-1E17BC43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193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2F2A637-3196-424E-AEDB-8D251777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193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F8B9F70-3AF6-461E-A00F-E59305E1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193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3231FE6-0A00-4C9F-8655-B687B251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193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C71FC1F-E75C-4105-9E5C-B7AE65C4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23050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23486BE-C70F-42C0-93F0-51B1A8C9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2305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7718753-AA11-4ABE-99E8-6284B47A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6715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6. Agent Orchestrator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BE9EDB2-B002-4CA6-8FF0-60C11C15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71950"/>
            <a:ext cx="1962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planner, full stack dev,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reviewer, build verifier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worker launch / stop / ingest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3AC8E2E-77E4-4C13-8CD3-ED0F1D32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76650"/>
            <a:ext cx="23050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3335">
            <a:solidFill>
              <a:srgbClr val="C74634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194FA0C-6774-484F-9785-89B7553F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76650"/>
            <a:ext cx="2305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6779680-D212-4BE0-9647-90C37EA9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6715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7. Worker Engines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160934A-C0D0-4875-960D-C9F29D51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71950"/>
            <a:ext cx="1962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Codex wired today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Cline adapter planned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OCA / model workers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EBB4FCA-C623-44EA-99C4-E3B018B6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76650"/>
            <a:ext cx="23050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3335">
            <a:solidFill>
              <a:srgbClr val="A78BF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ACB31BC-82A2-49D3-B6AB-29B09771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76650"/>
            <a:ext cx="2305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018A4A3-A267-470F-A6E6-D07E9652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6715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8. AI Providers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4E9633E-9BB8-41D9-BAEB-C60870F7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71950"/>
            <a:ext cx="1962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local deterministic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OCI GenAI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Ollama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OpenAI-compatible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4F9CBE5-A539-40CE-8CA2-FAEC3F4D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76650"/>
            <a:ext cx="14859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3335">
            <a:solidFill>
              <a:srgbClr val="34D399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86A5423-BABD-4F26-89A0-69AEF39D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76650"/>
            <a:ext cx="1485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EAE618C-E165-4E40-925A-F3258177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671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9. Output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CEBD741-73AB-4988-BC39-90D823F1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71950"/>
            <a:ext cx="114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review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rework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build proof</a:t>
            </a:r>
          </a:p>
          <a:p xmlns:a="http://schemas.openxmlformats.org/drawingml/2006/main"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PR package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A0D48A0-9D0D-4483-9A21-E50A48ED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05300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AC5645E-0396-4048-9A9F-457631DB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F34BB59-5265-4A44-A798-0D7EABC1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05300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06E789E-8FE4-446C-B333-5E9A2F5E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382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5ECD223-1368-46DE-92D4-3B7CEE65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912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B469A8D-6D9A-4BC8-A942-31400F66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79120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Analyze locally first, compile scoped context, delegate only after governance gates, and store every result as evidence.</a:t>
            </a:r>
          </a:p>
        </p:txBody>
      </p:sp>
    </p:spTree>
    <p:extLst>
      <p:ext uri="{BB962C8B-B14F-4D97-AF65-F5344CB8AC3E}">
        <p14:creationId xmlns:p14="http://schemas.microsoft.com/office/powerpoint/2010/main" val="10094194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BCAC88-0BC0-4A54-9531-B8FDC627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71797-7C56-4CB2-9314-9679F6B0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F5E03-2185-41A8-AAFF-6118991F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B14E4-922F-4F47-8BC2-00226FB9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0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144AB-6D7F-48F8-99B9-78F811B8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0A680-045D-4916-8694-3D7D9564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59615-5253-4FD9-A833-A806A23B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AB76E-7A0C-4866-9561-65A50095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15073-0191-4ABC-9EF9-595CD391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A9D48-912E-4E2B-BA43-E5A19351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2725B-E380-438C-AE38-E8B1F82D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11EC6-36C9-4CEB-AB45-D1C80D84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87859-54EE-47CB-81AA-3CAC300D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CB247-A8EF-49E6-86FB-AA91C3CF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38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94C31-F653-45F1-9618-3C47FE8A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828AF-3121-4C4F-B824-25E5448D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CF5A7-3EC3-44E4-A1B6-C81FCDFA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3F9CD-6572-4438-A69D-4346D1AA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C1E9C-7CAD-4E1E-95F7-ECF1D64A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3FFD5-BB81-43D8-BF0E-F65B2922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28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A4245-C2DA-4159-89E9-E9A73987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24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B03FF5-F9A9-4D56-AD99-A8B4A0CE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905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58BF32-3B93-4B7C-8582-E0E13545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28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1F0CE0-0FBE-4D93-88DD-FE33FB28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58B8CC-8766-40A6-8DE7-B755B7D1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905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1DEA97-C9ED-4915-96BB-44F70A65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F7A311-283A-4971-8749-DBF35696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524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D71E94-34E0-4605-AC71-FF3E73E7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05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C2A95-BEFB-4ABC-B6A1-E99CB1FC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28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6E7041-EA19-4767-95F7-7081A3BC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524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4985A0-D50C-4187-9367-31CD4569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412148-05A5-42E2-9D11-7ACF6E01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286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E025BF-2C7A-4D08-B40D-0852F1DB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0D17A4-2C41-43F0-A237-12A4D846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D5AD3C-9FE9-4921-A2B2-9BC43E74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8191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B77784-16D9-48C5-9F40-9500E4E1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8572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3C0D43-F6C9-474C-BA59-8B9CDDC7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81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E7DB2B-C2B0-4456-B2BF-101E0350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191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DFEBA0-61DE-47A5-9E6F-DE4FCC31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572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857A77-C212-4926-9044-6E71BAB5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81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5D64DE-19F1-4A4A-8984-ACD82A85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191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281D85-4EEB-4EF2-9D93-5A40E28D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8572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734466-5C00-40E4-B254-85DBFFA0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781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D3E30D-5046-4171-9414-64904A10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191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C7B01F-D677-4C6B-AAA6-FC19B085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8572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1CFA0D-390B-40F0-B32A-1D5CB74F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81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247691-32B4-4FE8-B468-4867393A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8191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490BF2-B9AA-41C4-AA09-B6966509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572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9C9D39-C07B-4564-9B40-A8060040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D3355E-0FA7-4315-93E5-5C7F5470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9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5CDA2B-B36A-4E02-ACF7-7E447A85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0477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B1A7A6-B64E-4FBC-BB7E-F30945E0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85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31F95F-4EA1-4B1D-A97A-9FAD6D98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09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800D39-20A2-4550-A79D-2BE5EC73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B16050-D254-4BD1-8885-EC393AB2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085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278B2B2-67C8-4E29-B5BF-28509C22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09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DA9332-663F-4F2E-8B18-788C0EB7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0477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A753F3-9726-43CF-A883-B44C2C7B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85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A2A57C-F5E1-4B70-B6D3-FB328D14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FBFBED6-E08D-45E2-BC59-EFB8517A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62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C6E8C82-33D0-4DDF-BB40-7BAA6AE5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9924C62-A8E1-45C7-93DF-D8D8153E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72250"/>
            <a:ext cx="438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AF0D563-5A6D-4D12-8257-108322DE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7F53AD-9768-4050-8729-07CF5DDA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62725"/>
            <a:ext cx="228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28B5BFC-9AEF-4690-BA91-0A496612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Enterprise value comes from customizable governance, not hardcoded prompts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74629C1-4531-4BBC-BBFB-0EABB232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ODT should let teams encode standards, gates, and do/don't rules once, then reuse them across work.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C62EC04-FC59-47D2-BC98-1F828300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26860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872A53A-A486-406E-9FFC-748AABA8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F599BB4-A72D-4FDD-A4CB-559ED419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Company policy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33D2174-EFD0-4B24-9A1E-C5834AC8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Security, dependency, data handling, accessibility, VPAT/WCAG, and approval expectations.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9E40415-DD9E-4639-8A68-A5B72EFC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1455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0123CA9-6872-4018-B737-CD6A2EFA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81150"/>
            <a:ext cx="26860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0D11FF7-197C-4BBE-9228-0E9D418F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8115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A799F55-9BB4-430F-8E3D-3EC47B33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526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Org / team pack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64BAECE-2661-42D3-B42F-0382300E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57400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Team-specific coding standards, test expectations, review ownership, and release rules.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FA5C283-BF14-4D37-ACE0-BDBF007B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9BFBDDF-0A17-4EAF-8FD2-2293EA9B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581150"/>
            <a:ext cx="26860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571D16E-1A93-4A69-8453-3B53E8ED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58115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C7CEB6D-79C9-406C-B1DE-5F0D2AB6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526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Repo / task rules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F091082-FD94-48DF-A417-8C8A1CA6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57400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Local constraints, restricted paths, approved commands, known risk areas, and task-specific gates.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43BFD8-1FF1-4C49-AF13-C88CF111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9525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B686030-A12E-4A72-8230-0DEAC72A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2430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2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6CE026B-F128-43BF-A765-F3165783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57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82E954D-EC88-444A-A31B-6B6C04A8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386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Accessibility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E6C1701-315F-47D2-9EEC-152723F1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2430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2F5BF8D-C38F-40F0-A131-C5A7E5E4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57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1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F8D391D-ECF4-4FED-93A4-9C26CA6E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386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A955A66-188E-49EA-B023-0B10401E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2430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2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46B9131-6FE1-45B0-81C5-7BFD2E1B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57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378E443-B8AD-4D0F-A9FA-A3B51BCC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386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Dependency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66FDDD6-6EF4-4CD8-9CEC-D4152C8D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2430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FBF5CEE-D5A6-48C3-A1B1-B70EECCF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57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D42A6E5-BF1B-41F0-9096-3B26AE75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386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7B16566-5F63-45B8-A508-8AB4806C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2430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B719D55-F529-47BE-BE63-19324062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57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1CD7B2C-F550-45C0-B5F2-DB3F46ED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386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8979FBD-7B39-488C-8E9E-BFB7011C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2430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2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D7831DA-5AFE-4943-AEE8-CAD45BF2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57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A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44330AF-8959-4374-A68A-C64BD132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386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 readiness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6F8A646-18C6-4E11-8133-BEA183AA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Policy packs turn ODT from one team's workflow into an enterprise reusable governance layer.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A956708-DF96-4615-9D78-B72F4376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047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9C871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01A7D8E-5E73-4226-9A72-9BFF6FB3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57850"/>
            <a:ext cx="1013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Key differentiator: teams can customize rules while keeping the approval and evidence model consistent.</a:t>
            </a:r>
          </a:p>
        </p:txBody>
      </p:sp>
    </p:spTree>
    <p:extLst>
      <p:ext uri="{BB962C8B-B14F-4D97-AF65-F5344CB8AC3E}">
        <p14:creationId xmlns:p14="http://schemas.microsoft.com/office/powerpoint/2010/main" val="10565018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827BDA-856E-4FB9-8C2C-5C1BE59E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8BC6E-5776-4D58-8656-6F0216A4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1ED0C-AC81-44F2-AEC8-DB1367E7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789BA-561C-4324-B910-C43FCBA2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0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8C6C0-C4A7-4F9A-BEAC-4F9C8267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4B0B3-0CF3-4E5E-811F-1FAFBE7D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41CC0-675A-460C-BC68-B2A519C4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60CE5-DCB5-484D-9A98-C0C8E104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10710-34E6-4D9F-AFD2-FFAA26F6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4F6C3-89E2-4C80-9535-A7AD2A65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174C1-683D-46D4-87D9-815F0268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7EABD-4276-41C4-B883-69CC1AA3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3B4BC4-69FE-4DA4-8B53-026366D5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57AC7-ED34-4684-BFEE-E58F4518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38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3B82D-F6D5-4DB5-BE1B-E9048220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81A41-B7F9-44BD-B5D1-5F36C4B6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E1129-6AF9-467C-B079-71B17DD2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6A712-7B07-4FE5-8DFB-67A19537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D82F2D-42DE-4530-B994-A8AD5573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B4F7E4-630D-47A7-9935-E906C2BA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28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6A58B5-03A5-4D5F-AE17-BA830AB7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24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20C748-5F55-4F5B-8A6B-1EFFE270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905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29AC3A-5905-4536-B501-7C591293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28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A5D31B-AFCE-4F5D-A849-DDF6E215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5CA31-E05B-4CCC-8444-9678E53E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905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A0A9CE-655D-4EF0-AE0B-2ECC45AA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36FC16-2F88-4707-8A19-BE923381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524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1E7E1C-3279-4D21-B948-AE31FF42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05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8ADB28-1DD4-4AB1-B701-DF9FA2EF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28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FB846D-5D9E-4362-9F5C-F9969FB1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524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156196-14C5-422D-BCC1-9CBAFA85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1C919A-B2BE-42A3-8F85-A1A5AB31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286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08F8F8-90E0-48C6-841B-E38AD1C0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04C720-9989-42CE-A499-D5732DA0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181FB7-D57B-4D8B-ACEC-80ABE8F6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8191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4A99B8-F50C-4E7D-914A-DEA9F0D1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8572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EDDC39-C793-4298-B02A-26BF0B7B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81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A1FB9F-CE76-44DF-8596-8C1ACEB8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191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B31D9C-7AD7-4316-8FF4-00B720E7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572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B02C2A-B128-4DE3-A12A-A5115F48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81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ED9884-AF85-43A5-A16E-B92BB9B7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191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D90604-AA77-46C0-B6D5-72B48D26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8572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99C781-6C9B-4122-93C7-613F1C2E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781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902426-2459-485B-9E62-D9570C87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191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71AB8A-F843-4299-B753-A51B4DA2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8572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38D9AA-F4EB-4E58-8919-6E69EC25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81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E8669D-3AE3-4EB2-9E9C-3FAA9754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8191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099BB1-BCD8-4D8B-880D-9A20F0C8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572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A43852-0BDD-491B-863A-C0D7632E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9465E8-5AF5-4199-B644-61006265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9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5A28D8E-03FF-476E-BF13-A67B5BBA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0477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86C972-B314-4C62-A5F0-938180DD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85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9E9915-9369-4BBE-A34A-0DCF24CE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09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EDB9B8-2304-4C37-B7DF-F609D379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549459-5E95-4DA1-8BDC-CD91F533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085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98C6510-9BE8-4AEC-AFC1-281ACAFB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09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B470FA-C627-484A-820F-1069A8E0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0477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AD99CBF-63C5-4708-8738-61704314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85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DC16CFB-1514-48FB-A887-F451CA00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C4CC01B-9514-488F-8039-328CE4CB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62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EDE3258-A9F7-477E-8A0B-77517100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DE49D7A-9019-44B6-8E8F-AABF3BE3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72250"/>
            <a:ext cx="438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Privacy and Cost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7771B9-4185-443D-A5B8-4D334DD4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CE4460A-947C-41D3-9B40-8A8D74BC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62725"/>
            <a:ext cx="228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A09AFD-C050-496C-84AF-D2444533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ODT reduces token cost and privacy risk by compiling scoped context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667E77-50DF-4C58-95D6-832A49AC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Instead of sending everything to every model, ODT analyzes locally and gives each worker only what it needs.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551C1FA-D1A6-4FD1-9077-11F93AF5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2381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572E95-A031-42D0-832B-E7E611F0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1390CD2-C1AE-44D8-A451-FEB65E7F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Local evidence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808065D-E3E8-4E30-B2E7-F8B3C026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981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Jira, repo scan, standards, worker logs, review notes, and artifacts are collected locally or in approved infrastructure.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077F94C-E854-4E67-8D09-ABE635AB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28ECEFF-B7F9-41B6-A8E7-72A91922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00200"/>
            <a:ext cx="2381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4C6E96F-CC12-4212-A373-2B1BF5AD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002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F06BD97-89AC-4C16-83F9-CB95192B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716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Context compiler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FB94E2B-955E-4E70-B9A0-9331AC09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1981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ODT selects relevant requirement, code evidence, standards, and open questions for each worker role.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08912C5-AD83-4255-85F4-37829131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6695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156D1BE-B090-4800-9855-AA9ECFC2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0200"/>
            <a:ext cx="2381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493A495-1FD1-4B14-AC9E-ECD9E347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02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7D97E73-FBA8-41EC-9103-0F35A056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716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Scoped worker prompt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03F9C76-72E5-41A3-B4E7-F8DDF1C4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76450"/>
            <a:ext cx="1981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Codex/Cline/OCI worker receives a smaller, role-specific handoff instead of a giant repeated prompt.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AF78545-55C9-4C88-A837-D43D7EA4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9620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7364337-D458-404C-A8BE-E9ACF643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38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Expected benefits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231D897-88B5-40AF-B6C4-349C4CCB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8145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1. Lower repeated prompt assembly</a:t>
            </a:r>
          </a:p>
          <a:p xmlns:a="http://schemas.openxmlformats.org/drawingml/2006/main">
            <a:pPr algn="l">
              <a:defRPr sz="142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2. Better model focus</a:t>
            </a:r>
          </a:p>
          <a:p xmlns:a="http://schemas.openxmlformats.org/drawingml/2006/main">
            <a:pPr algn="l">
              <a:defRPr sz="142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3. Less manual copying of sensitive context</a:t>
            </a:r>
          </a:p>
          <a:p xmlns:a="http://schemas.openxmlformats.org/drawingml/2006/main">
            <a:pPr algn="l">
              <a:defRPr sz="142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4. Usage tracking by worker/provider/stage</a:t>
            </a:r>
          </a:p>
          <a:p xmlns:a="http://schemas.openxmlformats.org/drawingml/2006/main">
            <a:pPr algn="l">
              <a:defRPr sz="142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5. Easier audit of what context was sent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3A282F4-839F-47AA-A648-84A22EA6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9C87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BA66DB0-1961-4266-8755-D1DA71D6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00700"/>
            <a:ext cx="1013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Privacy principle: raw repo and enterprise context should stay local by default; model calls should receive approved, minimal context.</a:t>
            </a:r>
          </a:p>
        </p:txBody>
      </p:sp>
    </p:spTree>
    <p:extLst>
      <p:ext uri="{BB962C8B-B14F-4D97-AF65-F5344CB8AC3E}">
        <p14:creationId xmlns:p14="http://schemas.microsoft.com/office/powerpoint/2010/main" val="17780039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61E81E-1DF4-4B9D-89BE-184B5993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E5C3C-2142-4BEF-A002-BD2BDE04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322F9-6B42-4834-8F4F-7C62C6B8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C6D2B-73A0-4B8A-BD82-29944DC2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0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128CF-4F96-4575-A1B0-9C921ABA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80513-BB18-4935-A677-DAD76619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402F7-EDB1-411C-BCEA-6B89FF7F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24535-8701-4709-827A-B5670578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AA8EA-29E9-46BC-95AD-01C19514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75078-10AC-4644-A943-8D1D91E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8F5C0-61CC-45D2-A602-B097800D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ED8E5-2D56-4903-B2CE-4EC49A9A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10F37B-0BD9-470B-A9AD-07DBE879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5C9F6-012D-4A42-9EAB-83309755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38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612CA-18EB-4702-BC8E-C6B6F823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3F043-E31D-453B-A549-273EA043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68D15A-5F9C-4CF9-B691-3E65EC5C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59F7D-5862-4FDD-A3EE-9FACE789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58029-DF50-4BF1-9C6E-2DCEA82F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3C94AF-2BE5-46DA-A3C7-9773727D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28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17BE6-0DE5-410D-9484-4CF66490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24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5F3255-4915-4986-A55D-B3FE1B4F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905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F23AA5-75E8-4116-B161-4CD8BAE3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28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2D1F7F-11B5-4154-B0B8-64CECDFB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A53F00-191B-4C46-A92C-1EA399EC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905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633CEB-0759-46FD-9125-D812917F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531AEA-3804-499F-83BC-09CAB94C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524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C48755-2A1F-46B7-A009-DE602686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05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DC61A5-9D18-408C-BD93-6AD88AE5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28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4A2D72-8A5C-4BF8-8B55-F11E94C7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524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D0F59B-C170-44A8-9A96-DF019697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D6710A-A94C-4975-8BE2-825ACA07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286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CBC9C3-3B3D-4C9C-8FDF-8FF7FD1E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57B32A-7398-4905-8FAB-DF0DBD06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9754CC-F23A-476D-8814-CD36550A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8191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60F669-EA6B-4758-B412-51D24A14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8572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67FC22-0FFB-406A-905B-A34F8E1C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81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5C2185-FEEB-4D49-9241-C3FD4814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191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121F5A-A079-4C59-A721-579F2472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572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EA32F5-DDB9-4CE8-9EEA-6C680443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81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CBA141-D060-4AE1-AF4A-62A00721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191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E68478-1573-42A7-8C13-2E468E5F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8572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066F65-13C7-474A-9DC5-61CBB06D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781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E51F3C-EB6A-44AD-A25B-BD94EC5E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191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086F803-867A-4E22-B209-8FDBA0C9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8572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CCFB73-6183-4417-8B44-59CD132E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81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22CAB36-8F18-4EA7-AEAA-BFE5ABC9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8191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0D3EAA-8585-40BE-BAEA-4586CED5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572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546B24-E622-4EE1-9A69-1E694B16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55C0A5-DB9E-4CE6-BFEE-7A1ABF5F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9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C6FD1D-D833-4F79-B5D6-36DB66C5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0477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837690-FBDB-4EB7-AB7E-321A3321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85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E4AA23-7B24-4033-9D67-4702E2D8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09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C4FD52D-A814-4A5F-A6C2-F7B57C27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66F27B-1892-48E7-88DC-716B059B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085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99DFF8-5E94-497C-A384-FB7E4591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09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06AAB7-473B-471F-9C55-FB06A710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0477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EFCFAD-6747-4E18-99F4-AE7CB0E4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85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FB43F2-7BEE-4CF2-B18F-CF630BAB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4F9B29-64A3-4F96-891B-B6879B5F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62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C26E62-9334-4CFB-A095-1588EA9A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30BFE6D-7BED-4871-BED5-80FD98F1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72250"/>
            <a:ext cx="438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9F6B430-6824-4969-B105-A69F2F24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51B25B-0105-4EA1-8097-A7590CC2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62725"/>
            <a:ext cx="228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0EBB62D-0C5F-49FE-AB2D-CB1C28ED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ODT 2.0 roadmap moves from local pilot to enterprise agentic SDLC platform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835D1DA-E965-43CE-8CEB-5F87A278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The next work should harden execution, expand connectors, then add enterprise deployment controls.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7B06309-3B05-44A0-AB14-422EC8C5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6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57D40AE-43C3-4FDE-89F9-337E8247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14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1E215C-C149-4D1C-BEBF-257CE82A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463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C74634"/>
                </a:solidFill>
                <a:latin typeface="Aptos"/>
                <a:ea typeface="Aptos"/>
                <a:cs typeface="Aptos"/>
              </a:rPr>
              <a:t>Near term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BC90F4A-AA6C-4E5B-ACD1-107C797E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478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Stabilize reviewer/build verifier closeout, PR evidence gaps, Jira import, UI smoke validation, worker stop/ingest reliability.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EB76715-8317-428D-9428-15EFA4E8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669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Reliable team pilot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76602BB-CDDB-426C-857B-841B6274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66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108A67-4016-4937-87E3-766F8281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14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E9B0ACF-A204-4273-AFE4-FA412D92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E5F8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E5F8A"/>
                </a:solidFill>
                <a:latin typeface="Aptos"/>
                <a:ea typeface="Aptos"/>
                <a:cs typeface="Aptos"/>
              </a:rPr>
              <a:t>Mid term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02FF45B-9755-4A7D-B676-7DB3966A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051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Policy packs, ODT Guide RAG, Git/SCM and build connectors, Cline adapter, token budgeting, context compression.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66158D7-E646-4975-B768-A2D5F710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242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Customizable multi-worker workbench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E025EB3-6731-4101-A657-0A5C5C50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66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79E8795-846B-4DE4-B299-3354A742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14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BC88C37-7291-44A9-8BEC-0503950B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F7D4B"/>
                </a:solidFill>
                <a:latin typeface="Aptos"/>
                <a:ea typeface="Aptos"/>
                <a:cs typeface="Aptos"/>
              </a:rPr>
              <a:t>Long term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9B94A3A-DBE3-403C-86CC-36A2B56B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624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Enterprise auth/RBAC, shared evidence store, MCP-native orchestration, OCI GenAI/OCA adapter, DB awareness, audit exports.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4F2A3EF-881B-4D0B-A8A3-C1961899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815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Production-grade agentic SDLC platform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D8BBF74-B03B-4953-A1C6-D266C673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9C87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695EF93-D659-4EA1-A837-98E69933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91200"/>
            <a:ext cx="1032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Future upgrades should be added behind governance gates first, then exposed through simple workbench actions.</a:t>
            </a:r>
          </a:p>
        </p:txBody>
      </p:sp>
    </p:spTree>
    <p:extLst>
      <p:ext uri="{BB962C8B-B14F-4D97-AF65-F5344CB8AC3E}">
        <p14:creationId xmlns:p14="http://schemas.microsoft.com/office/powerpoint/2010/main" val="13591503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129481-75BD-4DE1-AD1D-C47867AE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308CB-60E4-4313-B472-C8679EBF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03E03-FC1B-4BCB-AD03-CBAD529B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60E06-B500-4CD8-A885-F0A96EEE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0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42F53-6EDC-41E6-A90B-0AEAD479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D12C0-873C-478F-924A-820EFA65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654F2-D403-4852-BACC-BC6AA0D9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BBC14-61B6-4287-B9F7-7AE559C3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74E56-5EEA-4A88-9BC7-87F1474C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260FE-6E1B-4A48-8868-D1C11D41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F1D72-37F5-4F0D-9001-E7D3AC53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D7B3D-58D9-4AC2-9FD9-B299C1E0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B575E-9EEE-4F25-BC18-E846062F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D9A60-286D-4924-BDF6-8826C94B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38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16A90-2648-427A-9912-0D1FE912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F1207-91F7-482D-8C1F-9647BE74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BD1A2E-7B2D-4985-9C12-A39B1C68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C063E-9635-497C-94EE-BED305FD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37411-CBFC-4513-A1F5-46E6D313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CF72C-1837-4C85-9C0C-923901B2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28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8AE5A8-13A8-4199-A89B-C6D410FF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24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450186-A716-45BB-8CF8-842937B4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905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E4F9C9-F744-4FD4-8260-EE6C5D4F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28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0ED782-BA70-4B71-B94C-02A6D8DE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7991D1-BF77-419D-B2A0-BC6CB931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905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4A1072-81F7-473F-9891-E54F86C2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F0FD49-0BC9-4AF5-9B68-F56E2BA6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524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935357-E1BB-461B-ADA6-DC30F269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05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018215-CCF3-477E-9980-BE0F2DC6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28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7ED5B7-8259-4C35-BC09-9700C561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524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14431A-443F-4F09-BFF3-232E537C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78A80C-30FB-405B-9D3B-D5247F73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286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DDB512-F351-451D-A746-60F9F0F0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DC4CC0-A6EE-40E5-8896-84E5404C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EFCFE1-DBA8-442B-B1C6-8A8243CD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8191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516AD9-7DF6-4D44-84D9-A25EADA9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8572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CAE5E8-A6AB-4553-A65E-82FA0E4A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81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3F1A63-E677-436D-B028-A3C908D7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191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FAAEE8-5A7D-48DD-8F34-014E3F81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572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EEA3C2-1313-4F47-B23B-7029658C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81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F35A77-51EE-43AA-88C9-6AD4C866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191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E742C5-0A0C-4927-BD64-714B5706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8572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4241C9-4225-4A0A-AEF4-89F6FE6D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781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F01662-EADB-4190-8128-FAD9D8B3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191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208646-675F-4C94-8F46-D320DE56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8572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BE0D56-3189-4F1A-A169-6968E810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81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442ABD-7ACA-40A5-878C-9273859A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8191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A98D1A-9FD8-4994-A13F-D1642419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572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FC2359-54EF-4CF0-8F4F-DDCBA7F6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EB3C99-7760-4CBB-B87B-8F80CBBD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9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4BAF35-197A-4DDC-9D80-563E7747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0477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7B0CF7-090D-453F-BD30-9865663F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85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91C844-3CDE-4506-A90E-0046723C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09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AF5AD8-B213-4103-9C38-F54F13AB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6495D7-917B-48BA-91F8-F5360FAA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085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72ECA53-E4BF-4416-A4E5-E514EF0E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09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E95722-49E5-44A8-AE61-F24DE54D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0477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9E3169-978E-4852-9FF9-E573B64F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85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7E3D2CF-DB4E-437A-9876-85A02002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56DF2D0-CCE2-4D87-8FEE-FA351828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62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9B3D6B-A602-4F26-83E4-F53E6B3A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3D612D4-E192-47A7-83CB-9DCC786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72250"/>
            <a:ext cx="438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Working Example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147D95F-4663-4A69-BE79-2D7B1DD8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8FB4C32-348D-46E7-8CAB-5AE31E75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62725"/>
            <a:ext cx="228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4A6EE87-0DC7-401F-B582-7D9CBE40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Real working example: completed Jira work should be verified before PR readiness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4E48AB-720B-4814-955E-05BAB100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ODT should not blindly implement when Jira is already Done; it should validate the repository evidence and close the workflow correctly.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CCDA0B1-2CFC-43B3-9151-326B7333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905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332FA03-689D-464E-89AB-D2972AA4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4568721-519C-431F-9EF8-6DFA9193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7463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74634"/>
                </a:solidFill>
                <a:latin typeface="Aptos"/>
                <a:ea typeface="Aptos"/>
                <a:cs typeface="Aptos"/>
              </a:rPr>
              <a:t>Import Jira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8512921-64FB-448F-91E1-D5C632F8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JOURNEY-style issue is read via Jira2; current state shows completed verification path.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CCA6A86-0EC6-459D-A40D-3D3E887C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527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EAC9FCF-C40B-4D26-A2FA-78EE2026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52625"/>
            <a:ext cx="1905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332DF3A-FF52-4884-8268-B6C9E9C5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52625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A43E774-51D7-4F4A-9E75-B124501C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240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E5F8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E5F8A"/>
                </a:solidFill>
                <a:latin typeface="Aptos"/>
                <a:ea typeface="Aptos"/>
                <a:cs typeface="Aptos"/>
              </a:rPr>
              <a:t>Analyze repo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D252A21-6F23-435C-96AF-2459B9DF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28875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ODT finds matching commits and repository evidence without writing files.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B6BD54B-D118-484A-B989-46F52C73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527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913FDDF-9C83-4C3A-837E-AB4970EB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52625"/>
            <a:ext cx="1905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F648E6F-3724-4E70-9F31-BADE5F91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52625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2262EF1-EC9E-4E34-B888-3670A203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240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9B2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D99B2B"/>
                </a:solidFill>
                <a:latin typeface="Aptos"/>
                <a:ea typeface="Aptos"/>
                <a:cs typeface="Aptos"/>
              </a:rPr>
              <a:t>Launch Reviewer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16B0150-27E4-4E7A-8AFB-1AAFFB2D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28875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Reviewer checks gaps, standards impact, tests, and missing information.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353C52F-F03D-4913-B4D4-32EA5851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527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CFA3AB0-0C4E-49A0-8198-2CC4F5F0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1905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2AE61E2-B2B4-48EB-B78D-F60473B3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7ACD0B6-BEBC-46F4-8687-09FA46E6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240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7D4B"/>
                </a:solidFill>
                <a:latin typeface="Aptos"/>
                <a:ea typeface="Aptos"/>
                <a:cs typeface="Aptos"/>
              </a:rPr>
              <a:t>Build Verify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90E9FD4-C9D3-4E4C-B1A0-0E67E58B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28875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Approved validation path captures test/build evidence.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FEA017B-B560-48F6-971B-98C09B58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527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D3ACA1D-B5C3-42DA-BA74-86FC2D0D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52625"/>
            <a:ext cx="1905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6529327-6062-42E3-9EED-5C56F743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52625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A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F4D8093-A703-4DF1-855D-1DF849F9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240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A5AC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7A5AC8"/>
                </a:solidFill>
                <a:latin typeface="Aptos"/>
                <a:ea typeface="Aptos"/>
                <a:cs typeface="Aptos"/>
              </a:rPr>
              <a:t>PR Ready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3ED8D07-E099-411F-8FAF-A7B0EED4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28875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ODT packages only evidence-backed readiness, not stale history.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641B429-35C9-414B-BAF7-206CCDBE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962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972D286-CFD7-4A4B-BC9D-6A6F4523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243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Behavior rule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51748D1-84FC-488A-BB93-5C8451A0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672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launched worker is not evidence. Current workflow readiness must depend on reviewable worker output, current evidence, accepted risk, and build/test proof.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F2A327D-FEBD-4E61-A867-6E1BEC3D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62600"/>
            <a:ext cx="962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9C871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A7635C1-E66E-459F-B3E1-CC0311CC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57850"/>
            <a:ext cx="927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This is the kind of product behavior that makes ODT feel like a real-time developer workbench.</a:t>
            </a:r>
          </a:p>
        </p:txBody>
      </p:sp>
    </p:spTree>
    <p:extLst>
      <p:ext uri="{BB962C8B-B14F-4D97-AF65-F5344CB8AC3E}">
        <p14:creationId xmlns:p14="http://schemas.microsoft.com/office/powerpoint/2010/main" val="14193169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1A40F2-8291-4F71-9016-BA83AC3E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46A20-80B2-4972-AC24-012ECCDD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F95FD-7830-4A00-B17E-9EEEFC56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C66D4-B0BC-4DC7-A863-6D112C47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0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1419E-BC15-45AD-9561-C18FE56B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F3AC8-96C6-496C-8517-C86BE54F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B30E1-64D9-41BA-AC9E-A41FD122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F1852-E1A6-453E-88D3-A2773003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EC758-EBD4-4883-A16C-782EBEE6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B93BA-2629-4A5C-BA52-7F13546E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F2FF7-DB39-49C6-8821-D327183F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69D27-0A9E-4B18-9279-8A880EC3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483B6-5A92-4755-AE2D-25C591FE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0D3A8-153B-4DE4-9F30-3BFCA341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38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85190-0E11-4ACE-8AD2-DA1EEBB7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AAA45-DCCA-48B3-BC1B-1EBD79FC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7E2FB-AADC-4AE8-9B8F-FF23484C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43CFC1-4F07-4D04-AA2D-1D51F34E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42E5A0-212D-4D00-A2F7-BD5E492B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0F391E-CEEE-4336-8807-F8F4276D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28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C3F9C9-F8B2-48B5-8949-687749AE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24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5BA38-B27A-4B40-BA56-C3229CCF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905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976995-60CF-4271-A55C-018D0D99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28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441232-89FE-408D-85FF-D2D54316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84045B-E948-4548-848D-DCA72287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905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7050E3-A445-4B1D-960F-CD620968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582E30-BD2A-403E-8EFD-DE95C12D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524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0A04D8-D6ED-4A3F-8D0C-9B46167A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05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0CC511-A221-454A-9973-75AA332A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28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E3D43A-364E-43BC-9480-3AF850C4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524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D879B1-3AC1-42D0-A868-2D875E89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661694-22F7-44AF-AB53-C3CE90B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286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677E46-E6E5-485A-A7DB-675CA068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524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D4D376-2001-46BB-8263-8F3B8291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948F31-4C73-41AD-B79B-975A73E5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8191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89FD53-A2CF-48E6-9662-93FB6258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8572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9B90F9-7FBA-4B9A-B1BE-C6720553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81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97B2AE-DD2D-4845-A256-CF7F1A60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191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4EC005-3499-491D-A7BF-EBA3671C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572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B3D613-AC4A-41E8-9445-4BF4391E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810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43820B-F41A-49D9-A05D-1D1E96AE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191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F975FF-5D1C-4AEC-8E6F-69747F64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8572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998EE9-365E-4EDE-972B-744DFE27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7810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91C64C-C95B-4500-AACB-05B0617E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191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8612AD-209F-456F-9E97-1E0EB53F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8572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3F1DA9-2627-498A-B3C9-2E007A7C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810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506682-0CD3-4F02-A65B-7D0AD531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8191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5D16F7-49F2-4429-B61B-066F51CE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572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F6B975-88D0-458E-89AF-CA5A58FE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810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7BF30D-308B-40C9-9DDF-28439541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96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9DE744-20EB-457C-949C-12FE3301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0477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896BFD-8A4D-4AAC-AE2E-AD57909D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858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675DDC-F566-432A-9798-421952A8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096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E7A36A-4036-40A5-BEB2-45DD9253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110DE3A-D64A-4445-BBE0-0B25446C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0858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DDC1E92-21F7-47BD-BFE1-272A04F4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0965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303B13-E212-4C7A-A15C-3EA2A736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0477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6442A69-68C6-43DA-A8E0-AB2D394A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85850"/>
            <a:ext cx="266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34598C-9438-40D0-BB45-AEA50672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361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E6D128-7549-4AF3-B8B8-5C55690B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62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C473835-1680-467B-9335-79FDC5D4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B776B5D-FF64-441A-A69B-82FF4C8D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72250"/>
            <a:ext cx="438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B8342A5-401B-47EE-86FA-19B9ADED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175EE6-7268-47F2-8706-FFE2FFD4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62725"/>
            <a:ext cx="228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D595127-9FCF-4D4A-AE85-4256B72F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Summary: ODT 2.0 makes AI-assisted delivery governable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708BC4F-D541-4A68-BC98-DF906D19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The opportunity is to scale AI coding safely by adding enterprise workflow, evidence, policy, and review around worker engines.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6B59328-24F5-41B7-BAFB-AC42935C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8446CCB-90D1-4C07-B515-97B9F146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574CAC5-6700-40D4-8ABD-B48B7546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Business impact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05F3C68-ACD8-4390-AB4C-77410B22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2743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Less repetitive planning work, faster requirement-to-action flow, better review consistency, earlier standards visibility, and measurable PR readiness.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D0D9DFF-FDD2-41F9-AD00-D0D96FD6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192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1C66122-3D0D-4D44-A940-4C79DB17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19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8F16BA8-0BC6-4FB1-81E2-61977936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9070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Responsible AI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443550F-1950-4094-85DA-6E5ACB95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95500"/>
            <a:ext cx="2743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Human approval remains mandatory; worker context is scoped; evidence is stored; prompts, actions, and outputs are auditable.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331C0B8-FBCA-48B1-921C-3AEE1E29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192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8D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E6AF7B9-4751-4E74-9081-C4C557BA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19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ABBCCB3-20CE-43A8-B7B1-F7990A7B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Pilot expectation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EE044BA-E656-4697-BE0C-16CF9DCE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2743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two or three teams, measure planning time, prompt size, review rework, PR blockers, accepted risk, and audit completeness.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66E573B-6EB8-445A-A0CB-AF1F260F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01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9C871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DED43D3-E8F2-4CF5-85B1-DBE1D993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0458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Leadership ask: approve a controlled ODT 2.0 pilot and evaluate it as an enterprise SDLC control plane, not merely a coding assistant.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9061A66-02A5-41EC-8FD1-698CE40F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Closing takeaway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EE4058-3506-4462-BB13-F699BB81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ODT stands out by combining modern AI worker execution with enterprise governance, traceability, customization, privacy posture, and cost-aware context management.</a:t>
            </a:r>
          </a:p>
        </p:txBody>
      </p:sp>
    </p:spTree>
    <p:extLst>
      <p:ext uri="{BB962C8B-B14F-4D97-AF65-F5344CB8AC3E}">
        <p14:creationId xmlns:p14="http://schemas.microsoft.com/office/powerpoint/2010/main" val="10927294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2026-06-10T07:23:11.7180000Z</dcterms:created>
  <dcterms:modified xsi:type="dcterms:W3CDTF">2026-06-10T07:23:11.7180000Z</dcterms:modified>
</coreProperties>
</file>