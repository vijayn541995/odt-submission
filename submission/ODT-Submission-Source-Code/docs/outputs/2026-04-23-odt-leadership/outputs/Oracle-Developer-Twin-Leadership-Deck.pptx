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>
        <p:scale>
          <a:sx n="95" d="100"/>
          <a:sy n="95" d="100"/>
        </p:scale>
        <p:origin x="140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slide: establish that ODT is a governed digital worker, not just another AI prompt box.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bottleneck before coding: manual interpretation, impact discovery, planning, compliance, and handoff.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current fragmented pre-coding workflow with the governed ODT flow.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Differentiate ODT from generic copilots in simple leadership language.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real repo facts: stages, stored runs, accessibility posture, and hybrid OCI capability.</a:t>
            </a:r>
          </a:p>
          <a:p>
            <a:endParaRPr/>
          </a:p>
          <a:p>
            <a:r>
              <a:t>[Sources]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Translate architecture into plain language: input, planning, control, human review.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developer flow in language leadership can follow quickly.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docs/Oracle-Developer-Twin-Hackathon-Runbook-5-Minute.md</a:t>
            </a:r>
          </a:p>
          <a:p>
            <a:r>
              <a:t>- README.md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accessibility, explainability, fallback behavior, and retained human control.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ODT as a scalable Oracle pattern, not a one-off demo.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docs/Oracle-Developer-Twin-Hackathon-Runbook-5-Minute.md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leadership message: ODT creates governed AI acceleration, not blind automation.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78477C-F3C9-4CBD-B309-635064733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CA6212A-FE3A-48E7-BEBF-819078988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6DE33A1-5FC1-4DAB-9F87-8EC03EF8BC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C1A52A8-6A53-4BF0-9EAF-09409CBFD4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65F1482-2C9E-42C6-AA56-76A20CEBD0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DE786-E20B-F548-67C4-2A98E89BAB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18A2B-362B-A111-D19D-6486071C39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50E8F1A-0014-42CF-B9B1-18D847217254}"/>
              </a:ext>
            </a:extLst>
          </p:cNvPr>
          <p:cNvSpPr>
            <a:spLocks noGrp="1"/>
          </p:cNvSpPr>
          <p:nvPr/>
        </p:nvSpPr>
        <p:spPr>
          <a:xfrm>
            <a:off x="7696200" y="-1047750"/>
            <a:ext cx="4953000" cy="4953000"/>
          </a:xfrm>
          <a:prstGeom prst="ellipse">
            <a:avLst/>
          </a:prstGeom>
          <a:solidFill>
            <a:srgbClr val="C74634">
              <a:alpha val="12549"/>
            </a:srgbClr>
          </a:solidFill>
          <a:ln w="14288">
            <a:solidFill>
              <a:srgbClr val="E08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C2F55F-4E56-444C-85F5-21828EBD5BEA}"/>
              </a:ext>
            </a:extLst>
          </p:cNvPr>
          <p:cNvSpPr>
            <a:spLocks noGrp="1"/>
          </p:cNvSpPr>
          <p:nvPr/>
        </p:nvSpPr>
        <p:spPr>
          <a:xfrm>
            <a:off x="8229600" y="-514350"/>
            <a:ext cx="3886200" cy="3886200"/>
          </a:xfrm>
          <a:prstGeom prst="ellipse">
            <a:avLst/>
          </a:prstGeom>
          <a:solidFill>
            <a:srgbClr val="FFFFFF">
              <a:alpha val="1961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4210A0-8BFC-4D67-BFFA-8C4C108FA6F7}"/>
              </a:ext>
            </a:extLst>
          </p:cNvPr>
          <p:cNvSpPr>
            <a:spLocks noGrp="1"/>
          </p:cNvSpPr>
          <p:nvPr/>
        </p:nvSpPr>
        <p:spPr>
          <a:xfrm>
            <a:off x="8629650" y="-95250"/>
            <a:ext cx="3086100" cy="3086100"/>
          </a:xfrm>
          <a:prstGeom prst="ellipse">
            <a:avLst/>
          </a:prstGeom>
          <a:solidFill>
            <a:srgbClr val="000000">
              <a:alpha val="0"/>
            </a:srgbClr>
          </a:solidFill>
          <a:ln w="14288">
            <a:solidFill>
              <a:srgbClr val="C74634">
                <a:alpha val="3137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B63DB9-2C59-4E98-98BA-78A365F4F1F4}"/>
              </a:ext>
            </a:extLst>
          </p:cNvPr>
          <p:cNvSpPr>
            <a:spLocks noGrp="1"/>
          </p:cNvSpPr>
          <p:nvPr/>
        </p:nvSpPr>
        <p:spPr>
          <a:xfrm>
            <a:off x="-1143000" y="4953000"/>
            <a:ext cx="3048000" cy="3048000"/>
          </a:xfrm>
          <a:prstGeom prst="ellipse">
            <a:avLst/>
          </a:prstGeom>
          <a:solidFill>
            <a:srgbClr val="C74634">
              <a:alpha val="10196"/>
            </a:srgbClr>
          </a:solidFill>
          <a:ln w="9525">
            <a:solidFill>
              <a:srgbClr val="C74634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DB18B9-B1EB-48D8-99FE-E08B17B4C6DE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1714500" cy="6858000"/>
          </a:xfrm>
          <a:prstGeom prst="rect">
            <a:avLst/>
          </a:prstGeom>
          <a:solidFill>
            <a:srgbClr val="C74634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DC2994-2986-4C25-AE20-E252C0900CC4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47650" cy="6858000"/>
          </a:xfrm>
          <a:prstGeom prst="rect">
            <a:avLst/>
          </a:prstGeom>
          <a:solidFill>
            <a:srgbClr val="FFFFFF">
              <a:alpha val="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FDF81-CECE-4ED2-9841-2A3561F428EB}"/>
              </a:ext>
            </a:extLst>
          </p:cNvPr>
          <p:cNvSpPr>
            <a:spLocks noGrp="1"/>
          </p:cNvSpPr>
          <p:nvPr/>
        </p:nvSpPr>
        <p:spPr>
          <a:xfrm>
            <a:off x="10591800" y="0"/>
            <a:ext cx="114300" cy="6858000"/>
          </a:xfrm>
          <a:prstGeom prst="rect">
            <a:avLst/>
          </a:prstGeom>
          <a:solidFill>
            <a:srgbClr val="C7463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AC20B7-AF08-4683-981F-BCD46142C019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ORACLE DEVELOPER TWIN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393D0-280D-436A-A466-189D1E3455E5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01 /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6F860-AD94-496A-87BB-E6EEE350C0AF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2D31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510FCC-B8BE-4BE8-B239-7A2F91353B7A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C5C23B-2AF2-4176-A15B-707380841854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2CD810-931D-4704-8454-5FA4978EEE7B}"/>
              </a:ext>
            </a:extLst>
          </p:cNvPr>
          <p:cNvSpPr>
            <a:spLocks noGrp="1"/>
          </p:cNvSpPr>
          <p:nvPr/>
        </p:nvSpPr>
        <p:spPr>
          <a:xfrm>
            <a:off x="971550" y="9334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HACKATHON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D7CB2-FC64-4699-8EC2-72ACD6FC7ACD}"/>
              </a:ext>
            </a:extLst>
          </p:cNvPr>
          <p:cNvSpPr>
            <a:spLocks noGrp="1"/>
          </p:cNvSpPr>
          <p:nvPr/>
        </p:nvSpPr>
        <p:spPr>
          <a:xfrm>
            <a:off x="800100" y="1314450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Turning AI Into a Governed</a:t>
            </a:r>
          </a:p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Digital Worker for Software Delivery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C84637-1C84-4490-BA35-A2361421D241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500" b="0" i="0" dirty="0">
                <a:solidFill>
                  <a:srgbClr val="FFFFFF">
                    <a:alpha val="80000"/>
                  </a:srgbClr>
                </a:solidFill>
              </a:rPr>
              <a:t>ODT converts a ticket into review-ready execution guidance, while keeping human approval as the final control point.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C6CE5B-D763-4F88-A36F-70D30A8118B1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1">
                <a:solidFill>
                  <a:srgbClr val="FFFFFF">
                    <a:alpha val="65882"/>
                  </a:srgbClr>
                </a:solidFill>
              </a:defRPr>
            </a:pPr>
            <a:r>
              <a:rPr sz="1125" b="0" i="1">
                <a:solidFill>
                  <a:srgbClr val="FFFFFF">
                    <a:alpha val="65882"/>
                  </a:srgbClr>
                </a:solidFill>
              </a:rPr>
              <a:t>ODT governs the work around coding, not just code generation itself.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1BF0E4-CE04-44FB-84AA-3AC1AD7527DB}"/>
              </a:ext>
            </a:extLst>
          </p:cNvPr>
          <p:cNvSpPr>
            <a:spLocks noGrp="1"/>
          </p:cNvSpPr>
          <p:nvPr/>
        </p:nvSpPr>
        <p:spPr>
          <a:xfrm>
            <a:off x="800100" y="4732244"/>
            <a:ext cx="2247900" cy="1386168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1B3E59-1C5E-4670-8C04-DD2263EEA9CE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76200" cy="1394012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73A808-4F47-4B24-8AA9-0623EC0A1002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MOVES FASTER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B5D37B-183D-4D6E-AB06-217B0F95366E}"/>
              </a:ext>
            </a:extLst>
          </p:cNvPr>
          <p:cNvSpPr>
            <a:spLocks noGrp="1"/>
          </p:cNvSpPr>
          <p:nvPr/>
        </p:nvSpPr>
        <p:spPr>
          <a:xfrm>
            <a:off x="10287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 dirty="0">
                <a:solidFill>
                  <a:srgbClr val="FFFFFF"/>
                </a:solidFill>
              </a:rPr>
              <a:t>Automates the repetitive coordination that slows teams before implementation starts.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A98217-0C45-4FD6-A29D-B1D9140F4920}"/>
              </a:ext>
            </a:extLst>
          </p:cNvPr>
          <p:cNvSpPr>
            <a:spLocks noGrp="1"/>
          </p:cNvSpPr>
          <p:nvPr/>
        </p:nvSpPr>
        <p:spPr>
          <a:xfrm>
            <a:off x="2419350" y="48958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74B2DF-A22C-41C1-BAE3-40216A8CE0AD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2171700" cy="1459846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2B81C9-27D4-4F5B-BD00-8D9DF997D935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76200" cy="1386168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2DC955-17A5-49ED-81C0-1EE41E49B7F3}"/>
              </a:ext>
            </a:extLst>
          </p:cNvPr>
          <p:cNvSpPr>
            <a:spLocks noGrp="1"/>
          </p:cNvSpPr>
          <p:nvPr/>
        </p:nvSpPr>
        <p:spPr>
          <a:xfrm>
            <a:off x="33909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EXPLAINS ITSELF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018BBF-B883-4EBB-91A6-387A83C12135}"/>
              </a:ext>
            </a:extLst>
          </p:cNvPr>
          <p:cNvSpPr>
            <a:spLocks noGrp="1"/>
          </p:cNvSpPr>
          <p:nvPr/>
        </p:nvSpPr>
        <p:spPr>
          <a:xfrm>
            <a:off x="33909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 dirty="0">
                <a:solidFill>
                  <a:srgbClr val="FFFFFF"/>
                </a:solidFill>
              </a:rPr>
              <a:t>Creates visible artifacts, ranked impact, and stage outputs that </a:t>
            </a:r>
            <a:r>
              <a:rPr lang="en-US" sz="1350" b="0" i="0" dirty="0">
                <a:solidFill>
                  <a:srgbClr val="FFFFFF"/>
                </a:solidFill>
              </a:rPr>
              <a:t>developers </a:t>
            </a:r>
            <a:r>
              <a:rPr sz="1350" b="0" i="0" dirty="0">
                <a:solidFill>
                  <a:srgbClr val="FFFFFF"/>
                </a:solidFill>
              </a:rPr>
              <a:t>can actually review.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A13CA-9326-42B9-A720-6158EAACE725}"/>
              </a:ext>
            </a:extLst>
          </p:cNvPr>
          <p:cNvSpPr>
            <a:spLocks noGrp="1"/>
          </p:cNvSpPr>
          <p:nvPr/>
        </p:nvSpPr>
        <p:spPr>
          <a:xfrm>
            <a:off x="4781550" y="48958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CE3BA6F-CF7B-433A-88EB-F47B2D00E545}"/>
              </a:ext>
            </a:extLst>
          </p:cNvPr>
          <p:cNvSpPr>
            <a:spLocks noGrp="1"/>
          </p:cNvSpPr>
          <p:nvPr/>
        </p:nvSpPr>
        <p:spPr>
          <a:xfrm>
            <a:off x="5543550" y="4652963"/>
            <a:ext cx="2305050" cy="1531283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B47EEB-D725-4710-9BC5-A758A7D32AA2}"/>
              </a:ext>
            </a:extLst>
          </p:cNvPr>
          <p:cNvSpPr>
            <a:spLocks noGrp="1"/>
          </p:cNvSpPr>
          <p:nvPr/>
        </p:nvSpPr>
        <p:spPr>
          <a:xfrm>
            <a:off x="5524500" y="4724400"/>
            <a:ext cx="45719" cy="1394012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E6A788-381B-4615-85E9-C4D5B033AC9F}"/>
              </a:ext>
            </a:extLst>
          </p:cNvPr>
          <p:cNvSpPr>
            <a:spLocks noGrp="1"/>
          </p:cNvSpPr>
          <p:nvPr/>
        </p:nvSpPr>
        <p:spPr>
          <a:xfrm>
            <a:off x="57531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 dirty="0">
                <a:solidFill>
                  <a:srgbClr val="FFFFFF">
                    <a:alpha val="78431"/>
                  </a:srgbClr>
                </a:solidFill>
              </a:rPr>
              <a:t>PROTECTS QUALITY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844FCE-7903-44B8-BD43-98AEB2D0F29E}"/>
              </a:ext>
            </a:extLst>
          </p:cNvPr>
          <p:cNvSpPr>
            <a:spLocks noGrp="1"/>
          </p:cNvSpPr>
          <p:nvPr/>
        </p:nvSpPr>
        <p:spPr>
          <a:xfrm>
            <a:off x="57531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Keeps accessibility, testing, and governance in the flow instead of bolting them on later.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83AFEC-CB4D-44A5-ACEE-94B11255B226}"/>
              </a:ext>
            </a:extLst>
          </p:cNvPr>
          <p:cNvSpPr>
            <a:spLocks noGrp="1"/>
          </p:cNvSpPr>
          <p:nvPr/>
        </p:nvSpPr>
        <p:spPr>
          <a:xfrm>
            <a:off x="7143750" y="48958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43402D1-6961-4ACF-97C0-504E307A24FE}"/>
              </a:ext>
            </a:extLst>
          </p:cNvPr>
          <p:cNvSpPr>
            <a:spLocks noGrp="1"/>
          </p:cNvSpPr>
          <p:nvPr/>
        </p:nvSpPr>
        <p:spPr>
          <a:xfrm>
            <a:off x="9380220" y="1581150"/>
            <a:ext cx="365760" cy="36576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010B0C-401C-4375-820F-A4F1DE806C4E}"/>
              </a:ext>
            </a:extLst>
          </p:cNvPr>
          <p:cNvSpPr>
            <a:spLocks noGrp="1"/>
          </p:cNvSpPr>
          <p:nvPr/>
        </p:nvSpPr>
        <p:spPr>
          <a:xfrm>
            <a:off x="9540240" y="1809750"/>
            <a:ext cx="45720" cy="251460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BD80488-B3D5-4B30-BBE7-F9F4C7075114}"/>
              </a:ext>
            </a:extLst>
          </p:cNvPr>
          <p:cNvSpPr>
            <a:spLocks noGrp="1"/>
          </p:cNvSpPr>
          <p:nvPr/>
        </p:nvSpPr>
        <p:spPr>
          <a:xfrm>
            <a:off x="8877300" y="1992630"/>
            <a:ext cx="1371600" cy="1051560"/>
          </a:xfrm>
          <a:prstGeom prst="roundRect">
            <a:avLst>
              <a:gd name="adj" fmla="val 7246"/>
            </a:avLst>
          </a:prstGeom>
          <a:solidFill>
            <a:srgbClr val="FFFFFF">
              <a:alpha val="7059"/>
            </a:srgbClr>
          </a:solidFill>
          <a:ln w="13335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64232C-89C1-4B0C-AC35-C5E550510BBC}"/>
              </a:ext>
            </a:extLst>
          </p:cNvPr>
          <p:cNvSpPr>
            <a:spLocks noGrp="1"/>
          </p:cNvSpPr>
          <p:nvPr/>
        </p:nvSpPr>
        <p:spPr>
          <a:xfrm>
            <a:off x="9174480" y="2358390"/>
            <a:ext cx="228600" cy="2286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EBB0EC6-0E29-4074-96B1-59DFC0087DC9}"/>
              </a:ext>
            </a:extLst>
          </p:cNvPr>
          <p:cNvSpPr>
            <a:spLocks noGrp="1"/>
          </p:cNvSpPr>
          <p:nvPr/>
        </p:nvSpPr>
        <p:spPr>
          <a:xfrm>
            <a:off x="9723120" y="2358390"/>
            <a:ext cx="228600" cy="2286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E6B2005-B89F-477F-B9D9-AE14975AB8FF}"/>
              </a:ext>
            </a:extLst>
          </p:cNvPr>
          <p:cNvSpPr>
            <a:spLocks noGrp="1"/>
          </p:cNvSpPr>
          <p:nvPr/>
        </p:nvSpPr>
        <p:spPr>
          <a:xfrm>
            <a:off x="9265920" y="2701290"/>
            <a:ext cx="594360" cy="160020"/>
          </a:xfrm>
          <a:prstGeom prst="roundRect">
            <a:avLst>
              <a:gd name="adj" fmla="val 47619"/>
            </a:avLst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CA324B-40AD-4AF6-9E6C-E67A832FB6AB}"/>
              </a:ext>
            </a:extLst>
          </p:cNvPr>
          <p:cNvSpPr>
            <a:spLocks noGrp="1"/>
          </p:cNvSpPr>
          <p:nvPr/>
        </p:nvSpPr>
        <p:spPr>
          <a:xfrm>
            <a:off x="8694420" y="2312670"/>
            <a:ext cx="182880" cy="91440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7E009C-C3E3-4BE7-A3FB-FA710C9B5A4E}"/>
              </a:ext>
            </a:extLst>
          </p:cNvPr>
          <p:cNvSpPr>
            <a:spLocks noGrp="1"/>
          </p:cNvSpPr>
          <p:nvPr/>
        </p:nvSpPr>
        <p:spPr>
          <a:xfrm>
            <a:off x="10248900" y="2312670"/>
            <a:ext cx="182880" cy="91440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5DDF52C-973E-4094-9834-2672A8A84030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E6A64E-33E9-468C-BBC2-6EABB3A4342D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ABEE20-D6D3-4543-B4E9-5604F0206F8D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266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Visible demo surface: FEDIT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6793834-64BB-439E-9641-0F42DC279CD1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B57774-20D0-4C04-996F-1AC21AFE7B0D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76200" cy="323850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72F287-2308-488A-A14F-B4961B75EE37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Execution agents: Codex / Cline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1E199C2-6614-4FD4-9867-6BD4377E9BD9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27241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2A1DF4-18F9-49B4-9DC3-026252DF2A33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76200" cy="323850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F60CCE1-2B06-4A79-8499-9FB3CD2E3878}"/>
              </a:ext>
            </a:extLst>
          </p:cNvPr>
          <p:cNvSpPr>
            <a:spLocks noGrp="1"/>
          </p:cNvSpPr>
          <p:nvPr/>
        </p:nvSpPr>
        <p:spPr>
          <a:xfrm>
            <a:off x="8362950" y="5353050"/>
            <a:ext cx="2419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Human-reviewed before merge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83E899-DE84-49B5-B587-A2F8F2079D1E}"/>
              </a:ext>
            </a:extLst>
          </p:cNvPr>
          <p:cNvSpPr>
            <a:spLocks noGrp="1"/>
          </p:cNvSpPr>
          <p:nvPr/>
        </p:nvSpPr>
        <p:spPr>
          <a:xfrm>
            <a:off x="8191500" y="5848350"/>
            <a:ext cx="276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902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69020"/>
                  </a:srgbClr>
                </a:solidFill>
              </a:rPr>
              <a:t>Problem solved: the invisible, repetitive work between receiving a ticket and approving a safe change.</a:t>
            </a:r>
          </a:p>
        </p:txBody>
      </p:sp>
    </p:spTree>
    <p:extLst>
      <p:ext uri="{BB962C8B-B14F-4D97-AF65-F5344CB8AC3E}">
        <p14:creationId xmlns:p14="http://schemas.microsoft.com/office/powerpoint/2010/main" val="206780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8012FD2-C3E6-4789-A4FA-C0392357142D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F3D1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A8254A-0624-4910-B632-9486E6DBB4A2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C39BD9-CD94-41F0-B1EC-E18187CE6EE7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7E7F6-B047-4773-B6AD-8EBA7B046F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CA519A-F307-4A40-927C-40E729C0DB4B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THE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E5200F-5CA1-41D7-B3F6-A146DC7D20B1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02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47022F-DBFF-4557-AF98-592B697AC18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E7C135-5985-4512-92AF-183CD0801375}"/>
              </a:ext>
            </a:extLst>
          </p:cNvPr>
          <p:cNvSpPr>
            <a:spLocks noGrp="1"/>
          </p:cNvSpPr>
          <p:nvPr/>
        </p:nvSpPr>
        <p:spPr>
          <a:xfrm>
            <a:off x="1714500" y="1249177"/>
            <a:ext cx="7943850" cy="17002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000" b="1" i="0">
                <a:solidFill>
                  <a:srgbClr val="141518"/>
                </a:solidFill>
              </a:defRPr>
            </a:pPr>
            <a:r>
              <a:rPr lang="en-US" sz="3000" b="1" dirty="0">
                <a:solidFill>
                  <a:srgbClr val="141518"/>
                </a:solidFill>
              </a:rPr>
              <a:t>The expensive part of delivery often happens before code begins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EEE6B0-7EA9-4763-823B-BAD1CACDA837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1733550" cy="21907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96FA4E9-52DA-4A4D-8016-52D944DD618B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7E3F48-8AD1-47AA-8CAE-E5632AB46E15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A82E1F"/>
                </a:solidFill>
              </a:defRPr>
            </a:pPr>
            <a:r>
              <a:rPr sz="1725" b="1" i="0">
                <a:solidFill>
                  <a:srgbClr val="A82E1F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27B90E-110B-433E-9073-BBC16B37E0F9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141518"/>
                </a:solidFill>
              </a:defRPr>
            </a:pPr>
            <a:r>
              <a:rPr sz="1350" b="1" i="0">
                <a:solidFill>
                  <a:srgbClr val="141518"/>
                </a:solidFill>
              </a:rPr>
              <a:t>Clarify intent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052E8C-BD6D-4FD0-9F60-D55EB94CE7A9}"/>
              </a:ext>
            </a:extLst>
          </p:cNvPr>
          <p:cNvSpPr>
            <a:spLocks noGrp="1"/>
          </p:cNvSpPr>
          <p:nvPr/>
        </p:nvSpPr>
        <p:spPr>
          <a:xfrm>
            <a:off x="9715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Acceptance criteria, scope, and edge cases are often scattered across tickets and chats.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6CC6E55-423E-4BD8-A5FA-74EE9719DE85}"/>
              </a:ext>
            </a:extLst>
          </p:cNvPr>
          <p:cNvSpPr>
            <a:spLocks noGrp="1"/>
          </p:cNvSpPr>
          <p:nvPr/>
        </p:nvSpPr>
        <p:spPr>
          <a:xfrm>
            <a:off x="3048000" y="2914650"/>
            <a:ext cx="1733550" cy="25336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9C923FA-6EF3-4575-A8F2-0CD6906608CA}"/>
              </a:ext>
            </a:extLst>
          </p:cNvPr>
          <p:cNvSpPr>
            <a:spLocks noGrp="1"/>
          </p:cNvSpPr>
          <p:nvPr/>
        </p:nvSpPr>
        <p:spPr>
          <a:xfrm>
            <a:off x="30480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3E7603-455E-4858-B0E8-DBACE15B3BE1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A82E1F"/>
                </a:solidFill>
              </a:defRPr>
            </a:pPr>
            <a:r>
              <a:rPr sz="1725" b="1" i="0">
                <a:solidFill>
                  <a:srgbClr val="A82E1F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A3CB44-2EDE-4CD6-A119-0E38A002266B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141518"/>
                </a:solidFill>
              </a:defRPr>
            </a:pPr>
            <a:r>
              <a:rPr sz="1350" b="1" i="0">
                <a:solidFill>
                  <a:srgbClr val="141518"/>
                </a:solidFill>
              </a:rPr>
              <a:t>Find repo 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2892C4-24E1-4246-9502-D65A7EEF2CB0}"/>
              </a:ext>
            </a:extLst>
          </p:cNvPr>
          <p:cNvSpPr>
            <a:spLocks noGrp="1"/>
          </p:cNvSpPr>
          <p:nvPr/>
        </p:nvSpPr>
        <p:spPr>
          <a:xfrm>
            <a:off x="32194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Developers still have to infer which files, modules, and regressions are actually in play.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2FE9237-EABC-4AEF-A4C5-20DEBB4881C0}"/>
              </a:ext>
            </a:extLst>
          </p:cNvPr>
          <p:cNvSpPr>
            <a:spLocks noGrp="1"/>
          </p:cNvSpPr>
          <p:nvPr/>
        </p:nvSpPr>
        <p:spPr>
          <a:xfrm>
            <a:off x="5295900" y="2609850"/>
            <a:ext cx="1733550" cy="2838450"/>
          </a:xfrm>
          <a:prstGeom prst="roundRect">
            <a:avLst>
              <a:gd name="adj" fmla="val 4396"/>
            </a:avLst>
          </a:prstGeom>
          <a:solidFill>
            <a:srgbClr val="EED8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5E8534-FC22-47AE-9749-3E7437E287C8}"/>
              </a:ext>
            </a:extLst>
          </p:cNvPr>
          <p:cNvSpPr>
            <a:spLocks noGrp="1"/>
          </p:cNvSpPr>
          <p:nvPr/>
        </p:nvSpPr>
        <p:spPr>
          <a:xfrm>
            <a:off x="52959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5A568D-651D-45FA-83CB-AEF44AE03577}"/>
              </a:ext>
            </a:extLst>
          </p:cNvPr>
          <p:cNvSpPr>
            <a:spLocks noGrp="1"/>
          </p:cNvSpPr>
          <p:nvPr/>
        </p:nvSpPr>
        <p:spPr>
          <a:xfrm>
            <a:off x="54673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A82E1F"/>
                </a:solidFill>
              </a:defRPr>
            </a:pPr>
            <a:r>
              <a:rPr sz="1725" b="1" i="0">
                <a:solidFill>
                  <a:srgbClr val="A82E1F"/>
                </a:solidFill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56F896-068F-4041-AD2D-59B6C2D597F8}"/>
              </a:ext>
            </a:extLst>
          </p:cNvPr>
          <p:cNvSpPr>
            <a:spLocks noGrp="1"/>
          </p:cNvSpPr>
          <p:nvPr/>
        </p:nvSpPr>
        <p:spPr>
          <a:xfrm>
            <a:off x="54673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141518"/>
                </a:solidFill>
              </a:defRPr>
            </a:pPr>
            <a:r>
              <a:rPr sz="1350" b="1" i="0">
                <a:solidFill>
                  <a:srgbClr val="141518"/>
                </a:solidFill>
              </a:rPr>
              <a:t>Plan the change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044866-E2AB-4394-958D-1E02E4717E5D}"/>
              </a:ext>
            </a:extLst>
          </p:cNvPr>
          <p:cNvSpPr>
            <a:spLocks noGrp="1"/>
          </p:cNvSpPr>
          <p:nvPr/>
        </p:nvSpPr>
        <p:spPr>
          <a:xfrm>
            <a:off x="54673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Technical design and patch strategy vary by person and time pressure.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668E0D6-7414-4D38-BD7B-8C8A7A4D7035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1733550" cy="3124200"/>
          </a:xfrm>
          <a:prstGeom prst="roundRect">
            <a:avLst>
              <a:gd name="adj" fmla="val 4396"/>
            </a:avLst>
          </a:prstGeom>
          <a:solidFill>
            <a:srgbClr val="E8CB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0815A16-AF19-4803-B94A-FA152F592A54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7DD0F2-A8E3-4636-A8D3-0903D046BB54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A82E1F"/>
                </a:solidFill>
              </a:defRPr>
            </a:pPr>
            <a:r>
              <a:rPr sz="1725" b="1" i="0">
                <a:solidFill>
                  <a:srgbClr val="A82E1F"/>
                </a:solidFill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FE3E9-FC8B-4BC5-A1F5-21ED0A6EF313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141518"/>
                </a:solidFill>
              </a:defRPr>
            </a:pPr>
            <a:r>
              <a:rPr sz="1350" b="1" i="0">
                <a:solidFill>
                  <a:srgbClr val="141518"/>
                </a:solidFill>
              </a:rPr>
              <a:t>Check obligations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784706-8AAA-4917-AA2C-A8E661AD9618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Testing, keyboard behavior, and accessibility often arrive too late in the cycle.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EFF5C4A-32D0-47A3-8636-E00A01D1187C}"/>
              </a:ext>
            </a:extLst>
          </p:cNvPr>
          <p:cNvSpPr>
            <a:spLocks noGrp="1"/>
          </p:cNvSpPr>
          <p:nvPr/>
        </p:nvSpPr>
        <p:spPr>
          <a:xfrm>
            <a:off x="9791700" y="2000250"/>
            <a:ext cx="1733550" cy="3448050"/>
          </a:xfrm>
          <a:prstGeom prst="roundRect">
            <a:avLst>
              <a:gd name="adj" fmla="val 4396"/>
            </a:avLst>
          </a:prstGeom>
          <a:solidFill>
            <a:srgbClr val="E2B9A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FC77E95-F889-4447-9BA5-8E040632A991}"/>
              </a:ext>
            </a:extLst>
          </p:cNvPr>
          <p:cNvSpPr>
            <a:spLocks noGrp="1"/>
          </p:cNvSpPr>
          <p:nvPr/>
        </p:nvSpPr>
        <p:spPr>
          <a:xfrm>
            <a:off x="97917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BF1CC5-7A32-4499-9F0A-3FF082E1EC73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A82E1F"/>
                </a:solidFill>
              </a:defRPr>
            </a:pPr>
            <a:r>
              <a:rPr sz="1725" b="1" i="0">
                <a:solidFill>
                  <a:srgbClr val="A82E1F"/>
                </a:solidFill>
              </a:rPr>
              <a:t>05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EC2315-A380-433F-9A34-3013B4CFEA59}"/>
              </a:ext>
            </a:extLst>
          </p:cNvPr>
          <p:cNvSpPr>
            <a:spLocks noGrp="1"/>
          </p:cNvSpPr>
          <p:nvPr/>
        </p:nvSpPr>
        <p:spPr>
          <a:xfrm>
            <a:off x="99631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141518"/>
                </a:solidFill>
              </a:defRPr>
            </a:pPr>
            <a:r>
              <a:rPr sz="1350" b="1" i="0">
                <a:solidFill>
                  <a:srgbClr val="141518"/>
                </a:solidFill>
              </a:rPr>
              <a:t>Prepare handoff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F6592D-FB8E-4C7D-82F3-C91A92225749}"/>
              </a:ext>
            </a:extLst>
          </p:cNvPr>
          <p:cNvSpPr>
            <a:spLocks noGrp="1"/>
          </p:cNvSpPr>
          <p:nvPr/>
        </p:nvSpPr>
        <p:spPr>
          <a:xfrm>
            <a:off x="99631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Coding agents need structured context, or quality becomes unpredictable.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ECABF4-1707-4FB0-91AE-2D81A0E2E325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10591800" cy="1143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51363B-A0D0-471B-BCB6-577C4B8850EF}"/>
              </a:ext>
            </a:extLst>
          </p:cNvPr>
          <p:cNvSpPr>
            <a:spLocks noGrp="1"/>
          </p:cNvSpPr>
          <p:nvPr/>
        </p:nvSpPr>
        <p:spPr>
          <a:xfrm>
            <a:off x="800100" y="56388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 i="0">
                <a:solidFill>
                  <a:srgbClr val="141518"/>
                </a:solidFill>
              </a:defRPr>
            </a:pPr>
            <a:r>
              <a:rPr sz="1425" b="1" i="0" dirty="0">
                <a:solidFill>
                  <a:srgbClr val="141518"/>
                </a:solidFill>
              </a:rPr>
              <a:t>Risk compounds before any code is written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588792-8517-45F7-BF62-C3E3235E7C78}"/>
              </a:ext>
            </a:extLst>
          </p:cNvPr>
          <p:cNvSpPr>
            <a:spLocks noGrp="1"/>
          </p:cNvSpPr>
          <p:nvPr/>
        </p:nvSpPr>
        <p:spPr>
          <a:xfrm>
            <a:off x="800100" y="600075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5F6770"/>
                </a:solidFill>
              </a:defRPr>
            </a:pPr>
            <a:r>
              <a:rPr sz="1125" b="0" i="0">
                <a:solidFill>
                  <a:srgbClr val="5F6770"/>
                </a:solidFill>
              </a:rPr>
              <a:t>ODT targets this hidden layer of delivery work.</a:t>
            </a:r>
          </a:p>
        </p:txBody>
      </p:sp>
    </p:spTree>
    <p:extLst>
      <p:ext uri="{BB962C8B-B14F-4D97-AF65-F5344CB8AC3E}">
        <p14:creationId xmlns:p14="http://schemas.microsoft.com/office/powerpoint/2010/main" val="169277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52BBFC-7ED3-4A42-BA2D-BE0AE75FBC48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E7D7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76044C-6657-4AB9-B331-43B96398AB37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E9E8BF-3D75-4B8D-B7CA-FFD57F468F86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907084-3E3E-4A4D-AC3D-8AB96AD6F5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5A8A1-D59C-4C45-8225-3E09ABEEDEEE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THE SHIFT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20D7D-EB1A-4D3C-ABB0-200161DCAE86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03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56936B-52B6-4E5F-A237-4CC99CDDCF2A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43470-C10C-486B-9DE0-92083EDF4485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096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 i="0">
                <a:solidFill>
                  <a:srgbClr val="141518"/>
                </a:solidFill>
              </a:defRPr>
            </a:pPr>
            <a:r>
              <a:rPr sz="2925" b="1" i="0">
                <a:solidFill>
                  <a:srgbClr val="141518"/>
                </a:solidFill>
              </a:rPr>
              <a:t>ODT removes orchestration work, not developer judgement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4E94ED-7DD3-4515-85BF-97C2B094C9D4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72157"/>
            </a:srgbClr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A6C0-EA42-4F6B-9516-B6F180B494CF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DA5A7-23BA-4CC7-B7EE-3BD30AB01800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A82E1F"/>
                </a:solidFill>
              </a:defRPr>
            </a:pPr>
            <a:r>
              <a:rPr sz="825" b="1" i="0">
                <a:solidFill>
                  <a:srgbClr val="A82E1F"/>
                </a:solidFill>
              </a:rPr>
              <a:t>From intent -&gt; evidence -&gt; execution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FC7E93-4120-468B-B74B-1F802DFEC80E}"/>
              </a:ext>
            </a:extLst>
          </p:cNvPr>
          <p:cNvSpPr>
            <a:spLocks noGrp="1"/>
          </p:cNvSpPr>
          <p:nvPr/>
        </p:nvSpPr>
        <p:spPr>
          <a:xfrm>
            <a:off x="800100" y="2571749"/>
            <a:ext cx="4572000" cy="3648075"/>
          </a:xfrm>
          <a:prstGeom prst="roundRect">
            <a:avLst>
              <a:gd name="adj" fmla="val 2247"/>
            </a:avLst>
          </a:prstGeom>
          <a:solidFill>
            <a:srgbClr val="1B1E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EB2FCA-F036-435A-9C98-137E9C70B4CA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Before ODT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A6DCBD4-EA08-4ECB-BBC4-3F2BE486F888}"/>
              </a:ext>
            </a:extLst>
          </p:cNvPr>
          <p:cNvSpPr>
            <a:spLocks noGrp="1"/>
          </p:cNvSpPr>
          <p:nvPr/>
        </p:nvSpPr>
        <p:spPr>
          <a:xfrm>
            <a:off x="1047749" y="3067050"/>
            <a:ext cx="3943349" cy="736506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F7D2EB-8513-4582-9E74-FA388F145CCE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171450" cy="1714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459B5-FC03-4394-9DBF-0F512D1D7A00}"/>
              </a:ext>
            </a:extLst>
          </p:cNvPr>
          <p:cNvSpPr>
            <a:spLocks noGrp="1"/>
          </p:cNvSpPr>
          <p:nvPr/>
        </p:nvSpPr>
        <p:spPr>
          <a:xfrm>
            <a:off x="1562100" y="32956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Manual interpretation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32A13D-2A01-4F11-B372-B454711DF4B8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Business asks still have to be translated into engineering action.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94F73F-AF61-455A-A185-3E44E2B23586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4DD4F3-4E66-467A-AE06-90B5C044F53D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171450" cy="1714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210C94-D666-46F9-9D65-60532283F1B0}"/>
              </a:ext>
            </a:extLst>
          </p:cNvPr>
          <p:cNvSpPr>
            <a:spLocks noGrp="1"/>
          </p:cNvSpPr>
          <p:nvPr/>
        </p:nvSpPr>
        <p:spPr>
          <a:xfrm>
            <a:off x="1562100" y="39624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Hidden blast radius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F05C9E-1368-400E-A2D6-1517179991A1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Impact discovery still relies on memory, search, and guesswork.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6691515-821F-49D0-A529-E0A2E2231ED5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3943350" cy="78105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0757D1E-D7C1-40F3-8649-1622AA182ED4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171450" cy="1714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E38B00-5075-465A-AE5E-0059B1F38863}"/>
              </a:ext>
            </a:extLst>
          </p:cNvPr>
          <p:cNvSpPr>
            <a:spLocks noGrp="1"/>
          </p:cNvSpPr>
          <p:nvPr/>
        </p:nvSpPr>
        <p:spPr>
          <a:xfrm>
            <a:off x="1562100" y="46291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Late quality checks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69E334-87EE-42FD-BB7D-D2A0E10EB93B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Accessibility and regression planning can slip until the very end.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D6BCCB-124A-415C-8521-835CC3528E99}"/>
              </a:ext>
            </a:extLst>
          </p:cNvPr>
          <p:cNvSpPr>
            <a:spLocks noGrp="1"/>
          </p:cNvSpPr>
          <p:nvPr/>
        </p:nvSpPr>
        <p:spPr>
          <a:xfrm>
            <a:off x="1047750" y="5246593"/>
            <a:ext cx="3943350" cy="78105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5828AC-83A5-4996-AB32-30060CE35A75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171450" cy="1714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561A19-467D-4C26-87FF-B7AD988EFCB0}"/>
              </a:ext>
            </a:extLst>
          </p:cNvPr>
          <p:cNvSpPr>
            <a:spLocks noGrp="1"/>
          </p:cNvSpPr>
          <p:nvPr/>
        </p:nvSpPr>
        <p:spPr>
          <a:xfrm>
            <a:off x="1552575" y="5417484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Unstructured prompting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8BA576-B636-49AC-AFD1-46CB407AB5E2}"/>
              </a:ext>
            </a:extLst>
          </p:cNvPr>
          <p:cNvSpPr>
            <a:spLocks noGrp="1"/>
          </p:cNvSpPr>
          <p:nvPr/>
        </p:nvSpPr>
        <p:spPr>
          <a:xfrm>
            <a:off x="1533525" y="5577168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 dirty="0">
                <a:solidFill>
                  <a:srgbClr val="FFFFFF"/>
                </a:solidFill>
              </a:rPr>
              <a:t>Execution agents get uneven context, so output quality can vary.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639CCB8B-A306-4B26-A215-813E5C44966C}"/>
              </a:ext>
            </a:extLst>
          </p:cNvPr>
          <p:cNvSpPr>
            <a:spLocks noGrp="1"/>
          </p:cNvSpPr>
          <p:nvPr/>
        </p:nvSpPr>
        <p:spPr>
          <a:xfrm>
            <a:off x="5391150" y="3810000"/>
            <a:ext cx="819150" cy="762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73007B6-3D85-4820-B6D9-3D66E4319E15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76800" cy="3390900"/>
          </a:xfrm>
          <a:prstGeom prst="roundRect">
            <a:avLst>
              <a:gd name="adj" fmla="val 2247"/>
            </a:avLst>
          </a:prstGeom>
          <a:solidFill>
            <a:srgbClr val="FFFDFC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452083-AF41-45D8-A288-4DAE4BF2E3BB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141518"/>
                </a:solidFill>
              </a:defRPr>
            </a:pPr>
            <a:r>
              <a:rPr sz="1800" b="1" i="0">
                <a:solidFill>
                  <a:srgbClr val="141518"/>
                </a:solidFill>
              </a:rPr>
              <a:t>With ODT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B45EF13-D2B2-4D69-B199-CB1FDCE02598}"/>
              </a:ext>
            </a:extLst>
          </p:cNvPr>
          <p:cNvSpPr>
            <a:spLocks noGrp="1"/>
          </p:cNvSpPr>
          <p:nvPr/>
        </p:nvSpPr>
        <p:spPr>
          <a:xfrm>
            <a:off x="6781800" y="31623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AE7B941-FBB9-485E-ADA1-9B2DF078EBFA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EC5377-BBCC-43BA-8992-126E4E91BC17}"/>
              </a:ext>
            </a:extLst>
          </p:cNvPr>
          <p:cNvSpPr>
            <a:spLocks noGrp="1"/>
          </p:cNvSpPr>
          <p:nvPr/>
        </p:nvSpPr>
        <p:spPr>
          <a:xfrm>
            <a:off x="7277100" y="32956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Structured intake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78125F-CF31-45EF-B11D-BF8EBD5DEA58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Requirements and constraints are captured in one governed flow.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C2BE3A4-A871-4976-9A1D-6E32796A420D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F24AE1D-A855-4FD1-92C4-818C64E6AAEA}"/>
              </a:ext>
            </a:extLst>
          </p:cNvPr>
          <p:cNvSpPr>
            <a:spLocks noGrp="1"/>
          </p:cNvSpPr>
          <p:nvPr/>
        </p:nvSpPr>
        <p:spPr>
          <a:xfrm>
            <a:off x="6953250" y="4000500"/>
            <a:ext cx="171450" cy="171450"/>
          </a:xfrm>
          <a:prstGeom prst="ellipse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30D76D-407D-4269-B397-367618CCD741}"/>
              </a:ext>
            </a:extLst>
          </p:cNvPr>
          <p:cNvSpPr>
            <a:spLocks noGrp="1"/>
          </p:cNvSpPr>
          <p:nvPr/>
        </p:nvSpPr>
        <p:spPr>
          <a:xfrm>
            <a:off x="7277100" y="39624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Repo-aware impact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3393A6-BB64-48E8-B4C8-C542D1C1B883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Candidate files and regression areas are ranked before coding begins.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D4018DE-E098-4062-B087-76FCB051232A}"/>
              </a:ext>
            </a:extLst>
          </p:cNvPr>
          <p:cNvSpPr>
            <a:spLocks noGrp="1"/>
          </p:cNvSpPr>
          <p:nvPr/>
        </p:nvSpPr>
        <p:spPr>
          <a:xfrm>
            <a:off x="6781800" y="44958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6F46F1-4380-4D3B-B0A3-C352B6A721C7}"/>
              </a:ext>
            </a:extLst>
          </p:cNvPr>
          <p:cNvSpPr>
            <a:spLocks noGrp="1"/>
          </p:cNvSpPr>
          <p:nvPr/>
        </p:nvSpPr>
        <p:spPr>
          <a:xfrm>
            <a:off x="6953250" y="4667250"/>
            <a:ext cx="171450" cy="171450"/>
          </a:xfrm>
          <a:prstGeom prst="ellipse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8D9036-E2C9-4917-9D68-C890F3D1A3AB}"/>
              </a:ext>
            </a:extLst>
          </p:cNvPr>
          <p:cNvSpPr>
            <a:spLocks noGrp="1"/>
          </p:cNvSpPr>
          <p:nvPr/>
        </p:nvSpPr>
        <p:spPr>
          <a:xfrm>
            <a:off x="7277100" y="46291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Guided execution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0397A-0EBA-4541-99C3-ECCC358317D8}"/>
              </a:ext>
            </a:extLst>
          </p:cNvPr>
          <p:cNvSpPr>
            <a:spLocks noGrp="1"/>
          </p:cNvSpPr>
          <p:nvPr/>
        </p:nvSpPr>
        <p:spPr>
          <a:xfrm>
            <a:off x="7277100" y="48577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Design, code, test, and compliance workpacks are prepared for use.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3265B55-6E5E-4AAD-AFF1-6E71987F69DD}"/>
              </a:ext>
            </a:extLst>
          </p:cNvPr>
          <p:cNvSpPr>
            <a:spLocks noGrp="1"/>
          </p:cNvSpPr>
          <p:nvPr/>
        </p:nvSpPr>
        <p:spPr>
          <a:xfrm>
            <a:off x="6781800" y="51625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116931-6AA7-47B7-8856-3C84DAF0B717}"/>
              </a:ext>
            </a:extLst>
          </p:cNvPr>
          <p:cNvSpPr>
            <a:spLocks noGrp="1"/>
          </p:cNvSpPr>
          <p:nvPr/>
        </p:nvSpPr>
        <p:spPr>
          <a:xfrm>
            <a:off x="6953250" y="533400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B94134A-7178-4FC8-8CFD-95044F28C924}"/>
              </a:ext>
            </a:extLst>
          </p:cNvPr>
          <p:cNvSpPr>
            <a:spLocks noGrp="1"/>
          </p:cNvSpPr>
          <p:nvPr/>
        </p:nvSpPr>
        <p:spPr>
          <a:xfrm>
            <a:off x="7277100" y="52959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Visible review gate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EFB070-F865-4531-A44A-5FD8015F6392}"/>
              </a:ext>
            </a:extLst>
          </p:cNvPr>
          <p:cNvSpPr>
            <a:spLocks noGrp="1"/>
          </p:cNvSpPr>
          <p:nvPr/>
        </p:nvSpPr>
        <p:spPr>
          <a:xfrm>
            <a:off x="7277100" y="55245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FEDIT makes the work explainable before any merge decision.</a:t>
            </a:r>
          </a:p>
        </p:txBody>
      </p:sp>
    </p:spTree>
    <p:extLst>
      <p:ext uri="{BB962C8B-B14F-4D97-AF65-F5344CB8AC3E}">
        <p14:creationId xmlns:p14="http://schemas.microsoft.com/office/powerpoint/2010/main" val="103597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A86941-4210-41CB-972E-8E3624A6EE53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E9D4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A01535-C427-4FF4-95B5-0D4F7A0DF2BD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D2EB3D-A31E-4D98-8D02-EACB40917A86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E00CE-27A7-4DF2-8CF8-1E42E05AFA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91232-167A-42FF-BA92-A1ED27FDF796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DIFFERENTIATION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CDC14F-E8DD-4080-808A-4AF8ABE24E2C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04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BD788D-5A61-4E20-8C35-B0487CF02355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94676-C858-442A-983D-087135F13016}"/>
              </a:ext>
            </a:extLst>
          </p:cNvPr>
          <p:cNvSpPr>
            <a:spLocks noGrp="1"/>
          </p:cNvSpPr>
          <p:nvPr/>
        </p:nvSpPr>
        <p:spPr>
          <a:xfrm>
            <a:off x="1695450" y="1247775"/>
            <a:ext cx="8001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141518"/>
                </a:solidFill>
              </a:defRPr>
            </a:pPr>
            <a:r>
              <a:rPr sz="3000" b="1" i="0" dirty="0">
                <a:solidFill>
                  <a:srgbClr val="141518"/>
                </a:solidFill>
              </a:rPr>
              <a:t>Why this is different from a generic coding copilot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8AD45F-9575-4176-B44A-50338E58C123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933700" cy="552450"/>
          </a:xfrm>
          <a:prstGeom prst="roundRect">
            <a:avLst>
              <a:gd name="adj" fmla="val 13793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6DCA84-D161-42ED-95E9-FF8FD3FF19D6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7391400" cy="552450"/>
          </a:xfrm>
          <a:prstGeom prst="roundRect">
            <a:avLst>
              <a:gd name="adj" fmla="val 13793"/>
            </a:avLst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5F16AC-E2D2-49C4-95B9-73C6F97231DA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Typical coding copilot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C63AAE-420E-48A9-9B41-698F55E17E77}"/>
              </a:ext>
            </a:extLst>
          </p:cNvPr>
          <p:cNvSpPr>
            <a:spLocks noGrp="1"/>
          </p:cNvSpPr>
          <p:nvPr/>
        </p:nvSpPr>
        <p:spPr>
          <a:xfrm>
            <a:off x="4171950" y="2343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Oracle Developer Twin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26F82A-EFF6-4C09-ABD8-7C10099A349A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413DB23-E29D-48E5-88A5-33FD4E3EDB43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D040B2-D557-4333-B672-A25C43981250}"/>
              </a:ext>
            </a:extLst>
          </p:cNvPr>
          <p:cNvSpPr>
            <a:spLocks noGrp="1"/>
          </p:cNvSpPr>
          <p:nvPr/>
        </p:nvSpPr>
        <p:spPr>
          <a:xfrm>
            <a:off x="1085850" y="30194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0242A"/>
                </a:solidFill>
              </a:defRPr>
            </a:pPr>
            <a:r>
              <a:rPr sz="1125" b="1" i="0">
                <a:solidFill>
                  <a:srgbClr val="20242A"/>
                </a:solidFill>
              </a:rPr>
              <a:t>Starts with a 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9DF42A-29AB-4E89-B20A-D897AC7DE4A0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DF383B-8665-42BF-86D0-D7D285B73BA7}"/>
              </a:ext>
            </a:extLst>
          </p:cNvPr>
          <p:cNvSpPr>
            <a:spLocks noGrp="1"/>
          </p:cNvSpPr>
          <p:nvPr/>
        </p:nvSpPr>
        <p:spPr>
          <a:xfrm>
            <a:off x="4133850" y="29813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141518"/>
                </a:solidFill>
              </a:defRPr>
            </a:pPr>
            <a:r>
              <a:rPr sz="1200" b="0" i="0">
                <a:solidFill>
                  <a:srgbClr val="141518"/>
                </a:solidFill>
              </a:rPr>
              <a:t>Starts with a work item, structured intake, and target-repo context.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867D710-2E5B-4842-B382-02299705AB54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014E071-D5EB-45D8-89B7-D2FB2D8FEC62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1A13CA-B07D-412B-845D-905A170FFD1B}"/>
              </a:ext>
            </a:extLst>
          </p:cNvPr>
          <p:cNvSpPr>
            <a:spLocks noGrp="1"/>
          </p:cNvSpPr>
          <p:nvPr/>
        </p:nvSpPr>
        <p:spPr>
          <a:xfrm>
            <a:off x="1085850" y="36290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0242A"/>
                </a:solidFill>
              </a:defRPr>
            </a:pPr>
            <a:r>
              <a:rPr sz="1125" b="1" i="0">
                <a:solidFill>
                  <a:srgbClr val="20242A"/>
                </a:solidFill>
              </a:rPr>
              <a:t>Mainly returns code or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132295-BA16-4212-94FC-3BB543A55190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544892-D5FE-465A-A303-00D9A0D36E64}"/>
              </a:ext>
            </a:extLst>
          </p:cNvPr>
          <p:cNvSpPr>
            <a:spLocks noGrp="1"/>
          </p:cNvSpPr>
          <p:nvPr/>
        </p:nvSpPr>
        <p:spPr>
          <a:xfrm>
            <a:off x="4133850" y="35909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141518"/>
                </a:solidFill>
              </a:defRPr>
            </a:pPr>
            <a:r>
              <a:rPr sz="1200" b="0" i="0">
                <a:solidFill>
                  <a:srgbClr val="141518"/>
                </a:solidFill>
              </a:rPr>
              <a:t>Creates dashboards, impact analysis, workpacks, prompt contracts, and verification artifacts.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E89B16-2B71-4D7D-A9DE-81FB26CB9585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6E5DF78-6C3C-4090-88D4-F1C9CF9C96FA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4CC35-332C-4E06-AEA0-BA9F0CFE6330}"/>
              </a:ext>
            </a:extLst>
          </p:cNvPr>
          <p:cNvSpPr>
            <a:spLocks noGrp="1"/>
          </p:cNvSpPr>
          <p:nvPr/>
        </p:nvSpPr>
        <p:spPr>
          <a:xfrm>
            <a:off x="1085850" y="42386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0242A"/>
                </a:solidFill>
              </a:defRPr>
            </a:pPr>
            <a:r>
              <a:rPr sz="1125" b="1" i="0">
                <a:solidFill>
                  <a:srgbClr val="20242A"/>
                </a:solidFill>
              </a:rPr>
              <a:t>Repo understanding is ad hoc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20B75E-531D-4541-B18B-14FA580DCDDC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BB2561-2D9E-4FBF-9A6B-F0AA52DC32E5}"/>
              </a:ext>
            </a:extLst>
          </p:cNvPr>
          <p:cNvSpPr>
            <a:spLocks noGrp="1"/>
          </p:cNvSpPr>
          <p:nvPr/>
        </p:nvSpPr>
        <p:spPr>
          <a:xfrm>
            <a:off x="4133850" y="42005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141518"/>
                </a:solidFill>
              </a:defRPr>
            </a:pPr>
            <a:r>
              <a:rPr sz="1200" b="0" i="0">
                <a:solidFill>
                  <a:srgbClr val="141518"/>
                </a:solidFill>
              </a:rPr>
              <a:t>Impact is inferred and ranked so change scope becomes visible before execution.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DACCE0B-735E-4BD1-AB4A-1EDCACF42B68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45A5C0E-273A-4745-8E7E-CB45953013AE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7400BF-3F46-467A-82DD-E0DE4A967712}"/>
              </a:ext>
            </a:extLst>
          </p:cNvPr>
          <p:cNvSpPr>
            <a:spLocks noGrp="1"/>
          </p:cNvSpPr>
          <p:nvPr/>
        </p:nvSpPr>
        <p:spPr>
          <a:xfrm>
            <a:off x="1085850" y="48482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0242A"/>
                </a:solidFill>
              </a:defRPr>
            </a:pPr>
            <a:r>
              <a:rPr sz="1125" b="1" i="0">
                <a:solidFill>
                  <a:srgbClr val="20242A"/>
                </a:solidFill>
              </a:rPr>
              <a:t>Quality checks are optional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0828E5-1380-4CB0-B689-C2C47F5A1BAE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5ED7CC-D1AB-4902-9602-731F590351AB}"/>
              </a:ext>
            </a:extLst>
          </p:cNvPr>
          <p:cNvSpPr>
            <a:spLocks noGrp="1"/>
          </p:cNvSpPr>
          <p:nvPr/>
        </p:nvSpPr>
        <p:spPr>
          <a:xfrm>
            <a:off x="4133850" y="48101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141518"/>
                </a:solidFill>
              </a:defRPr>
            </a:pPr>
            <a:r>
              <a:rPr sz="1200" b="0" i="0">
                <a:solidFill>
                  <a:srgbClr val="141518"/>
                </a:solidFill>
              </a:rPr>
              <a:t>Accessibility, testing, and review checkpoints are built into the flow.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E35D1E8-F70D-4F5F-84EA-43389237BA00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F350600-03F5-4065-A611-0BC2F5B33B4F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529647-939D-4058-A52F-6A0E71295C8C}"/>
              </a:ext>
            </a:extLst>
          </p:cNvPr>
          <p:cNvSpPr>
            <a:spLocks noGrp="1"/>
          </p:cNvSpPr>
          <p:nvPr/>
        </p:nvSpPr>
        <p:spPr>
          <a:xfrm>
            <a:off x="1085850" y="54578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0242A"/>
                </a:solidFill>
              </a:defRPr>
            </a:pPr>
            <a:r>
              <a:rPr sz="1125" b="1" i="0">
                <a:solidFill>
                  <a:srgbClr val="20242A"/>
                </a:solidFill>
              </a:rPr>
              <a:t>Responsibility can feel blurry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7BCB4C-B2E0-477C-A91E-570C0E81A961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58E843-7E6F-46ED-94EE-C6FBE25706DC}"/>
              </a:ext>
            </a:extLst>
          </p:cNvPr>
          <p:cNvSpPr>
            <a:spLocks noGrp="1"/>
          </p:cNvSpPr>
          <p:nvPr/>
        </p:nvSpPr>
        <p:spPr>
          <a:xfrm>
            <a:off x="4133850" y="54197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141518"/>
                </a:solidFill>
              </a:defRPr>
            </a:pPr>
            <a:r>
              <a:rPr sz="1200" b="0" i="0">
                <a:solidFill>
                  <a:srgbClr val="141518"/>
                </a:solidFill>
              </a:rPr>
              <a:t>Human approval remains explicit before merge or release.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7445734-4E9E-4A32-B103-2C1D2DA2121A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10439400" cy="400050"/>
          </a:xfrm>
          <a:prstGeom prst="roundRect">
            <a:avLst>
              <a:gd name="adj" fmla="val 19048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D82E11-8F31-4EAA-8F40-F0F57333EBCB}"/>
              </a:ext>
            </a:extLst>
          </p:cNvPr>
          <p:cNvSpPr>
            <a:spLocks noGrp="1"/>
          </p:cNvSpPr>
          <p:nvPr/>
        </p:nvSpPr>
        <p:spPr>
          <a:xfrm>
            <a:off x="1085850" y="6210300"/>
            <a:ext cx="1003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Codex and Cline are execution engines. ODT is the digital worker layer around them.</a:t>
            </a:r>
          </a:p>
        </p:txBody>
      </p:sp>
    </p:spTree>
    <p:extLst>
      <p:ext uri="{BB962C8B-B14F-4D97-AF65-F5344CB8AC3E}">
        <p14:creationId xmlns:p14="http://schemas.microsoft.com/office/powerpoint/2010/main" val="5101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E624FDA-F117-4026-9C7C-C2D684541661}"/>
              </a:ext>
            </a:extLst>
          </p:cNvPr>
          <p:cNvSpPr>
            <a:spLocks noGrp="1"/>
          </p:cNvSpPr>
          <p:nvPr/>
        </p:nvSpPr>
        <p:spPr>
          <a:xfrm>
            <a:off x="7696200" y="-628650"/>
            <a:ext cx="4953000" cy="4953000"/>
          </a:xfrm>
          <a:prstGeom prst="ellipse">
            <a:avLst/>
          </a:prstGeom>
          <a:solidFill>
            <a:srgbClr val="C74634">
              <a:alpha val="12549"/>
            </a:srgbClr>
          </a:solidFill>
          <a:ln w="14288">
            <a:solidFill>
              <a:srgbClr val="E08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BBD89C-B4D4-4E86-B250-64E4A370127F}"/>
              </a:ext>
            </a:extLst>
          </p:cNvPr>
          <p:cNvSpPr>
            <a:spLocks noGrp="1"/>
          </p:cNvSpPr>
          <p:nvPr/>
        </p:nvSpPr>
        <p:spPr>
          <a:xfrm>
            <a:off x="8229600" y="-514350"/>
            <a:ext cx="3886200" cy="3886200"/>
          </a:xfrm>
          <a:prstGeom prst="ellipse">
            <a:avLst/>
          </a:prstGeom>
          <a:solidFill>
            <a:srgbClr val="FFFFFF">
              <a:alpha val="1961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311523-99A2-423C-B28B-7951C5607051}"/>
              </a:ext>
            </a:extLst>
          </p:cNvPr>
          <p:cNvSpPr>
            <a:spLocks noGrp="1"/>
          </p:cNvSpPr>
          <p:nvPr/>
        </p:nvSpPr>
        <p:spPr>
          <a:xfrm>
            <a:off x="8629650" y="-95250"/>
            <a:ext cx="3086100" cy="3086100"/>
          </a:xfrm>
          <a:prstGeom prst="ellipse">
            <a:avLst/>
          </a:prstGeom>
          <a:solidFill>
            <a:srgbClr val="000000">
              <a:alpha val="0"/>
            </a:srgbClr>
          </a:solidFill>
          <a:ln w="14288">
            <a:solidFill>
              <a:srgbClr val="C74634">
                <a:alpha val="3137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1AA3E8-BF56-4B5B-BAC8-F604F1144AF7}"/>
              </a:ext>
            </a:extLst>
          </p:cNvPr>
          <p:cNvSpPr>
            <a:spLocks noGrp="1"/>
          </p:cNvSpPr>
          <p:nvPr/>
        </p:nvSpPr>
        <p:spPr>
          <a:xfrm>
            <a:off x="-1143000" y="4953000"/>
            <a:ext cx="3048000" cy="3048000"/>
          </a:xfrm>
          <a:prstGeom prst="ellipse">
            <a:avLst/>
          </a:prstGeom>
          <a:solidFill>
            <a:srgbClr val="C74634">
              <a:alpha val="10196"/>
            </a:srgbClr>
          </a:solidFill>
          <a:ln w="9525">
            <a:solidFill>
              <a:srgbClr val="C74634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7684EA-551E-4E9E-82FD-3EE105B5EE0E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1714500" cy="6858000"/>
          </a:xfrm>
          <a:prstGeom prst="rect">
            <a:avLst/>
          </a:prstGeom>
          <a:solidFill>
            <a:srgbClr val="C74634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1E88A-4A02-4D99-AAC6-1FB27CAB1180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47650" cy="6858000"/>
          </a:xfrm>
          <a:prstGeom prst="rect">
            <a:avLst/>
          </a:prstGeom>
          <a:solidFill>
            <a:srgbClr val="FFFFFF">
              <a:alpha val="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4873E-151B-4140-ABED-C1791395AA8A}"/>
              </a:ext>
            </a:extLst>
          </p:cNvPr>
          <p:cNvSpPr>
            <a:spLocks noGrp="1"/>
          </p:cNvSpPr>
          <p:nvPr/>
        </p:nvSpPr>
        <p:spPr>
          <a:xfrm>
            <a:off x="10591800" y="0"/>
            <a:ext cx="114300" cy="6858000"/>
          </a:xfrm>
          <a:prstGeom prst="rect">
            <a:avLst/>
          </a:prstGeom>
          <a:solidFill>
            <a:srgbClr val="C7463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6484D-C126-4F62-ADDF-FAA1750F8DAF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IMPLEMENTED TODAY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134B6-6328-4CAC-A66F-DA108B82EAB0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05 /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9D5AF-4884-438C-A286-5ACE0BCB6A8A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2D31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75DE89-A4E1-4D98-80C9-A0C762E78706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6096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Built, running, and demoable today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E708A-EB77-44C5-8C10-B37AAC1C5377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0" i="0">
                <a:solidFill>
                  <a:srgbClr val="FFFFFF">
                    <a:alpha val="80000"/>
                  </a:srgbClr>
                </a:solidFill>
              </a:rPr>
              <a:t>This is more than a concept slide. The system already produces live evidence.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A62C31-5CDD-4817-95A6-99004331C428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219450" cy="2705100"/>
          </a:xfrm>
          <a:prstGeom prst="roundRect">
            <a:avLst>
              <a:gd name="adj" fmla="val 2817"/>
            </a:avLst>
          </a:prstGeom>
          <a:solidFill>
            <a:srgbClr val="FFFFFF">
              <a:alpha val="5882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023486-B321-4629-9274-509D4EAEE8EE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What the current demo already proves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C05704-222C-4D04-B3FE-41B37CBC06CC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2286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Review-ready run state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Artifacts written to disk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Target-repo accessibility verification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Visible console through FEDIT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BFEABC-243E-4933-BF9D-D43F34E49B83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419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1400" b="0" i="0" dirty="0">
                <a:solidFill>
                  <a:srgbClr val="FFFFFF">
                    <a:alpha val="65882"/>
                  </a:srgbClr>
                </a:solidFill>
              </a:rPr>
              <a:t>Hybrid AI path also exists: OCI prompt generation is wired, with safe template fallback when needed.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FB7EA0-3B15-450A-A6CF-BB809731B8DB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F7FD7-57B8-480F-9890-36CA9459F4B6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999287-9F77-417A-9616-ECA1734A4FCF}"/>
              </a:ext>
            </a:extLst>
          </p:cNvPr>
          <p:cNvSpPr>
            <a:spLocks noGrp="1"/>
          </p:cNvSpPr>
          <p:nvPr/>
        </p:nvSpPr>
        <p:spPr>
          <a:xfrm>
            <a:off x="468630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E71AD9-C685-473F-BC3A-CBE63C910289}"/>
              </a:ext>
            </a:extLst>
          </p:cNvPr>
          <p:cNvSpPr>
            <a:spLocks noGrp="1"/>
          </p:cNvSpPr>
          <p:nvPr/>
        </p:nvSpPr>
        <p:spPr>
          <a:xfrm>
            <a:off x="470535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Governed stages from intake to verify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82B2B0-4FE8-4AEF-A86A-75DC4D705476}"/>
              </a:ext>
            </a:extLst>
          </p:cNvPr>
          <p:cNvSpPr>
            <a:spLocks noGrp="1"/>
          </p:cNvSpPr>
          <p:nvPr/>
        </p:nvSpPr>
        <p:spPr>
          <a:xfrm>
            <a:off x="470535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Current product flow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F52DEB-66B0-49DD-A5AD-12C43760E3BD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91BAF5-FD4D-4BDB-A056-17AA876546A6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66675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0F9D9A-C825-41BD-969A-B8D7149637C2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A5BD2A-A9E6-4373-A228-060B2F8DAADF}"/>
              </a:ext>
            </a:extLst>
          </p:cNvPr>
          <p:cNvSpPr>
            <a:spLocks noGrp="1"/>
          </p:cNvSpPr>
          <p:nvPr/>
        </p:nvSpPr>
        <p:spPr>
          <a:xfrm>
            <a:off x="800100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Runs stored in ODT history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64C3FF-449A-4554-A246-93A94C963653}"/>
              </a:ext>
            </a:extLst>
          </p:cNvPr>
          <p:cNvSpPr>
            <a:spLocks noGrp="1"/>
          </p:cNvSpPr>
          <p:nvPr/>
        </p:nvSpPr>
        <p:spPr>
          <a:xfrm>
            <a:off x="800100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Persisted run trail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D427D69-815B-4424-BA6D-86F25D4AF6AC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DF933E-3EA1-415B-9832-6334A7009B2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66675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13766D-D4F8-47DD-9632-6500C7F14501}"/>
              </a:ext>
            </a:extLst>
          </p:cNvPr>
          <p:cNvSpPr>
            <a:spLocks noGrp="1"/>
          </p:cNvSpPr>
          <p:nvPr/>
        </p:nvSpPr>
        <p:spPr>
          <a:xfrm>
            <a:off x="468630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7F0CFA-CCAD-4EEB-8EF5-7E008842C6E8}"/>
              </a:ext>
            </a:extLst>
          </p:cNvPr>
          <p:cNvSpPr>
            <a:spLocks noGrp="1"/>
          </p:cNvSpPr>
          <p:nvPr/>
        </p:nvSpPr>
        <p:spPr>
          <a:xfrm>
            <a:off x="470535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Blockers in current demo a11y scan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C58DC8-6BA8-4AAE-A3E7-3599855D4CC0}"/>
              </a:ext>
            </a:extLst>
          </p:cNvPr>
          <p:cNvSpPr>
            <a:spLocks noGrp="1"/>
          </p:cNvSpPr>
          <p:nvPr/>
        </p:nvSpPr>
        <p:spPr>
          <a:xfrm>
            <a:off x="470535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Latest target-repo verification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178650C-D43C-4432-8902-A2FD8707F18F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D0C815-B57E-4BDA-B81F-11F089BCDC2D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66675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AC6E2A-F1E0-43B2-922A-13D07BEFDAD8}"/>
              </a:ext>
            </a:extLst>
          </p:cNvPr>
          <p:cNvSpPr>
            <a:spLocks noGrp="1"/>
          </p:cNvSpPr>
          <p:nvPr/>
        </p:nvSpPr>
        <p:spPr>
          <a:xfrm>
            <a:off x="798195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F094A-E205-4FB4-A657-2CD9520101FC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Visible console for the digital worker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1DF5A4-1A4D-4250-866B-18A4BD6DF091}"/>
              </a:ext>
            </a:extLst>
          </p:cNvPr>
          <p:cNvSpPr>
            <a:spLocks noGrp="1"/>
          </p:cNvSpPr>
          <p:nvPr/>
        </p:nvSpPr>
        <p:spPr>
          <a:xfrm>
            <a:off x="800100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FEDIT dashboard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971EBB3-FB96-414B-88F7-ACE572B066D0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22098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E82AA-597E-4672-87F7-4BC3D53B67DA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D9DF8D-83AF-484B-81D3-0D5A6E3E6B2D}"/>
              </a:ext>
            </a:extLst>
          </p:cNvPr>
          <p:cNvSpPr>
            <a:spLocks noGrp="1"/>
          </p:cNvSpPr>
          <p:nvPr/>
        </p:nvSpPr>
        <p:spPr>
          <a:xfrm>
            <a:off x="971550" y="60007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100" b="1" i="0" dirty="0">
                <a:solidFill>
                  <a:srgbClr val="FFFFFF"/>
                </a:solidFill>
              </a:rPr>
              <a:t>Oracle VPAT guidance primary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EBC454A-AB9E-4EEE-B6FA-CB252A4D99DF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B6D02E-36E3-4775-B371-949CD8AA6461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76200" cy="323850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7DF159-2DCC-43F6-9299-3A33A08539A7}"/>
              </a:ext>
            </a:extLst>
          </p:cNvPr>
          <p:cNvSpPr>
            <a:spLocks noGrp="1"/>
          </p:cNvSpPr>
          <p:nvPr/>
        </p:nvSpPr>
        <p:spPr>
          <a:xfrm>
            <a:off x="3314700" y="600075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100" b="1" i="0" dirty="0">
                <a:solidFill>
                  <a:srgbClr val="FFFFFF"/>
                </a:solidFill>
              </a:rPr>
              <a:t>WCAG 2.1 AA fallback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B08EA6F-B5AE-4E7C-9753-AF12E1843274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2133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0E67AD-889D-490B-8C4A-6D6C689112C3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4BD170-531F-439D-8CE8-80ADC9A9EAC5}"/>
              </a:ext>
            </a:extLst>
          </p:cNvPr>
          <p:cNvSpPr>
            <a:spLocks noGrp="1"/>
          </p:cNvSpPr>
          <p:nvPr/>
        </p:nvSpPr>
        <p:spPr>
          <a:xfrm>
            <a:off x="5429250" y="600075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100" b="1" i="0" dirty="0">
                <a:solidFill>
                  <a:srgbClr val="FFFFFF"/>
                </a:solidFill>
              </a:rPr>
              <a:t>OCI prompt generation wired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9D1741E-9672-4572-B03C-CD1D374502E4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21717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CD2602-78D8-49B5-862F-2E2C1CDE0EFB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76200" cy="323850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C1E437-A938-4E85-A1B4-A92B7B1F4827}"/>
              </a:ext>
            </a:extLst>
          </p:cNvPr>
          <p:cNvSpPr>
            <a:spLocks noGrp="1"/>
          </p:cNvSpPr>
          <p:nvPr/>
        </p:nvSpPr>
        <p:spPr>
          <a:xfrm>
            <a:off x="7696200" y="60007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100" b="1" i="0" dirty="0">
                <a:solidFill>
                  <a:srgbClr val="FFFFFF"/>
                </a:solidFill>
              </a:rPr>
              <a:t>Safe template mode preserved</a:t>
            </a:r>
          </a:p>
        </p:txBody>
      </p:sp>
    </p:spTree>
    <p:extLst>
      <p:ext uri="{BB962C8B-B14F-4D97-AF65-F5344CB8AC3E}">
        <p14:creationId xmlns:p14="http://schemas.microsoft.com/office/powerpoint/2010/main" val="35029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52F214-C9B6-48D1-B98E-4FC144D2BD46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E6D9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3756A9-4BE1-4298-A158-0DEE14A9982B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CE0B38-0008-4366-9F88-DEC8479F1843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EFC99-EAA0-4199-9C7A-1F23C69D72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E4077-AA6D-4310-BBA6-0727B4F03F35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F40C0-08E1-49CE-B26B-3D244887C988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06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CB9811-66CF-4C2E-9B36-262BFB1EECDD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C50CEE-D1F0-44CA-AEFC-082E1DBCCA60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810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141518"/>
                </a:solidFill>
              </a:defRPr>
            </a:pPr>
            <a:r>
              <a:rPr sz="3000" b="1" i="0">
                <a:solidFill>
                  <a:srgbClr val="141518"/>
                </a:solidFill>
              </a:rPr>
              <a:t>Simple architecture, clear control points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C9CAD-91D4-4A02-AE29-539ED73E1BED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0242A"/>
                </a:solidFill>
              </a:defRPr>
            </a:pPr>
            <a:r>
              <a:rPr sz="1350" b="0" i="0">
                <a:solidFill>
                  <a:srgbClr val="20242A"/>
                </a:solidFill>
              </a:rPr>
              <a:t>Each layer has a job, which keeps the AI path governable and understandable.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2665D5-51A3-40FD-9C3A-381769C9B4C2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1E5C9E-A44D-44A3-8018-658349FD4861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ADE48D-1F86-4FE9-A5F4-FA2F4C5F3D5B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A82E1F"/>
                </a:solidFill>
              </a:defRPr>
            </a:pPr>
            <a:r>
              <a:rPr sz="1050" b="1" i="0">
                <a:solidFill>
                  <a:srgbClr val="A82E1F"/>
                </a:solidFill>
              </a:rPr>
              <a:t>INPUT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1AA258-E91D-43AB-9FC1-E4C9488CFC38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9621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Ticket, acceptance criteria, mockups, constraints, and repo target define the request.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EAB66D2-15A6-4C8F-B2D7-EE0D809E160E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5A5C06-7B59-472C-A394-84DB59E11675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66675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0E2DC-507A-42B9-A9F1-9BD15B2940A4}"/>
              </a:ext>
            </a:extLst>
          </p:cNvPr>
          <p:cNvSpPr>
            <a:spLocks noGrp="1"/>
          </p:cNvSpPr>
          <p:nvPr/>
        </p:nvSpPr>
        <p:spPr>
          <a:xfrm>
            <a:off x="3619500" y="27813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A82E1F"/>
                </a:solidFill>
              </a:defRPr>
            </a:pPr>
            <a:r>
              <a:rPr sz="1050" b="1" i="0">
                <a:solidFill>
                  <a:srgbClr val="A82E1F"/>
                </a:solidFill>
              </a:rPr>
              <a:t>PLANNING ENGINE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8C06A-4551-4335-8CC5-F5456243DC9A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19621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Repo analysis, prompt hardening, design guidance, code and test workpacks, and compliance review.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8E2A7A-C4E6-47CD-9B00-AFB9B71A0FA8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293ADB-5738-4EB7-8E06-B672EE40C7A0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66675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4E83A6-414E-4332-9AE3-287C7B0ACF61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A82E1F"/>
                </a:solidFill>
              </a:defRPr>
            </a:pPr>
            <a:r>
              <a:rPr sz="1050" b="1" i="0">
                <a:solidFill>
                  <a:srgbClr val="A82E1F"/>
                </a:solidFill>
              </a:rPr>
              <a:t>CONTROL SURFACE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22336F-46A2-4146-9DC5-0BEF8F09D7E5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19621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FEDIT shows status, explainability, prompt lineage, launch controls, and run telemetry.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03CA4AA-B426-41DE-9B70-B5DED3F1FE44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241003-F0EF-4137-BC06-70AFDBF3C581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66675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718FA9-AD87-48E3-B971-F8EF2C1B2607}"/>
              </a:ext>
            </a:extLst>
          </p:cNvPr>
          <p:cNvSpPr>
            <a:spLocks noGrp="1"/>
          </p:cNvSpPr>
          <p:nvPr/>
        </p:nvSpPr>
        <p:spPr>
          <a:xfrm>
            <a:off x="8877300" y="27813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A82E1F"/>
                </a:solidFill>
              </a:defRPr>
            </a:pPr>
            <a:r>
              <a:rPr sz="1050" b="1" i="0">
                <a:solidFill>
                  <a:srgbClr val="A82E1F"/>
                </a:solidFill>
              </a:rPr>
              <a:t>HUMAN DECISION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156ABB-B9F3-4E91-85BC-263443AF1C4E}"/>
              </a:ext>
            </a:extLst>
          </p:cNvPr>
          <p:cNvSpPr>
            <a:spLocks noGrp="1"/>
          </p:cNvSpPr>
          <p:nvPr/>
        </p:nvSpPr>
        <p:spPr>
          <a:xfrm>
            <a:off x="8877300" y="3067050"/>
            <a:ext cx="19621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A developer or reviewer inspects artifacts and diffs before approving merge or release.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0987949F-175C-49A0-A270-A3D072783979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381000" cy="381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DB186771-DFFD-4BAD-91B5-C262E6DCCCA1}"/>
              </a:ext>
            </a:extLst>
          </p:cNvPr>
          <p:cNvSpPr>
            <a:spLocks noGrp="1"/>
          </p:cNvSpPr>
          <p:nvPr/>
        </p:nvSpPr>
        <p:spPr>
          <a:xfrm>
            <a:off x="5486400" y="3448050"/>
            <a:ext cx="381000" cy="381000"/>
          </a:xfrm>
          <a:prstGeom prst="rightArrow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79C8FED1-D0B3-4FAD-B1E3-C91AF4CFC937}"/>
              </a:ext>
            </a:extLst>
          </p:cNvPr>
          <p:cNvSpPr>
            <a:spLocks noGrp="1"/>
          </p:cNvSpPr>
          <p:nvPr/>
        </p:nvSpPr>
        <p:spPr>
          <a:xfrm>
            <a:off x="8115300" y="3448050"/>
            <a:ext cx="381000" cy="381000"/>
          </a:xfrm>
          <a:prstGeom prst="rightArrow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C92CCE-DD34-406E-B3C1-01EB4797D753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Technology foundation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26CED99-A0C1-4E77-A7C4-D50D8B2BD2C1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315F59-7B4E-43E7-AF74-6AC14730079F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Node.js CLI engine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C68D3EF-9F86-4929-B45A-12A64676FF20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11AF5F-4570-40BB-AC37-0B24E24C1A5F}"/>
              </a:ext>
            </a:extLst>
          </p:cNvPr>
          <p:cNvSpPr>
            <a:spLocks noGrp="1"/>
          </p:cNvSpPr>
          <p:nvPr/>
        </p:nvSpPr>
        <p:spPr>
          <a:xfrm>
            <a:off x="2419350" y="55816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FEDIT dashboard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CD30DAA-9106-49E1-B2C9-D00F300F7404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16764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85DDDF-9536-4F3D-BE8C-06E968E71ADE}"/>
              </a:ext>
            </a:extLst>
          </p:cNvPr>
          <p:cNvSpPr>
            <a:spLocks noGrp="1"/>
          </p:cNvSpPr>
          <p:nvPr/>
        </p:nvSpPr>
        <p:spPr>
          <a:xfrm>
            <a:off x="3962400" y="558165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Local context server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B8AFB70-DF86-4A8C-9C11-227F4B82D1E0}"/>
              </a:ext>
            </a:extLst>
          </p:cNvPr>
          <p:cNvSpPr>
            <a:spLocks noGrp="1"/>
          </p:cNvSpPr>
          <p:nvPr/>
        </p:nvSpPr>
        <p:spPr>
          <a:xfrm>
            <a:off x="5619750" y="550545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F7A37F-4360-4E40-AD46-BFCC74760152}"/>
              </a:ext>
            </a:extLst>
          </p:cNvPr>
          <p:cNvSpPr>
            <a:spLocks noGrp="1"/>
          </p:cNvSpPr>
          <p:nvPr/>
        </p:nvSpPr>
        <p:spPr>
          <a:xfrm>
            <a:off x="5753100" y="558165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OCI GenAI optional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F1FA10B-845B-4783-A247-04D779DE47EF}"/>
              </a:ext>
            </a:extLst>
          </p:cNvPr>
          <p:cNvSpPr>
            <a:spLocks noGrp="1"/>
          </p:cNvSpPr>
          <p:nvPr/>
        </p:nvSpPr>
        <p:spPr>
          <a:xfrm>
            <a:off x="7219950" y="5505450"/>
            <a:ext cx="16573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71E1AE-97D3-49AF-95C7-ECC6F7266BDE}"/>
              </a:ext>
            </a:extLst>
          </p:cNvPr>
          <p:cNvSpPr>
            <a:spLocks noGrp="1"/>
          </p:cNvSpPr>
          <p:nvPr/>
        </p:nvSpPr>
        <p:spPr>
          <a:xfrm>
            <a:off x="7353300" y="5581650"/>
            <a:ext cx="1390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Codex / Cline handoff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58B5C95-99AD-4901-84AD-28B61C44BA8C}"/>
              </a:ext>
            </a:extLst>
          </p:cNvPr>
          <p:cNvSpPr>
            <a:spLocks noGrp="1"/>
          </p:cNvSpPr>
          <p:nvPr/>
        </p:nvSpPr>
        <p:spPr>
          <a:xfrm>
            <a:off x="8991600" y="5505450"/>
            <a:ext cx="2171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99B4D0-3C81-4A6C-947D-1F55D59362D9}"/>
              </a:ext>
            </a:extLst>
          </p:cNvPr>
          <p:cNvSpPr>
            <a:spLocks noGrp="1"/>
          </p:cNvSpPr>
          <p:nvPr/>
        </p:nvSpPr>
        <p:spPr>
          <a:xfrm>
            <a:off x="9124950" y="55816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0242A"/>
                </a:solidFill>
              </a:defRPr>
            </a:pPr>
            <a:r>
              <a:rPr sz="900" b="1" i="0">
                <a:solidFill>
                  <a:srgbClr val="20242A"/>
                </a:solidFill>
              </a:rPr>
              <a:t>Oracle VPAT / WCAG mapping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A86E1C-BBFD-4927-A309-48C7D33A0C8C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141518"/>
                </a:solidFill>
              </a:defRPr>
            </a:pPr>
            <a:r>
              <a:rPr sz="1650" b="1" i="0">
                <a:solidFill>
                  <a:srgbClr val="141518"/>
                </a:solidFill>
              </a:rPr>
              <a:t>ODT plans and governs. Execution agents implement. Humans approve.</a:t>
            </a:r>
          </a:p>
        </p:txBody>
      </p:sp>
    </p:spTree>
    <p:extLst>
      <p:ext uri="{BB962C8B-B14F-4D97-AF65-F5344CB8AC3E}">
        <p14:creationId xmlns:p14="http://schemas.microsoft.com/office/powerpoint/2010/main" val="86858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AFA893-ECE2-4140-8D42-D69DF6DCB396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E9DC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11EBC3-F587-4EE5-9D01-427B2507EB4C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E4DCFD-07D0-40EC-A5C4-0E8FB7EC0345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BB6F2-101E-49EB-9670-CDDA77083E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99F30-50D4-4F70-BF5B-B313B24BEF8E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DEVELOPER 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DEFCB-84BE-4933-8B5C-8032F0DB1E69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07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5463A-3B9B-4F81-B7D2-71990573B940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C74D4-6F9F-454A-8429-FCB4AE6CE23B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048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141518"/>
                </a:solidFill>
              </a:defRPr>
            </a:pPr>
            <a:r>
              <a:rPr sz="3000" b="1" i="0">
                <a:solidFill>
                  <a:srgbClr val="141518"/>
                </a:solidFill>
              </a:rPr>
              <a:t>What a developer actually does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FE32E-5FF0-4CDE-B348-DD144BFEE8B2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0242A"/>
                </a:solidFill>
              </a:defRPr>
            </a:pPr>
            <a:r>
              <a:rPr sz="1350" b="0" i="0">
                <a:solidFill>
                  <a:srgbClr val="20242A"/>
                </a:solidFill>
              </a:rPr>
              <a:t>The workflow stays simple even though the system underneath is rich.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128635-A49A-4043-B76A-34DCCA6B1807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DA5E3-5707-4CA0-A027-10C3CAD8A013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65C376-66EE-46E0-80F3-CA02FD006ADE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67412F-D077-4357-8327-7DC9560D41E0}"/>
              </a:ext>
            </a:extLst>
          </p:cNvPr>
          <p:cNvSpPr>
            <a:spLocks noGrp="1"/>
          </p:cNvSpPr>
          <p:nvPr/>
        </p:nvSpPr>
        <p:spPr>
          <a:xfrm>
            <a:off x="15811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Paste the ticket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45DAA-1F21-43A8-B96F-FD26DF80B87C}"/>
              </a:ext>
            </a:extLst>
          </p:cNvPr>
          <p:cNvSpPr>
            <a:spLocks noGrp="1"/>
          </p:cNvSpPr>
          <p:nvPr/>
        </p:nvSpPr>
        <p:spPr>
          <a:xfrm>
            <a:off x="1581150" y="27432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Set the target repo and capture acceptance criteria, constraints, and optional design input.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2A17D5A-0BC3-4144-9E36-31293D24DEB5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400050" cy="400050"/>
          </a:xfrm>
          <a:prstGeom prst="ellipse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8F7151-76D5-4795-9307-4ECE7D0F08CE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20871F5-4592-4A3F-BEA4-62F59607AE57}"/>
              </a:ext>
            </a:extLst>
          </p:cNvPr>
          <p:cNvSpPr>
            <a:spLocks noGrp="1"/>
          </p:cNvSpPr>
          <p:nvPr/>
        </p:nvSpPr>
        <p:spPr>
          <a:xfrm>
            <a:off x="1371600" y="32385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43B95-FBD1-4E96-A55B-655DCC6A1439}"/>
              </a:ext>
            </a:extLst>
          </p:cNvPr>
          <p:cNvSpPr>
            <a:spLocks noGrp="1"/>
          </p:cNvSpPr>
          <p:nvPr/>
        </p:nvSpPr>
        <p:spPr>
          <a:xfrm>
            <a:off x="1581150" y="33528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Run Digital Worker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7818A4-ED7A-48AD-89CD-AAF7CB07102E}"/>
              </a:ext>
            </a:extLst>
          </p:cNvPr>
          <p:cNvSpPr>
            <a:spLocks noGrp="1"/>
          </p:cNvSpPr>
          <p:nvPr/>
        </p:nvSpPr>
        <p:spPr>
          <a:xfrm>
            <a:off x="1581150" y="35623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ODT executes the governed seven-stage pipeline and prepares evidence.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5508CE-0BB3-4552-9611-5F1177C55B28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00050" cy="400050"/>
          </a:xfrm>
          <a:prstGeom prst="ellipse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8C4BF3-2C89-43BC-80F6-31E8D40EA7D2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63EDE14-FC6C-4ACB-84D2-EB269B5A23AD}"/>
              </a:ext>
            </a:extLst>
          </p:cNvPr>
          <p:cNvSpPr>
            <a:spLocks noGrp="1"/>
          </p:cNvSpPr>
          <p:nvPr/>
        </p:nvSpPr>
        <p:spPr>
          <a:xfrm>
            <a:off x="1371600" y="40576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9DFA9E-47E2-4A51-8AC7-CC450651F10C}"/>
              </a:ext>
            </a:extLst>
          </p:cNvPr>
          <p:cNvSpPr>
            <a:spLocks noGrp="1"/>
          </p:cNvSpPr>
          <p:nvPr/>
        </p:nvSpPr>
        <p:spPr>
          <a:xfrm>
            <a:off x="1581150" y="4171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Review the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3CF321-411D-43D2-8DCF-D3F1A5732223}"/>
              </a:ext>
            </a:extLst>
          </p:cNvPr>
          <p:cNvSpPr>
            <a:spLocks noGrp="1"/>
          </p:cNvSpPr>
          <p:nvPr/>
        </p:nvSpPr>
        <p:spPr>
          <a:xfrm>
            <a:off x="1581150" y="43815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Impact, design, code, tests, compliance, and verify outputs appear in FEDIT.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09A5FE3-D735-4599-8FD9-06291290EFBA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400050" cy="4000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658E02-4AD0-4082-9F5D-DA255E3D2308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8A6D164-A72D-4180-A8A1-D400E349AF17}"/>
              </a:ext>
            </a:extLst>
          </p:cNvPr>
          <p:cNvSpPr>
            <a:spLocks noGrp="1"/>
          </p:cNvSpPr>
          <p:nvPr/>
        </p:nvSpPr>
        <p:spPr>
          <a:xfrm>
            <a:off x="1371600" y="48768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535D8B-37DD-43D2-A57E-1A5C10534BE6}"/>
              </a:ext>
            </a:extLst>
          </p:cNvPr>
          <p:cNvSpPr>
            <a:spLocks noGrp="1"/>
          </p:cNvSpPr>
          <p:nvPr/>
        </p:nvSpPr>
        <p:spPr>
          <a:xfrm>
            <a:off x="1581150" y="49911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Delegate to agent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742453-759D-41C7-BEF9-B5E4637784C4}"/>
              </a:ext>
            </a:extLst>
          </p:cNvPr>
          <p:cNvSpPr>
            <a:spLocks noGrp="1"/>
          </p:cNvSpPr>
          <p:nvPr/>
        </p:nvSpPr>
        <p:spPr>
          <a:xfrm>
            <a:off x="1581150" y="52006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Codex or Cline can implement using the prepared workpack and launch guidance.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64757AA-B5C5-4E4F-A283-92046DC9BC89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B2B248-E131-45D9-A49D-5F9A21FD73C4}"/>
              </a:ext>
            </a:extLst>
          </p:cNvPr>
          <p:cNvSpPr>
            <a:spLocks noGrp="1"/>
          </p:cNvSpPr>
          <p:nvPr/>
        </p:nvSpPr>
        <p:spPr>
          <a:xfrm>
            <a:off x="800100" y="58102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4EAC527-3462-4773-B5CE-0808FA0F50F2}"/>
              </a:ext>
            </a:extLst>
          </p:cNvPr>
          <p:cNvSpPr>
            <a:spLocks noGrp="1"/>
          </p:cNvSpPr>
          <p:nvPr/>
        </p:nvSpPr>
        <p:spPr>
          <a:xfrm>
            <a:off x="1371600" y="56959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AF043B-D61B-473C-A367-1371E6E5C467}"/>
              </a:ext>
            </a:extLst>
          </p:cNvPr>
          <p:cNvSpPr>
            <a:spLocks noGrp="1"/>
          </p:cNvSpPr>
          <p:nvPr/>
        </p:nvSpPr>
        <p:spPr>
          <a:xfrm>
            <a:off x="1581150" y="58102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A82E1F"/>
                </a:solidFill>
              </a:defRPr>
            </a:pPr>
            <a:r>
              <a:rPr sz="1125" b="1" i="0">
                <a:solidFill>
                  <a:srgbClr val="A82E1F"/>
                </a:solidFill>
              </a:rPr>
              <a:t>Approve or reject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153AC4-765F-4D9D-85CB-D130A962BE87}"/>
              </a:ext>
            </a:extLst>
          </p:cNvPr>
          <p:cNvSpPr>
            <a:spLocks noGrp="1"/>
          </p:cNvSpPr>
          <p:nvPr/>
        </p:nvSpPr>
        <p:spPr>
          <a:xfrm>
            <a:off x="1581150" y="60198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0242A"/>
                </a:solidFill>
              </a:defRPr>
            </a:pPr>
            <a:r>
              <a:rPr sz="1125" b="0" i="0">
                <a:solidFill>
                  <a:srgbClr val="20242A"/>
                </a:solidFill>
              </a:rPr>
              <a:t>The human reviewer remains the final gate before merge.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924E897-E6F4-4CBF-A3CA-98A257D21805}"/>
              </a:ext>
            </a:extLst>
          </p:cNvPr>
          <p:cNvSpPr>
            <a:spLocks noGrp="1"/>
          </p:cNvSpPr>
          <p:nvPr/>
        </p:nvSpPr>
        <p:spPr>
          <a:xfrm>
            <a:off x="5434013" y="2419350"/>
            <a:ext cx="6248400" cy="3829050"/>
          </a:xfrm>
          <a:prstGeom prst="roundRect">
            <a:avLst>
              <a:gd name="adj" fmla="val 1905"/>
            </a:avLst>
          </a:prstGeom>
          <a:solidFill>
            <a:srgbClr val="181B20"/>
          </a:solidFill>
          <a:ln w="1143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4ADE6CD-4073-4615-B727-BFD627A4F06E}"/>
              </a:ext>
            </a:extLst>
          </p:cNvPr>
          <p:cNvSpPr>
            <a:spLocks noGrp="1"/>
          </p:cNvSpPr>
          <p:nvPr/>
        </p:nvSpPr>
        <p:spPr>
          <a:xfrm>
            <a:off x="5476875" y="2483784"/>
            <a:ext cx="4552950" cy="438150"/>
          </a:xfrm>
          <a:prstGeom prst="roundRect">
            <a:avLst>
              <a:gd name="adj" fmla="val 17391"/>
            </a:avLst>
          </a:prstGeom>
          <a:solidFill>
            <a:srgbClr val="2226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7BC8E-DA85-48B1-872C-C5AC3BF5CCEB}"/>
              </a:ext>
            </a:extLst>
          </p:cNvPr>
          <p:cNvSpPr>
            <a:spLocks noGrp="1"/>
          </p:cNvSpPr>
          <p:nvPr/>
        </p:nvSpPr>
        <p:spPr>
          <a:xfrm>
            <a:off x="5610225" y="2636184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975" b="1" i="0">
                <a:solidFill>
                  <a:srgbClr val="FFFFFF">
                    <a:alpha val="80000"/>
                  </a:srgbClr>
                </a:solidFill>
              </a:rPr>
              <a:t>Oracle-themed Digital Worker Console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5EBC3C7-0B49-4BB0-9358-408123F391ED}"/>
              </a:ext>
            </a:extLst>
          </p:cNvPr>
          <p:cNvSpPr>
            <a:spLocks noGrp="1"/>
          </p:cNvSpPr>
          <p:nvPr/>
        </p:nvSpPr>
        <p:spPr>
          <a:xfrm>
            <a:off x="8220075" y="2540934"/>
            <a:ext cx="1600200" cy="285750"/>
          </a:xfrm>
          <a:prstGeom prst="roundRect">
            <a:avLst>
              <a:gd name="adj" fmla="val 26667"/>
            </a:avLst>
          </a:prstGeom>
          <a:solidFill>
            <a:srgbClr val="C7463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5D7104-B7A4-42DD-9B49-4923BF21E526}"/>
              </a:ext>
            </a:extLst>
          </p:cNvPr>
          <p:cNvSpPr>
            <a:spLocks noGrp="1"/>
          </p:cNvSpPr>
          <p:nvPr/>
        </p:nvSpPr>
        <p:spPr>
          <a:xfrm>
            <a:off x="8372475" y="2636184"/>
            <a:ext cx="1295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RUN DIGITAL WORKER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79DFF5C-5E24-478F-9BE9-DF0378226F55}"/>
              </a:ext>
            </a:extLst>
          </p:cNvPr>
          <p:cNvSpPr>
            <a:spLocks noGrp="1"/>
          </p:cNvSpPr>
          <p:nvPr/>
        </p:nvSpPr>
        <p:spPr>
          <a:xfrm>
            <a:off x="5476875" y="3093384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950C7C-1203-4D16-987A-FE40F003BDC4}"/>
              </a:ext>
            </a:extLst>
          </p:cNvPr>
          <p:cNvSpPr>
            <a:spLocks noGrp="1"/>
          </p:cNvSpPr>
          <p:nvPr/>
        </p:nvSpPr>
        <p:spPr>
          <a:xfrm>
            <a:off x="5629275" y="3245784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Prompt Hardening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C1754B-EB2D-48FC-98D1-C2FAAE6893DA}"/>
              </a:ext>
            </a:extLst>
          </p:cNvPr>
          <p:cNvSpPr>
            <a:spLocks noGrp="1"/>
          </p:cNvSpPr>
          <p:nvPr/>
        </p:nvSpPr>
        <p:spPr>
          <a:xfrm>
            <a:off x="5629275" y="3512484"/>
            <a:ext cx="1066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Structured intake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and stage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6B50BA7-4936-4A07-B8B9-2DB33003CD77}"/>
              </a:ext>
            </a:extLst>
          </p:cNvPr>
          <p:cNvSpPr>
            <a:spLocks noGrp="1"/>
          </p:cNvSpPr>
          <p:nvPr/>
        </p:nvSpPr>
        <p:spPr>
          <a:xfrm>
            <a:off x="7115175" y="3093384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E92936-7B51-4236-9D95-56BC5AD3EFC7}"/>
              </a:ext>
            </a:extLst>
          </p:cNvPr>
          <p:cNvSpPr>
            <a:spLocks noGrp="1"/>
          </p:cNvSpPr>
          <p:nvPr/>
        </p:nvSpPr>
        <p:spPr>
          <a:xfrm>
            <a:off x="7286625" y="3245784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Visible Agent Workflow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324580-DED6-4978-BE6D-C76672003E6D}"/>
              </a:ext>
            </a:extLst>
          </p:cNvPr>
          <p:cNvSpPr>
            <a:spLocks noGrp="1"/>
          </p:cNvSpPr>
          <p:nvPr/>
        </p:nvSpPr>
        <p:spPr>
          <a:xfrm>
            <a:off x="7286625" y="3512484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Impact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Design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3A3919-012D-4D35-98AE-F18AEBB30FD0}"/>
              </a:ext>
            </a:extLst>
          </p:cNvPr>
          <p:cNvSpPr>
            <a:spLocks noGrp="1"/>
          </p:cNvSpPr>
          <p:nvPr/>
        </p:nvSpPr>
        <p:spPr>
          <a:xfrm>
            <a:off x="8105775" y="3512484"/>
            <a:ext cx="95250" cy="381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2A1B02-D38A-48E1-85E0-CA82331045D5}"/>
              </a:ext>
            </a:extLst>
          </p:cNvPr>
          <p:cNvSpPr>
            <a:spLocks noGrp="1"/>
          </p:cNvSpPr>
          <p:nvPr/>
        </p:nvSpPr>
        <p:spPr>
          <a:xfrm>
            <a:off x="8296275" y="3512484"/>
            <a:ext cx="95250" cy="495300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DC2271B-86A0-4E0C-A862-1F0F956EDB3E}"/>
              </a:ext>
            </a:extLst>
          </p:cNvPr>
          <p:cNvSpPr>
            <a:spLocks noGrp="1"/>
          </p:cNvSpPr>
          <p:nvPr/>
        </p:nvSpPr>
        <p:spPr>
          <a:xfrm>
            <a:off x="8486775" y="3512484"/>
            <a:ext cx="95250" cy="323850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E06FE09-FBDE-4868-BBC6-64A260D31158}"/>
              </a:ext>
            </a:extLst>
          </p:cNvPr>
          <p:cNvSpPr>
            <a:spLocks noGrp="1"/>
          </p:cNvSpPr>
          <p:nvPr/>
        </p:nvSpPr>
        <p:spPr>
          <a:xfrm>
            <a:off x="8963025" y="3093384"/>
            <a:ext cx="10668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53C55F-F813-4349-B487-6E231D14EE90}"/>
              </a:ext>
            </a:extLst>
          </p:cNvPr>
          <p:cNvSpPr>
            <a:spLocks noGrp="1"/>
          </p:cNvSpPr>
          <p:nvPr/>
        </p:nvSpPr>
        <p:spPr>
          <a:xfrm>
            <a:off x="9115425" y="3245784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Explainability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B7F879-DBA3-4E7C-9FF0-648ACF535E89}"/>
              </a:ext>
            </a:extLst>
          </p:cNvPr>
          <p:cNvSpPr>
            <a:spLocks noGrp="1"/>
          </p:cNvSpPr>
          <p:nvPr/>
        </p:nvSpPr>
        <p:spPr>
          <a:xfrm>
            <a:off x="9115425" y="3512484"/>
            <a:ext cx="800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Ranked files,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prompts,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notes.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132F45A-B434-4467-AFCF-CECA80CD41AA}"/>
              </a:ext>
            </a:extLst>
          </p:cNvPr>
          <p:cNvSpPr>
            <a:spLocks noGrp="1"/>
          </p:cNvSpPr>
          <p:nvPr/>
        </p:nvSpPr>
        <p:spPr>
          <a:xfrm>
            <a:off x="5476874" y="4307821"/>
            <a:ext cx="5972175" cy="1814513"/>
          </a:xfrm>
          <a:prstGeom prst="roundRect">
            <a:avLst>
              <a:gd name="adj" fmla="val 4301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2FF647-B032-414D-8CA7-8FC926444749}"/>
              </a:ext>
            </a:extLst>
          </p:cNvPr>
          <p:cNvSpPr>
            <a:spLocks noGrp="1"/>
          </p:cNvSpPr>
          <p:nvPr/>
        </p:nvSpPr>
        <p:spPr>
          <a:xfrm>
            <a:off x="5629275" y="4503084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Completion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8431C8F-5707-4442-B4F8-AF599261EE55}"/>
              </a:ext>
            </a:extLst>
          </p:cNvPr>
          <p:cNvSpPr>
            <a:spLocks noGrp="1"/>
          </p:cNvSpPr>
          <p:nvPr/>
        </p:nvSpPr>
        <p:spPr>
          <a:xfrm>
            <a:off x="5629275" y="4693584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Ready for</a:t>
            </a:r>
          </a:p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0B6B1F0-FAA2-435F-9339-F08D49E78EB4}"/>
              </a:ext>
            </a:extLst>
          </p:cNvPr>
          <p:cNvSpPr>
            <a:spLocks noGrp="1"/>
          </p:cNvSpPr>
          <p:nvPr/>
        </p:nvSpPr>
        <p:spPr>
          <a:xfrm>
            <a:off x="5629275" y="5265084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Human review stays</a:t>
            </a:r>
          </a:p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the final decision point.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B233F14-9D95-44EA-A71F-0A53F050C0E6}"/>
              </a:ext>
            </a:extLst>
          </p:cNvPr>
          <p:cNvSpPr>
            <a:spLocks noGrp="1"/>
          </p:cNvSpPr>
          <p:nvPr/>
        </p:nvSpPr>
        <p:spPr>
          <a:xfrm>
            <a:off x="6991350" y="46005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034664-EDFD-44FE-929D-4C5A15FE9DC1}"/>
              </a:ext>
            </a:extLst>
          </p:cNvPr>
          <p:cNvSpPr>
            <a:spLocks noGrp="1"/>
          </p:cNvSpPr>
          <p:nvPr/>
        </p:nvSpPr>
        <p:spPr>
          <a:xfrm>
            <a:off x="7105650" y="46863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 dirty="0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F913209-BD69-4BA5-A407-75B8D917B9EA}"/>
              </a:ext>
            </a:extLst>
          </p:cNvPr>
          <p:cNvSpPr>
            <a:spLocks noGrp="1"/>
          </p:cNvSpPr>
          <p:nvPr/>
        </p:nvSpPr>
        <p:spPr>
          <a:xfrm>
            <a:off x="8134350" y="46005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6C4297-DC4F-4080-AD8F-05098FEE1D4E}"/>
              </a:ext>
            </a:extLst>
          </p:cNvPr>
          <p:cNvSpPr>
            <a:spLocks noGrp="1"/>
          </p:cNvSpPr>
          <p:nvPr/>
        </p:nvSpPr>
        <p:spPr>
          <a:xfrm>
            <a:off x="8248650" y="46863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3083863-7D7F-4436-807E-78C414C75496}"/>
              </a:ext>
            </a:extLst>
          </p:cNvPr>
          <p:cNvSpPr>
            <a:spLocks noGrp="1"/>
          </p:cNvSpPr>
          <p:nvPr/>
        </p:nvSpPr>
        <p:spPr>
          <a:xfrm>
            <a:off x="9277350" y="46005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B17E3E4-1D91-4845-BE2B-74FE6D1267D8}"/>
              </a:ext>
            </a:extLst>
          </p:cNvPr>
          <p:cNvSpPr>
            <a:spLocks noGrp="1"/>
          </p:cNvSpPr>
          <p:nvPr/>
        </p:nvSpPr>
        <p:spPr>
          <a:xfrm>
            <a:off x="9391650" y="46863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2C48CCA-8868-4F15-A039-5D7EE6C1C3C0}"/>
              </a:ext>
            </a:extLst>
          </p:cNvPr>
          <p:cNvSpPr>
            <a:spLocks noGrp="1"/>
          </p:cNvSpPr>
          <p:nvPr/>
        </p:nvSpPr>
        <p:spPr>
          <a:xfrm>
            <a:off x="13125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DD06333-6BC9-4541-97AF-385D5F479791}"/>
              </a:ext>
            </a:extLst>
          </p:cNvPr>
          <p:cNvSpPr>
            <a:spLocks noGrp="1"/>
          </p:cNvSpPr>
          <p:nvPr/>
        </p:nvSpPr>
        <p:spPr>
          <a:xfrm>
            <a:off x="10534650" y="46863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C4741F4-67A2-487C-9AB1-71B2337512C0}"/>
              </a:ext>
            </a:extLst>
          </p:cNvPr>
          <p:cNvSpPr>
            <a:spLocks noGrp="1"/>
          </p:cNvSpPr>
          <p:nvPr/>
        </p:nvSpPr>
        <p:spPr>
          <a:xfrm>
            <a:off x="6991350" y="50577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87BDB40-1B9E-4A32-B7B0-CBB65750B2FC}"/>
              </a:ext>
            </a:extLst>
          </p:cNvPr>
          <p:cNvSpPr>
            <a:spLocks noGrp="1"/>
          </p:cNvSpPr>
          <p:nvPr/>
        </p:nvSpPr>
        <p:spPr>
          <a:xfrm>
            <a:off x="7105650" y="51435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9082303-3CBA-4A3F-A07C-5E3F1DE91B90}"/>
              </a:ext>
            </a:extLst>
          </p:cNvPr>
          <p:cNvSpPr>
            <a:spLocks noGrp="1"/>
          </p:cNvSpPr>
          <p:nvPr/>
        </p:nvSpPr>
        <p:spPr>
          <a:xfrm>
            <a:off x="8134350" y="50577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18EC25-4111-4765-90E4-8DA3DEA88D33}"/>
              </a:ext>
            </a:extLst>
          </p:cNvPr>
          <p:cNvSpPr>
            <a:spLocks noGrp="1"/>
          </p:cNvSpPr>
          <p:nvPr/>
        </p:nvSpPr>
        <p:spPr>
          <a:xfrm>
            <a:off x="8248650" y="51435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30194A9-F100-4781-8316-87B60CA4B90A}"/>
              </a:ext>
            </a:extLst>
          </p:cNvPr>
          <p:cNvSpPr>
            <a:spLocks noGrp="1"/>
          </p:cNvSpPr>
          <p:nvPr/>
        </p:nvSpPr>
        <p:spPr>
          <a:xfrm>
            <a:off x="9277350" y="5057775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E741FCF-6150-4FCE-A8F3-07FB091B7976}"/>
              </a:ext>
            </a:extLst>
          </p:cNvPr>
          <p:cNvSpPr>
            <a:spLocks noGrp="1"/>
          </p:cNvSpPr>
          <p:nvPr/>
        </p:nvSpPr>
        <p:spPr>
          <a:xfrm>
            <a:off x="9391650" y="51435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9CFAA2D-3B1F-4DA6-97AD-33168588370E}"/>
              </a:ext>
            </a:extLst>
          </p:cNvPr>
          <p:cNvSpPr>
            <a:spLocks noGrp="1"/>
          </p:cNvSpPr>
          <p:nvPr/>
        </p:nvSpPr>
        <p:spPr>
          <a:xfrm>
            <a:off x="8181975" y="5779434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627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3557489-4694-43CA-ACBE-15E4D41D3FA3}"/>
              </a:ext>
            </a:extLst>
          </p:cNvPr>
          <p:cNvSpPr>
            <a:spLocks noGrp="1"/>
          </p:cNvSpPr>
          <p:nvPr/>
        </p:nvSpPr>
        <p:spPr>
          <a:xfrm>
            <a:off x="8181975" y="5779434"/>
            <a:ext cx="76200" cy="2857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7CA0615-484B-455E-BF40-D2FB5999076E}"/>
              </a:ext>
            </a:extLst>
          </p:cNvPr>
          <p:cNvSpPr>
            <a:spLocks noGrp="1"/>
          </p:cNvSpPr>
          <p:nvPr/>
        </p:nvSpPr>
        <p:spPr>
          <a:xfrm>
            <a:off x="8353425" y="5874684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DELEGATE TO AGENT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1615090-52A6-0C62-485B-A4DF8354D935}"/>
              </a:ext>
            </a:extLst>
          </p:cNvPr>
          <p:cNvSpPr>
            <a:spLocks noGrp="1"/>
          </p:cNvSpPr>
          <p:nvPr/>
        </p:nvSpPr>
        <p:spPr>
          <a:xfrm>
            <a:off x="10357878" y="4597774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21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E5D11E3-D4D2-47F8-AAEC-36834DC57D8E}"/>
              </a:ext>
            </a:extLst>
          </p:cNvPr>
          <p:cNvSpPr>
            <a:spLocks noGrp="1"/>
          </p:cNvSpPr>
          <p:nvPr/>
        </p:nvSpPr>
        <p:spPr>
          <a:xfrm>
            <a:off x="7696200" y="-1047750"/>
            <a:ext cx="4953000" cy="4953000"/>
          </a:xfrm>
          <a:prstGeom prst="ellipse">
            <a:avLst/>
          </a:prstGeom>
          <a:solidFill>
            <a:srgbClr val="C74634">
              <a:alpha val="12549"/>
            </a:srgbClr>
          </a:solidFill>
          <a:ln w="14288">
            <a:solidFill>
              <a:srgbClr val="E08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45E3FF-25EA-466D-BFE6-96B6833AD872}"/>
              </a:ext>
            </a:extLst>
          </p:cNvPr>
          <p:cNvSpPr>
            <a:spLocks noGrp="1"/>
          </p:cNvSpPr>
          <p:nvPr/>
        </p:nvSpPr>
        <p:spPr>
          <a:xfrm>
            <a:off x="8229600" y="-514350"/>
            <a:ext cx="3886200" cy="3886200"/>
          </a:xfrm>
          <a:prstGeom prst="ellipse">
            <a:avLst/>
          </a:prstGeom>
          <a:solidFill>
            <a:srgbClr val="FFFFFF">
              <a:alpha val="1961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7A3A7B-8529-4F55-9B70-C487F7E0B0BF}"/>
              </a:ext>
            </a:extLst>
          </p:cNvPr>
          <p:cNvSpPr>
            <a:spLocks noGrp="1"/>
          </p:cNvSpPr>
          <p:nvPr/>
        </p:nvSpPr>
        <p:spPr>
          <a:xfrm>
            <a:off x="8629650" y="-95250"/>
            <a:ext cx="3086100" cy="3086100"/>
          </a:xfrm>
          <a:prstGeom prst="ellipse">
            <a:avLst/>
          </a:prstGeom>
          <a:solidFill>
            <a:srgbClr val="000000">
              <a:alpha val="0"/>
            </a:srgbClr>
          </a:solidFill>
          <a:ln w="14288">
            <a:solidFill>
              <a:srgbClr val="C74634">
                <a:alpha val="3137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128998-6F31-4C2A-8520-570AE5EAD60A}"/>
              </a:ext>
            </a:extLst>
          </p:cNvPr>
          <p:cNvSpPr>
            <a:spLocks noGrp="1"/>
          </p:cNvSpPr>
          <p:nvPr/>
        </p:nvSpPr>
        <p:spPr>
          <a:xfrm>
            <a:off x="-1143000" y="4953000"/>
            <a:ext cx="3048000" cy="3048000"/>
          </a:xfrm>
          <a:prstGeom prst="ellipse">
            <a:avLst/>
          </a:prstGeom>
          <a:solidFill>
            <a:srgbClr val="C74634">
              <a:alpha val="10196"/>
            </a:srgbClr>
          </a:solidFill>
          <a:ln w="9525">
            <a:solidFill>
              <a:srgbClr val="C74634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1E559A-1AE4-469F-9ED7-7E62369CDE73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1714500" cy="6858000"/>
          </a:xfrm>
          <a:prstGeom prst="rect">
            <a:avLst/>
          </a:prstGeom>
          <a:solidFill>
            <a:srgbClr val="C74634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3256F-970C-4118-A5E8-880F20528C7D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47650" cy="6858000"/>
          </a:xfrm>
          <a:prstGeom prst="rect">
            <a:avLst/>
          </a:prstGeom>
          <a:solidFill>
            <a:srgbClr val="FFFFFF">
              <a:alpha val="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81D26-3A1A-4C02-B409-56E74232F562}"/>
              </a:ext>
            </a:extLst>
          </p:cNvPr>
          <p:cNvSpPr>
            <a:spLocks noGrp="1"/>
          </p:cNvSpPr>
          <p:nvPr/>
        </p:nvSpPr>
        <p:spPr>
          <a:xfrm>
            <a:off x="10591800" y="0"/>
            <a:ext cx="114300" cy="6858000"/>
          </a:xfrm>
          <a:prstGeom prst="rect">
            <a:avLst/>
          </a:prstGeom>
          <a:solidFill>
            <a:srgbClr val="C7463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01432-169B-468B-A9A6-AB6B74E972E9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TRUST AND GOVERNANCE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FD53F-CC4D-481E-A107-1C19CBDD3E39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08 /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6FC130-D650-47B5-9602-DFE0472F9A4B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2D31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53445-A726-4DC5-BEBA-16E855349D0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239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Trust is not a side feature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D8C5FF-AD15-4B97-B858-4FC8433AB076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ODT makes enterprise AI safer because control, quality, and compliance are visible.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A80ADBA-5BD4-4A15-A079-0347664EB901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457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3E29F-D971-47AC-89AE-1FFD0105B9D4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9BB43-BFDD-46DF-86C5-2305CD47DCA0}"/>
              </a:ext>
            </a:extLst>
          </p:cNvPr>
          <p:cNvSpPr>
            <a:spLocks noGrp="1"/>
          </p:cNvSpPr>
          <p:nvPr/>
        </p:nvSpPr>
        <p:spPr>
          <a:xfrm>
            <a:off x="971550" y="2114550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Speed without blind autonomy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43158E6-48D9-4BD6-937A-6171B1645DF6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80B61F-B9C4-4BA5-A431-75B1E708C448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247650" cy="2476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8AFF4C-640A-4884-B61E-C585E103F8E5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Human in the loop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C77C3C-AEAA-4456-9A15-7A5F7D8B20ED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Merge and release decisions stay with a developer or reviewer. ODT accelerates preparation, not accountability transfer.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E42C667-5CEA-4706-89DD-1F68B56A9C2D}"/>
              </a:ext>
            </a:extLst>
          </p:cNvPr>
          <p:cNvSpPr>
            <a:spLocks noGrp="1"/>
          </p:cNvSpPr>
          <p:nvPr/>
        </p:nvSpPr>
        <p:spPr>
          <a:xfrm>
            <a:off x="5981700" y="26860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13631B-0A6F-47F7-B941-62F748B0C35B}"/>
              </a:ext>
            </a:extLst>
          </p:cNvPr>
          <p:cNvSpPr>
            <a:spLocks noGrp="1"/>
          </p:cNvSpPr>
          <p:nvPr/>
        </p:nvSpPr>
        <p:spPr>
          <a:xfrm>
            <a:off x="6210300" y="2895600"/>
            <a:ext cx="247650" cy="247650"/>
          </a:xfrm>
          <a:prstGeom prst="ellipse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5DE340-7F6C-41E9-993C-DE6A6C8E3A52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Accessibility by default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4E7EF0-8FE3-4A0B-A07F-7FBC4AB5091A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Oracle VPAT guidance is treated as primary, with WCAG fallback and manual evidence checks preserved.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3D371B-732E-45ED-BB2E-3567D35E484E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799322-E706-461A-97D3-086A00CCCF43}"/>
              </a:ext>
            </a:extLst>
          </p:cNvPr>
          <p:cNvSpPr>
            <a:spLocks noGrp="1"/>
          </p:cNvSpPr>
          <p:nvPr/>
        </p:nvSpPr>
        <p:spPr>
          <a:xfrm>
            <a:off x="1028700" y="4457700"/>
            <a:ext cx="247650" cy="247650"/>
          </a:xfrm>
          <a:prstGeom prst="ellipse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EF6D90-4249-462F-99BA-44F9E09C5748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Explainability and audit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23232-788D-4DA7-A24E-E14891A14E4C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Runs create durable artifacts, prompt traces, ranked files, and reviewable evidence instead of hidden reasoning.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9611F9D-F7BB-493A-BB1F-BF3C3A651113}"/>
              </a:ext>
            </a:extLst>
          </p:cNvPr>
          <p:cNvSpPr>
            <a:spLocks noGrp="1"/>
          </p:cNvSpPr>
          <p:nvPr/>
        </p:nvSpPr>
        <p:spPr>
          <a:xfrm>
            <a:off x="5981700" y="42481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81372DF-5D5D-4B0D-B743-192848F73AEB}"/>
              </a:ext>
            </a:extLst>
          </p:cNvPr>
          <p:cNvSpPr>
            <a:spLocks noGrp="1"/>
          </p:cNvSpPr>
          <p:nvPr/>
        </p:nvSpPr>
        <p:spPr>
          <a:xfrm>
            <a:off x="6210300" y="4457700"/>
            <a:ext cx="247650" cy="247650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443EA-23E5-47C3-A8B1-DA526DE24D11}"/>
              </a:ext>
            </a:extLst>
          </p:cNvPr>
          <p:cNvSpPr>
            <a:spLocks noGrp="1"/>
          </p:cNvSpPr>
          <p:nvPr/>
        </p:nvSpPr>
        <p:spPr>
          <a:xfrm>
            <a:off x="6610350" y="44196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AI resilience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5A710B-4E01-42E4-93C1-47623C6D3802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OCI-backed prompt generation is optional and hybrid; safe template mode stays available for continuity.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B1EA61-0408-45F7-A24D-7E3CD763C47F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This is why ODT feels enterprise-ready: the system makes risk visible instead of hiding it behind a chat box.</a:t>
            </a:r>
          </a:p>
        </p:txBody>
      </p:sp>
    </p:spTree>
    <p:extLst>
      <p:ext uri="{BB962C8B-B14F-4D97-AF65-F5344CB8AC3E}">
        <p14:creationId xmlns:p14="http://schemas.microsoft.com/office/powerpoint/2010/main" val="170717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36F9ABED-0E10-4EA0-8587-6D8807DF39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F0D1BF-05EC-4D9C-B021-BE0A0B2DB60A}"/>
              </a:ext>
            </a:extLst>
          </p:cNvPr>
          <p:cNvSpPr>
            <a:spLocks noGrp="1"/>
          </p:cNvSpPr>
          <p:nvPr/>
        </p:nvSpPr>
        <p:spPr>
          <a:xfrm>
            <a:off x="8743950" y="-914400"/>
            <a:ext cx="4095750" cy="4095750"/>
          </a:xfrm>
          <a:prstGeom prst="ellipse">
            <a:avLst/>
          </a:prstGeom>
          <a:solidFill>
            <a:srgbClr val="E5D6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0DA459-EB05-4E8E-9403-5CEDE7D4C2D5}"/>
              </a:ext>
            </a:extLst>
          </p:cNvPr>
          <p:cNvSpPr>
            <a:spLocks noGrp="1"/>
          </p:cNvSpPr>
          <p:nvPr/>
        </p:nvSpPr>
        <p:spPr>
          <a:xfrm>
            <a:off x="-952500" y="4953000"/>
            <a:ext cx="2571750" cy="2571750"/>
          </a:xfrm>
          <a:prstGeom prst="ellipse">
            <a:avLst/>
          </a:prstGeom>
          <a:solidFill>
            <a:srgbClr val="EBDC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32932E-9324-4B07-BD76-05A377E913D2}"/>
              </a:ext>
            </a:extLst>
          </p:cNvPr>
          <p:cNvSpPr>
            <a:spLocks noGrp="1"/>
          </p:cNvSpPr>
          <p:nvPr/>
        </p:nvSpPr>
        <p:spPr>
          <a:xfrm>
            <a:off x="9696450" y="5029200"/>
            <a:ext cx="1714500" cy="1714500"/>
          </a:xfrm>
          <a:prstGeom prst="ellipse">
            <a:avLst/>
          </a:prstGeom>
          <a:solidFill>
            <a:srgbClr val="FFFFFF">
              <a:alpha val="5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40A2C-FF88-4A97-A8CB-EB627D201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4A4CD-9AE4-44A1-A4EF-7CC4863AA0E2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STRATEGIC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FFB9B-B6A5-4FBD-AA3C-C52D5AF4F69D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5F6770"/>
                </a:solidFill>
              </a:defRPr>
            </a:pPr>
            <a:r>
              <a:rPr sz="825" b="1" i="0">
                <a:solidFill>
                  <a:srgbClr val="5F6770"/>
                </a:solidFill>
              </a:rPr>
              <a:t>09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23969-A0FE-48EF-AA76-40C6FD8DB4DC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8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09EA3F-6FF1-48A3-B841-24A74FB6B3D4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429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141518"/>
                </a:solidFill>
              </a:defRPr>
            </a:pPr>
            <a:r>
              <a:rPr sz="3000" b="1" i="0">
                <a:solidFill>
                  <a:srgbClr val="141518"/>
                </a:solidFill>
              </a:rPr>
              <a:t>What this brings to Oracle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E9A307-7AEF-42BE-801B-C025AA612DF2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0242A"/>
                </a:solidFill>
              </a:defRPr>
            </a:pPr>
            <a:r>
              <a:rPr sz="1350" b="0" i="0">
                <a:solidFill>
                  <a:srgbClr val="20242A"/>
                </a:solidFill>
              </a:rPr>
              <a:t>ODT is a reusable pattern for governable AI work across software delivery.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9E9435-2B31-4454-A129-D4FE8E6E3E46}"/>
              </a:ext>
            </a:extLst>
          </p:cNvPr>
          <p:cNvSpPr>
            <a:spLocks noGrp="1"/>
          </p:cNvSpPr>
          <p:nvPr/>
        </p:nvSpPr>
        <p:spPr>
          <a:xfrm>
            <a:off x="4514850" y="2400300"/>
            <a:ext cx="3162300" cy="3162300"/>
          </a:xfrm>
          <a:prstGeom prst="ellipse">
            <a:avLst/>
          </a:prstGeom>
          <a:solidFill>
            <a:srgbClr val="F2E3DB"/>
          </a:solidFill>
          <a:ln w="11430">
            <a:solidFill>
              <a:srgbClr val="E08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AB2650-5BEF-414C-A0C8-A070B25244D3}"/>
              </a:ext>
            </a:extLst>
          </p:cNvPr>
          <p:cNvSpPr>
            <a:spLocks noGrp="1"/>
          </p:cNvSpPr>
          <p:nvPr/>
        </p:nvSpPr>
        <p:spPr>
          <a:xfrm>
            <a:off x="4972050" y="2857500"/>
            <a:ext cx="2247900" cy="2247900"/>
          </a:xfrm>
          <a:prstGeom prst="ellipse">
            <a:avLst/>
          </a:prstGeom>
          <a:solidFill>
            <a:srgbClr val="FFF7F4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1FC31-4B7E-4B50-A35D-9BA817DD933C}"/>
              </a:ext>
            </a:extLst>
          </p:cNvPr>
          <p:cNvSpPr>
            <a:spLocks noGrp="1"/>
          </p:cNvSpPr>
          <p:nvPr/>
        </p:nvSpPr>
        <p:spPr>
          <a:xfrm>
            <a:off x="5219700" y="3429000"/>
            <a:ext cx="1752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 i="0">
                <a:solidFill>
                  <a:srgbClr val="A82E1F"/>
                </a:solidFill>
              </a:defRPr>
            </a:pPr>
            <a:r>
              <a:rPr sz="1950" b="1" i="0">
                <a:solidFill>
                  <a:srgbClr val="A82E1F"/>
                </a:solidFill>
              </a:rPr>
              <a:t>Reusable</a:t>
            </a:r>
          </a:p>
          <a:p>
            <a:pPr algn="ctr">
              <a:defRPr sz="1950" b="1" i="0">
                <a:solidFill>
                  <a:srgbClr val="A82E1F"/>
                </a:solidFill>
              </a:defRPr>
            </a:pPr>
            <a:r>
              <a:rPr sz="1950" b="1" i="0">
                <a:solidFill>
                  <a:srgbClr val="A82E1F"/>
                </a:solidFill>
              </a:rPr>
              <a:t>Oracle pattern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9D298-069E-430A-9910-A78ECD97756C}"/>
              </a:ext>
            </a:extLst>
          </p:cNvPr>
          <p:cNvSpPr>
            <a:spLocks noGrp="1"/>
          </p:cNvSpPr>
          <p:nvPr/>
        </p:nvSpPr>
        <p:spPr>
          <a:xfrm>
            <a:off x="5295900" y="4210050"/>
            <a:ext cx="1600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Governable AI</a:t>
            </a:r>
          </a:p>
          <a:p>
            <a:pPr algn="ctr">
              <a:defRPr sz="1200" b="0" i="0">
                <a:solidFill>
                  <a:srgbClr val="20242A"/>
                </a:solidFill>
              </a:defRPr>
            </a:pPr>
            <a:r>
              <a:rPr sz="1200" b="0" i="0">
                <a:solidFill>
                  <a:srgbClr val="20242A"/>
                </a:solidFill>
              </a:rPr>
              <a:t>workflows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0F2A35-A05D-41E1-8E75-B6B00276AB1D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E03B-FAAB-4D63-836E-36D263086297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76200" cy="11239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1875B8-7F81-48E0-B461-DB394E4D560F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Standardized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096230-1225-4B5B-A3DE-FE5E91C43B51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0242A"/>
                </a:solidFill>
              </a:defRPr>
            </a:pPr>
            <a:r>
              <a:rPr sz="1275" b="0" i="0">
                <a:solidFill>
                  <a:srgbClr val="20242A"/>
                </a:solidFill>
              </a:rPr>
              <a:t>Brings consistency to intake, impact, test scope, and review evidence.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F208B3-E7BA-4317-AB22-69236C1FA528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601E6C-E2F2-47D8-9975-4CDF4EC2F504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76200" cy="1123950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900B6-C97B-4230-9110-AFCFF845C8BA}"/>
              </a:ext>
            </a:extLst>
          </p:cNvPr>
          <p:cNvSpPr>
            <a:spLocks noGrp="1"/>
          </p:cNvSpPr>
          <p:nvPr/>
        </p:nvSpPr>
        <p:spPr>
          <a:xfrm>
            <a:off x="8877300" y="2762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Higher quality confidence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93BF1C-C75F-4B1E-893A-35D877EE41B2}"/>
              </a:ext>
            </a:extLst>
          </p:cNvPr>
          <p:cNvSpPr>
            <a:spLocks noGrp="1"/>
          </p:cNvSpPr>
          <p:nvPr/>
        </p:nvSpPr>
        <p:spPr>
          <a:xfrm>
            <a:off x="88773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0242A"/>
                </a:solidFill>
              </a:defRPr>
            </a:pPr>
            <a:r>
              <a:rPr sz="1275" b="0" i="0">
                <a:solidFill>
                  <a:srgbClr val="20242A"/>
                </a:solidFill>
              </a:rPr>
              <a:t>Keeps accessibility and verification visible earlier in delivery.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0383FF6-4035-4A5E-B29F-A3130CA493AC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318EC8-8BC9-454E-9A0F-E6F3452E03F2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76200" cy="1123950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EAEEE1-5BE4-4CB8-9035-034E1510A285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Faster onboarding and handoff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08CE7E-311B-4DE1-91AB-851A5217EBF3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0242A"/>
                </a:solidFill>
              </a:defRPr>
            </a:pPr>
            <a:r>
              <a:rPr sz="1275" b="0" i="0">
                <a:solidFill>
                  <a:srgbClr val="20242A"/>
                </a:solidFill>
              </a:rPr>
              <a:t>Developers and agents receive clearer context instead of tribal knowledge.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1B8A07-8AE9-4FF6-B837-9ED6B0278864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8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C6C3ED-6901-4197-BE8B-985355C8D0EB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76200" cy="1123950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744D3A-BF82-4AAA-B077-ADFC489E3084}"/>
              </a:ext>
            </a:extLst>
          </p:cNvPr>
          <p:cNvSpPr>
            <a:spLocks noGrp="1"/>
          </p:cNvSpPr>
          <p:nvPr/>
        </p:nvSpPr>
        <p:spPr>
          <a:xfrm>
            <a:off x="8877300" y="43624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141518"/>
                </a:solidFill>
              </a:defRPr>
            </a:pPr>
            <a:r>
              <a:rPr sz="1200" b="1" i="0">
                <a:solidFill>
                  <a:srgbClr val="141518"/>
                </a:solidFill>
              </a:rPr>
              <a:t>Foundation for scale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F73EB7-2035-4CC6-9F4B-741B3C63FCA5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0242A"/>
                </a:solidFill>
              </a:defRPr>
            </a:pPr>
            <a:r>
              <a:rPr sz="1275" b="0" i="0">
                <a:solidFill>
                  <a:srgbClr val="20242A"/>
                </a:solidFill>
              </a:rPr>
              <a:t>The same pattern can expand beyond React and beyond frontend over time.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34FA0FB-1651-4200-BFAD-10D65E286AC5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F2AC46-0302-445D-B293-54AD42D69CA8}"/>
              </a:ext>
            </a:extLst>
          </p:cNvPr>
          <p:cNvSpPr>
            <a:spLocks noGrp="1"/>
          </p:cNvSpPr>
          <p:nvPr/>
        </p:nvSpPr>
        <p:spPr>
          <a:xfrm>
            <a:off x="1771650" y="60198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Frontend SDLC today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FC2B1F9E-4EBC-4096-91AF-B9EF352C2200}"/>
              </a:ext>
            </a:extLst>
          </p:cNvPr>
          <p:cNvSpPr>
            <a:spLocks noGrp="1"/>
          </p:cNvSpPr>
          <p:nvPr/>
        </p:nvSpPr>
        <p:spPr>
          <a:xfrm>
            <a:off x="3524250" y="5943600"/>
            <a:ext cx="666750" cy="28575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8AE6DA-1DAB-4166-A2A1-9EE02459683E}"/>
              </a:ext>
            </a:extLst>
          </p:cNvPr>
          <p:cNvSpPr>
            <a:spLocks noGrp="1"/>
          </p:cNvSpPr>
          <p:nvPr/>
        </p:nvSpPr>
        <p:spPr>
          <a:xfrm>
            <a:off x="4572000" y="60198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Multi-stack next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FB1F2A5A-8B48-4645-880E-4A80E20DEBFC}"/>
              </a:ext>
            </a:extLst>
          </p:cNvPr>
          <p:cNvSpPr>
            <a:spLocks noGrp="1"/>
          </p:cNvSpPr>
          <p:nvPr/>
        </p:nvSpPr>
        <p:spPr>
          <a:xfrm>
            <a:off x="6191250" y="5943600"/>
            <a:ext cx="666750" cy="285750"/>
          </a:xfrm>
          <a:prstGeom prst="rightArrow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45D396-585C-4BC5-BFA1-1C2BB435EBD2}"/>
              </a:ext>
            </a:extLst>
          </p:cNvPr>
          <p:cNvSpPr>
            <a:spLocks noGrp="1"/>
          </p:cNvSpPr>
          <p:nvPr/>
        </p:nvSpPr>
        <p:spPr>
          <a:xfrm>
            <a:off x="7239000" y="6019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Broader digital workers later</a:t>
            </a:r>
          </a:p>
        </p:txBody>
      </p:sp>
    </p:spTree>
    <p:extLst>
      <p:ext uri="{BB962C8B-B14F-4D97-AF65-F5344CB8AC3E}">
        <p14:creationId xmlns:p14="http://schemas.microsoft.com/office/powerpoint/2010/main" val="82857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2C2D0EE-849F-4840-9947-A2DAFB01DA74}"/>
              </a:ext>
            </a:extLst>
          </p:cNvPr>
          <p:cNvSpPr>
            <a:spLocks noGrp="1"/>
          </p:cNvSpPr>
          <p:nvPr/>
        </p:nvSpPr>
        <p:spPr>
          <a:xfrm>
            <a:off x="7696200" y="-1047750"/>
            <a:ext cx="4953000" cy="4953000"/>
          </a:xfrm>
          <a:prstGeom prst="ellipse">
            <a:avLst/>
          </a:prstGeom>
          <a:solidFill>
            <a:srgbClr val="C74634">
              <a:alpha val="6000"/>
            </a:srgbClr>
          </a:solidFill>
          <a:ln w="14288">
            <a:solidFill>
              <a:srgbClr val="E08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8C8522-84C8-4F7A-9F23-998800E0E329}"/>
              </a:ext>
            </a:extLst>
          </p:cNvPr>
          <p:cNvSpPr>
            <a:spLocks noGrp="1"/>
          </p:cNvSpPr>
          <p:nvPr/>
        </p:nvSpPr>
        <p:spPr>
          <a:xfrm>
            <a:off x="8229600" y="-514350"/>
            <a:ext cx="3886200" cy="3886200"/>
          </a:xfrm>
          <a:prstGeom prst="ellipse">
            <a:avLst/>
          </a:prstGeom>
          <a:solidFill>
            <a:srgbClr val="FFFFFF">
              <a:alpha val="1961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B420B6-0FAB-4BDB-A31C-82EAE7F9DF87}"/>
              </a:ext>
            </a:extLst>
          </p:cNvPr>
          <p:cNvSpPr>
            <a:spLocks noGrp="1"/>
          </p:cNvSpPr>
          <p:nvPr/>
        </p:nvSpPr>
        <p:spPr>
          <a:xfrm>
            <a:off x="8629650" y="-95250"/>
            <a:ext cx="3086100" cy="3086100"/>
          </a:xfrm>
          <a:prstGeom prst="ellipse">
            <a:avLst/>
          </a:prstGeom>
          <a:solidFill>
            <a:srgbClr val="000000">
              <a:alpha val="0"/>
            </a:srgbClr>
          </a:solidFill>
          <a:ln w="14288">
            <a:solidFill>
              <a:srgbClr val="C74634">
                <a:alpha val="3137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EC15B6-7C04-486A-9954-9FD3B3898D5B}"/>
              </a:ext>
            </a:extLst>
          </p:cNvPr>
          <p:cNvSpPr>
            <a:spLocks noGrp="1"/>
          </p:cNvSpPr>
          <p:nvPr/>
        </p:nvSpPr>
        <p:spPr>
          <a:xfrm>
            <a:off x="-1143000" y="4953000"/>
            <a:ext cx="3048000" cy="3048000"/>
          </a:xfrm>
          <a:prstGeom prst="ellipse">
            <a:avLst/>
          </a:prstGeom>
          <a:solidFill>
            <a:srgbClr val="C74634">
              <a:alpha val="10196"/>
            </a:srgbClr>
          </a:solidFill>
          <a:ln w="9525">
            <a:solidFill>
              <a:srgbClr val="C74634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9369A-B450-4E45-8773-C97B4E030C87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1714500" cy="6858000"/>
          </a:xfrm>
          <a:prstGeom prst="rect">
            <a:avLst/>
          </a:prstGeom>
          <a:solidFill>
            <a:srgbClr val="C74634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3358C-01DB-4F2E-BF9B-17099295B1F3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47650" cy="6858000"/>
          </a:xfrm>
          <a:prstGeom prst="rect">
            <a:avLst/>
          </a:prstGeom>
          <a:solidFill>
            <a:srgbClr val="FFFFFF">
              <a:alpha val="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A9210-3A3E-4CF1-879A-1EA11FADDFB6}"/>
              </a:ext>
            </a:extLst>
          </p:cNvPr>
          <p:cNvSpPr>
            <a:spLocks noGrp="1"/>
          </p:cNvSpPr>
          <p:nvPr/>
        </p:nvSpPr>
        <p:spPr>
          <a:xfrm>
            <a:off x="10591800" y="0"/>
            <a:ext cx="114300" cy="6858000"/>
          </a:xfrm>
          <a:prstGeom prst="rect">
            <a:avLst/>
          </a:prstGeom>
          <a:solidFill>
            <a:srgbClr val="C7463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E0BCB-63D6-4D22-B5E4-08752C4C70FE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400" b="1" i="0" dirty="0">
                <a:solidFill>
                  <a:srgbClr val="FFFFFF">
                    <a:alpha val="80000"/>
                  </a:srgbClr>
                </a:solidFill>
              </a:rPr>
              <a:t>CLOSING TAKEAWAY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2E96A2-A66F-4729-93F1-A75B1038B6D3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10 /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FB9C3A-FD56-4D92-984B-9F25AA4C64AA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2D31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3D13DB-A39A-4174-823A-EEB5BBC526A3}"/>
              </a:ext>
            </a:extLst>
          </p:cNvPr>
          <p:cNvSpPr>
            <a:spLocks noGrp="1"/>
          </p:cNvSpPr>
          <p:nvPr/>
        </p:nvSpPr>
        <p:spPr>
          <a:xfrm>
            <a:off x="1015746" y="971550"/>
            <a:ext cx="170688" cy="170688"/>
          </a:xfrm>
          <a:prstGeom prst="ellipse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A41BC-713B-4167-8B61-88B6CC2166D3}"/>
              </a:ext>
            </a:extLst>
          </p:cNvPr>
          <p:cNvSpPr>
            <a:spLocks noGrp="1"/>
          </p:cNvSpPr>
          <p:nvPr/>
        </p:nvSpPr>
        <p:spPr>
          <a:xfrm>
            <a:off x="1090422" y="1078230"/>
            <a:ext cx="21336" cy="117348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870D95-9646-4F2E-8CCA-451E7194814E}"/>
              </a:ext>
            </a:extLst>
          </p:cNvPr>
          <p:cNvSpPr>
            <a:spLocks noGrp="1"/>
          </p:cNvSpPr>
          <p:nvPr/>
        </p:nvSpPr>
        <p:spPr>
          <a:xfrm>
            <a:off x="781050" y="1163574"/>
            <a:ext cx="640080" cy="490728"/>
          </a:xfrm>
          <a:prstGeom prst="roundRect">
            <a:avLst>
              <a:gd name="adj" fmla="val 15528"/>
            </a:avLst>
          </a:prstGeom>
          <a:solidFill>
            <a:srgbClr val="FFFFFF">
              <a:alpha val="7059"/>
            </a:srgbClr>
          </a:solidFill>
          <a:ln w="13335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3E9722-2963-4E55-8E97-D581B0EDA91C}"/>
              </a:ext>
            </a:extLst>
          </p:cNvPr>
          <p:cNvSpPr>
            <a:spLocks noGrp="1"/>
          </p:cNvSpPr>
          <p:nvPr/>
        </p:nvSpPr>
        <p:spPr>
          <a:xfrm>
            <a:off x="919734" y="1334262"/>
            <a:ext cx="106680" cy="10668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4D4FCE8-BAC8-4BB2-8791-4A9C83EF566E}"/>
              </a:ext>
            </a:extLst>
          </p:cNvPr>
          <p:cNvSpPr>
            <a:spLocks noGrp="1"/>
          </p:cNvSpPr>
          <p:nvPr/>
        </p:nvSpPr>
        <p:spPr>
          <a:xfrm>
            <a:off x="1175766" y="1334262"/>
            <a:ext cx="106680" cy="10668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30AEBF8-E6B2-45E0-9CED-5895417F2475}"/>
              </a:ext>
            </a:extLst>
          </p:cNvPr>
          <p:cNvSpPr>
            <a:spLocks noGrp="1"/>
          </p:cNvSpPr>
          <p:nvPr/>
        </p:nvSpPr>
        <p:spPr>
          <a:xfrm>
            <a:off x="962406" y="1494282"/>
            <a:ext cx="277368" cy="74676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5D5309-133E-40A7-A667-6C900C6D3A01}"/>
              </a:ext>
            </a:extLst>
          </p:cNvPr>
          <p:cNvSpPr>
            <a:spLocks noGrp="1"/>
          </p:cNvSpPr>
          <p:nvPr/>
        </p:nvSpPr>
        <p:spPr>
          <a:xfrm>
            <a:off x="695706" y="1312926"/>
            <a:ext cx="85344" cy="42672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CEA10F-5E86-4151-A217-787CB889A411}"/>
              </a:ext>
            </a:extLst>
          </p:cNvPr>
          <p:cNvSpPr>
            <a:spLocks noGrp="1"/>
          </p:cNvSpPr>
          <p:nvPr/>
        </p:nvSpPr>
        <p:spPr>
          <a:xfrm>
            <a:off x="1421130" y="1312926"/>
            <a:ext cx="85344" cy="42672"/>
          </a:xfrm>
          <a:prstGeom prst="rect">
            <a:avLst/>
          </a:prstGeom>
          <a:solidFill>
            <a:srgbClr val="E08F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508EAD-43E2-4696-AE91-57F7D4674F54}"/>
              </a:ext>
            </a:extLst>
          </p:cNvPr>
          <p:cNvSpPr>
            <a:spLocks noGrp="1"/>
          </p:cNvSpPr>
          <p:nvPr/>
        </p:nvSpPr>
        <p:spPr>
          <a:xfrm>
            <a:off x="1828800" y="1069848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 dirty="0">
                <a:solidFill>
                  <a:srgbClr val="FFFFFF"/>
                </a:solidFill>
              </a:rPr>
              <a:t>From ticket to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864D2C-F744-419F-879C-8E83580195EE}"/>
              </a:ext>
            </a:extLst>
          </p:cNvPr>
          <p:cNvSpPr>
            <a:spLocks noGrp="1"/>
          </p:cNvSpPr>
          <p:nvPr/>
        </p:nvSpPr>
        <p:spPr>
          <a:xfrm>
            <a:off x="819150" y="377190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650" b="0" i="0">
                <a:solidFill>
                  <a:srgbClr val="FFFFFF">
                    <a:alpha val="80000"/>
                  </a:srgbClr>
                </a:solidFill>
              </a:rPr>
              <a:t>Oracle Developer Twin makes the invisible work around coding visible, governed, and repeatable.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6D5067A-770A-4A58-A343-A5C0426B0E5C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232486-A3D6-4C23-A5DB-7462C6299806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76200" cy="1143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EE8879-4EE3-4ADC-BF73-96F30E904D50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SOLVES THE REAL BOTTLENECK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83E422-9AA2-422C-81E5-29B38974423C}"/>
              </a:ext>
            </a:extLst>
          </p:cNvPr>
          <p:cNvSpPr>
            <a:spLocks noGrp="1"/>
          </p:cNvSpPr>
          <p:nvPr/>
        </p:nvSpPr>
        <p:spPr>
          <a:xfrm>
            <a:off x="1028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reduces the planning and coordination work that happens before code is even written.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9917C80-113E-47BA-8CA4-62894578716A}"/>
              </a:ext>
            </a:extLst>
          </p:cNvPr>
          <p:cNvSpPr>
            <a:spLocks noGrp="1"/>
          </p:cNvSpPr>
          <p:nvPr/>
        </p:nvSpPr>
        <p:spPr>
          <a:xfrm>
            <a:off x="3143250" y="50863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6346AC-2B90-4CFA-BA8C-A3FBF49A5569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7DA0B6-B517-4994-A2B1-B335BC16BB63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76200" cy="1143000"/>
          </a:xfrm>
          <a:prstGeom prst="rect">
            <a:avLst/>
          </a:prstGeom>
          <a:solidFill>
            <a:srgbClr val="D69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83E03D-0B74-402B-BC8D-73DD69E75ECC}"/>
              </a:ext>
            </a:extLst>
          </p:cNvPr>
          <p:cNvSpPr>
            <a:spLocks noGrp="1"/>
          </p:cNvSpPr>
          <p:nvPr/>
        </p:nvSpPr>
        <p:spPr>
          <a:xfrm>
            <a:off x="4076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KEEPS HUMANS IN CONTROL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EBFD39-74C3-4A18-A80E-C3F23E8E46A4}"/>
              </a:ext>
            </a:extLst>
          </p:cNvPr>
          <p:cNvSpPr>
            <a:spLocks noGrp="1"/>
          </p:cNvSpPr>
          <p:nvPr/>
        </p:nvSpPr>
        <p:spPr>
          <a:xfrm>
            <a:off x="4076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The digital worker prepares and explains. The developer still reviews, approves, and owns the change.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D15ACCB-32ED-47CD-B347-1FEF4AA69255}"/>
              </a:ext>
            </a:extLst>
          </p:cNvPr>
          <p:cNvSpPr>
            <a:spLocks noGrp="1"/>
          </p:cNvSpPr>
          <p:nvPr/>
        </p:nvSpPr>
        <p:spPr>
          <a:xfrm>
            <a:off x="6191250" y="50863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8E5C050-6F8F-4258-9955-C69497DB9875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4F152A-DDF8-4070-B395-A6DBFD5ABC5D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76200" cy="1143000"/>
          </a:xfrm>
          <a:prstGeom prst="rect">
            <a:avLst/>
          </a:prstGeom>
          <a:solidFill>
            <a:srgbClr val="7D92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B41C9C-A631-4601-9C33-54706C89B94C}"/>
              </a:ext>
            </a:extLst>
          </p:cNvPr>
          <p:cNvSpPr>
            <a:spLocks noGrp="1"/>
          </p:cNvSpPr>
          <p:nvPr/>
        </p:nvSpPr>
        <p:spPr>
          <a:xfrm>
            <a:off x="7124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READY TO DEMO AND EXPAND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DB49B0-DFB9-423E-97FF-7449AC02A3E7}"/>
              </a:ext>
            </a:extLst>
          </p:cNvPr>
          <p:cNvSpPr>
            <a:spLocks noGrp="1"/>
          </p:cNvSpPr>
          <p:nvPr/>
        </p:nvSpPr>
        <p:spPr>
          <a:xfrm>
            <a:off x="7124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is already live in FEDIT today and positioned to grow into a broader Oracle delivery pattern.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8F09DA4-5C5D-4AB1-A547-468908302ACA}"/>
              </a:ext>
            </a:extLst>
          </p:cNvPr>
          <p:cNvSpPr>
            <a:spLocks noGrp="1"/>
          </p:cNvSpPr>
          <p:nvPr/>
        </p:nvSpPr>
        <p:spPr>
          <a:xfrm>
            <a:off x="9239250" y="5086350"/>
            <a:ext cx="209550" cy="20955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39A02C2-4EC9-43C8-A126-184B048A67C8}"/>
              </a:ext>
            </a:extLst>
          </p:cNvPr>
          <p:cNvSpPr>
            <a:spLocks noGrp="1"/>
          </p:cNvSpPr>
          <p:nvPr/>
        </p:nvSpPr>
        <p:spPr>
          <a:xfrm>
            <a:off x="1924050" y="1940579"/>
            <a:ext cx="2895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0BAB3B-F98B-4D0F-8723-DB00B0CA813F}"/>
              </a:ext>
            </a:extLst>
          </p:cNvPr>
          <p:cNvSpPr>
            <a:spLocks noGrp="1"/>
          </p:cNvSpPr>
          <p:nvPr/>
        </p:nvSpPr>
        <p:spPr>
          <a:xfrm>
            <a:off x="2095500" y="2026864"/>
            <a:ext cx="2590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 dirty="0">
                <a:solidFill>
                  <a:srgbClr val="FFFFFF"/>
                </a:solidFill>
              </a:rPr>
              <a:t>Run -&gt; Review -&gt; Delegate -&gt; Approve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3389FA-7CA2-49E9-A9A0-126093EE101E}"/>
              </a:ext>
            </a:extLst>
          </p:cNvPr>
          <p:cNvSpPr>
            <a:spLocks noGrp="1"/>
          </p:cNvSpPr>
          <p:nvPr/>
        </p:nvSpPr>
        <p:spPr>
          <a:xfrm>
            <a:off x="2076450" y="2495550"/>
            <a:ext cx="27432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 dirty="0">
                <a:solidFill>
                  <a:srgbClr val="FFFFFF"/>
                </a:solidFill>
              </a:rPr>
              <a:t>Oracle Developer Twin is not just faster AI. It is governable AI for real delivery work.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40E8FC-B4A2-6778-07CD-F39E0B27B5CD}"/>
              </a:ext>
            </a:extLst>
          </p:cNvPr>
          <p:cNvSpPr>
            <a:spLocks noGrp="1"/>
          </p:cNvSpPr>
          <p:nvPr/>
        </p:nvSpPr>
        <p:spPr>
          <a:xfrm>
            <a:off x="8229600" y="1885950"/>
            <a:ext cx="79562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3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1635</Words>
  <Application>Microsoft Macintosh PowerPoint</Application>
  <DocSecurity>0</DocSecurity>
  <PresentationFormat>Widescreen</PresentationFormat>
  <Paragraphs>274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Vijay N</cp:lastModifiedBy>
  <cp:revision>3</cp:revision>
  <dcterms:created xsi:type="dcterms:W3CDTF">2026-04-23T09:15:49Z</dcterms:created>
  <dcterms:modified xsi:type="dcterms:W3CDTF">2026-04-23T10:48:58Z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ChatGPT:6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ChatGPT:5</vt:lpwstr>
  </property>
  <property fmtid="{D5CDD505-2E9C-101B-9397-08002B2CF9AE}" pid="5" name="ClassificationContentMarkingHeaderText">
    <vt:lpwstr>Confidential - Oracle Restricted \Employees Only</vt:lpwstr>
  </property>
</Properties>
</file>