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3"/>
  </p:normalViewPr>
  <p:slideViewPr>
    <p:cSldViewPr snapToGrid="0">
      <p:cViewPr>
        <p:scale>
          <a:sx n="100" d="100"/>
          <a:sy n="100" d="100"/>
        </p:scale>
        <p:origin x="8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slide: establish that ODT is a governed digital worker, not just another AI prompt box.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bottleneck before coding: manual interpretation, impact discovery, planning, compliance, and handoff.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current fragmented pre-coding workflow with the governed ODT flow.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docs/Oracle-Developer-Twin-Hackathon-Runbook-5-Minute.md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Differentiate ODT from generic copilots in simple business language.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real repo facts: stages, stored runs, accessibility posture, and hybrid OCI capability.</a:t>
            </a:r>
          </a:p>
          <a:p>
            <a:endParaRPr/>
          </a:p>
          <a:p>
            <a:r>
              <a:t>[Sources]</a:t>
            </a:r>
          </a:p>
          <a:p>
            <a:r>
              <a:t>- reports/odt/run-summary.json</a:t>
            </a:r>
          </a:p>
          <a:p>
            <a:r>
              <a:t>- docs/CS4I-AI-Lab-Hybrid-Setup.md</a:t>
            </a:r>
          </a:p>
          <a:p>
            <a:r>
              <a:t>- reports/a11y/findings.json</a:t>
            </a:r>
          </a:p>
          <a:p>
            <a:r>
              <a:t>- reports/a11y/coding-agent-prompt.md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Translate architecture into plain language: input, planning, control, human review.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  <a:p>
            <a:r>
              <a:t>- reports/odt/run-summary.json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developer flow in language any audience can follow quickly.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docs/Oracle-Developer-Twin-Hackathon-Runbook-5-Minute.md</a:t>
            </a:r>
          </a:p>
          <a:p>
            <a:r>
              <a:t>- README.md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accessibility, explainability, fallback behavior, and retained human control.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reports/a11y/findings.json</a:t>
            </a:r>
          </a:p>
          <a:p>
            <a:r>
              <a:t>- reports/a11y/coding-agent-prompt.md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ODT as a scalable Oracle pattern, not a one-off demo.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  <a:p>
            <a:r>
              <a:t>- docs/Oracle-Developer-Twin-Hackathon-Runbook-5-Minute.md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delivery message: ODT creates governed AI acceleration, not blind automation.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docs/Oracle-Developer-Twin-Hackathon-Runbook-5-Minute.md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33A1A95-B209-4A33-B77A-0623049AA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D75F46D-B777-48B4-AF91-4B809EACA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A77618-BD87-486F-B9F5-660EE77FCB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1A00A40-2F27-4BA4-9F12-A8402FB536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4721AB-B515-4530-84D2-8BD533C2FB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231AD1A-AD6B-42DB-BECF-D87041BFB68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9CAB9-6758-1804-11B8-45C4AF05F3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6714D-2EC2-6B56-F043-B203D6A6C3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7F66A-ABF7-43A2-9087-0878968AAD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91B098-5724-4258-854A-C089502CF704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 dirty="0">
                <a:solidFill>
                  <a:srgbClr val="FFFFFF">
                    <a:alpha val="80000"/>
                  </a:srgbClr>
                </a:solidFill>
              </a:rPr>
              <a:t>ORACLE DEVELOPER TWIN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C5419-A05A-4887-9C6E-E93C10955D4F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EC301-A42F-4CB0-92DC-984A3F25FD33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1DB50-C1ED-473A-8A10-DBB70AF97768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FDBB4-1614-4783-9049-D1660F7DA4DC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A8996-B78F-4BA9-9A6C-FBB4CB768501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CCCD66-B659-4D54-9036-2885A62C9322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8E45AF0-9A6E-45C9-9910-28933496BA46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5C1B4B-1382-4832-AA3D-949241FB24BF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D98F18-D1A3-456D-BA77-21E620A186F3}"/>
              </a:ext>
            </a:extLst>
          </p:cNvPr>
          <p:cNvSpPr>
            <a:spLocks noGrp="1"/>
          </p:cNvSpPr>
          <p:nvPr/>
        </p:nvSpPr>
        <p:spPr>
          <a:xfrm>
            <a:off x="971550" y="933450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 dirty="0">
                <a:solidFill>
                  <a:srgbClr val="FFFFFF"/>
                </a:solidFill>
              </a:rPr>
              <a:t>HACKATHON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F4A08-38CD-4143-A333-D006975C611C}"/>
              </a:ext>
            </a:extLst>
          </p:cNvPr>
          <p:cNvSpPr>
            <a:spLocks noGrp="1"/>
          </p:cNvSpPr>
          <p:nvPr/>
        </p:nvSpPr>
        <p:spPr>
          <a:xfrm>
            <a:off x="800100" y="1800225"/>
            <a:ext cx="6667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 dirty="0">
                <a:solidFill>
                  <a:srgbClr val="FFFFFF"/>
                </a:solidFill>
              </a:rPr>
              <a:t>Turning AI Into a Governed</a:t>
            </a:r>
          </a:p>
          <a:p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 dirty="0">
                <a:solidFill>
                  <a:srgbClr val="FFFFFF"/>
                </a:solidFill>
              </a:rPr>
              <a:t>Digital Worker for Software Delivery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C604A0-12E4-4EC7-91D0-F9A33282F689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500" b="0" i="0">
                <a:solidFill>
                  <a:srgbClr val="FFFFFF">
                    <a:alpha val="80000"/>
                  </a:srgbClr>
                </a:solidFill>
              </a:rPr>
              <a:t>ODT turns a ticket into a guided, review-ready delivery flow, while keeping human approval in control.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2DE8E0-7E3B-40C8-9AAB-C57012626658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1">
                <a:solidFill>
                  <a:srgbClr val="FFFFFF">
                    <a:alpha val="65882"/>
                  </a:srgbClr>
                </a:solidFill>
              </a:defRPr>
            </a:pPr>
            <a:r>
              <a:rPr sz="1400" b="0" i="1" dirty="0">
                <a:solidFill>
                  <a:srgbClr val="FFFFFF">
                    <a:alpha val="65882"/>
                  </a:srgbClr>
                </a:solidFill>
              </a:rPr>
              <a:t>Not another copilot. A digital worker for the work before coding.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9F0B4D3-19A2-4ACA-BC2E-3F1213876708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21717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2616CA-A7F8-4687-B999-AECFAAB36ABF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76200" cy="12001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48BE16-F8CB-4914-9CAB-4E5FEB36C63C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MOVES FASTER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F6654C-BA34-4603-9402-8717A7662DAC}"/>
              </a:ext>
            </a:extLst>
          </p:cNvPr>
          <p:cNvSpPr>
            <a:spLocks noGrp="1"/>
          </p:cNvSpPr>
          <p:nvPr/>
        </p:nvSpPr>
        <p:spPr>
          <a:xfrm>
            <a:off x="10287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Cuts the setup work that slows delivery before implementation starts.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AABE3E5-51BC-48C9-9FA7-3D3C1F918E30}"/>
              </a:ext>
            </a:extLst>
          </p:cNvPr>
          <p:cNvSpPr>
            <a:spLocks noGrp="1"/>
          </p:cNvSpPr>
          <p:nvPr/>
        </p:nvSpPr>
        <p:spPr>
          <a:xfrm>
            <a:off x="3162300" y="4724400"/>
            <a:ext cx="21717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7EE8E7-7DCE-4380-ADD4-A1528D4C02A1}"/>
              </a:ext>
            </a:extLst>
          </p:cNvPr>
          <p:cNvSpPr>
            <a:spLocks noGrp="1"/>
          </p:cNvSpPr>
          <p:nvPr/>
        </p:nvSpPr>
        <p:spPr>
          <a:xfrm>
            <a:off x="3162300" y="4724400"/>
            <a:ext cx="76200" cy="12001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58E672-F3C9-44B9-A450-8DB8C98DE8CB}"/>
              </a:ext>
            </a:extLst>
          </p:cNvPr>
          <p:cNvSpPr>
            <a:spLocks noGrp="1"/>
          </p:cNvSpPr>
          <p:nvPr/>
        </p:nvSpPr>
        <p:spPr>
          <a:xfrm>
            <a:off x="33909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EXPLAINS ITSELF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A7274-D8B8-4D88-A893-F0D2F14A10FB}"/>
              </a:ext>
            </a:extLst>
          </p:cNvPr>
          <p:cNvSpPr>
            <a:spLocks noGrp="1"/>
          </p:cNvSpPr>
          <p:nvPr/>
        </p:nvSpPr>
        <p:spPr>
          <a:xfrm>
            <a:off x="33909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Shows impact, guidance, and evidence in one visible flow.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F955BF0-2587-41EA-B847-CE4EF20EA9C6}"/>
              </a:ext>
            </a:extLst>
          </p:cNvPr>
          <p:cNvSpPr>
            <a:spLocks noGrp="1"/>
          </p:cNvSpPr>
          <p:nvPr/>
        </p:nvSpPr>
        <p:spPr>
          <a:xfrm>
            <a:off x="5524500" y="4724400"/>
            <a:ext cx="21717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C57522-8FC2-4A14-BC72-51B9EEA46066}"/>
              </a:ext>
            </a:extLst>
          </p:cNvPr>
          <p:cNvSpPr>
            <a:spLocks noGrp="1"/>
          </p:cNvSpPr>
          <p:nvPr/>
        </p:nvSpPr>
        <p:spPr>
          <a:xfrm>
            <a:off x="5524500" y="4724400"/>
            <a:ext cx="76200" cy="12001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6131D9-51AE-43C8-B758-33DDB6AFCF2B}"/>
              </a:ext>
            </a:extLst>
          </p:cNvPr>
          <p:cNvSpPr>
            <a:spLocks noGrp="1"/>
          </p:cNvSpPr>
          <p:nvPr/>
        </p:nvSpPr>
        <p:spPr>
          <a:xfrm>
            <a:off x="57531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PROTECTS QUALITY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FAE7E8-B64F-4E9D-8F25-87F61BE8ACDC}"/>
              </a:ext>
            </a:extLst>
          </p:cNvPr>
          <p:cNvSpPr>
            <a:spLocks noGrp="1"/>
          </p:cNvSpPr>
          <p:nvPr/>
        </p:nvSpPr>
        <p:spPr>
          <a:xfrm>
            <a:off x="57531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Keeps accessibility, testing, and review in the flow from the start.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F05A3E5-83D5-43C5-9777-BBC9E181F874}"/>
              </a:ext>
            </a:extLst>
          </p:cNvPr>
          <p:cNvSpPr>
            <a:spLocks noGrp="1"/>
          </p:cNvSpPr>
          <p:nvPr/>
        </p:nvSpPr>
        <p:spPr>
          <a:xfrm>
            <a:off x="8191500" y="43434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721955-2A2E-446A-A6B8-6B285896FA92}"/>
              </a:ext>
            </a:extLst>
          </p:cNvPr>
          <p:cNvSpPr>
            <a:spLocks noGrp="1"/>
          </p:cNvSpPr>
          <p:nvPr/>
        </p:nvSpPr>
        <p:spPr>
          <a:xfrm>
            <a:off x="8191500" y="43434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899DB2-F032-4E3D-A7D4-E7F831A2B9D3}"/>
              </a:ext>
            </a:extLst>
          </p:cNvPr>
          <p:cNvSpPr>
            <a:spLocks noGrp="1"/>
          </p:cNvSpPr>
          <p:nvPr/>
        </p:nvSpPr>
        <p:spPr>
          <a:xfrm>
            <a:off x="8362950" y="4438650"/>
            <a:ext cx="2266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Visible demo surface: FEDIT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1FA6043-9356-4C62-9120-A4E0B39C8422}"/>
              </a:ext>
            </a:extLst>
          </p:cNvPr>
          <p:cNvSpPr>
            <a:spLocks noGrp="1"/>
          </p:cNvSpPr>
          <p:nvPr/>
        </p:nvSpPr>
        <p:spPr>
          <a:xfrm>
            <a:off x="8191500" y="4800600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32C9BC-2C2B-4B8A-BC8B-0BA3B8AF2801}"/>
              </a:ext>
            </a:extLst>
          </p:cNvPr>
          <p:cNvSpPr>
            <a:spLocks noGrp="1"/>
          </p:cNvSpPr>
          <p:nvPr/>
        </p:nvSpPr>
        <p:spPr>
          <a:xfrm>
            <a:off x="8191500" y="4800600"/>
            <a:ext cx="76200" cy="3238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4E7657-7021-4A57-B6BE-97C3281CEB0F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Execution agents: Codex / Cline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4B28825-F438-40C8-8EE4-50E07BD29276}"/>
              </a:ext>
            </a:extLst>
          </p:cNvPr>
          <p:cNvSpPr>
            <a:spLocks noGrp="1"/>
          </p:cNvSpPr>
          <p:nvPr/>
        </p:nvSpPr>
        <p:spPr>
          <a:xfrm>
            <a:off x="8191500" y="5257800"/>
            <a:ext cx="27241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C4E132-B677-4FEC-A249-32D990485DEF}"/>
              </a:ext>
            </a:extLst>
          </p:cNvPr>
          <p:cNvSpPr>
            <a:spLocks noGrp="1"/>
          </p:cNvSpPr>
          <p:nvPr/>
        </p:nvSpPr>
        <p:spPr>
          <a:xfrm>
            <a:off x="8191500" y="5257800"/>
            <a:ext cx="76200" cy="3238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08F5FCE-2EB5-4EBA-8AC3-E6C5EC43FCC0}"/>
              </a:ext>
            </a:extLst>
          </p:cNvPr>
          <p:cNvSpPr>
            <a:spLocks noGrp="1"/>
          </p:cNvSpPr>
          <p:nvPr/>
        </p:nvSpPr>
        <p:spPr>
          <a:xfrm>
            <a:off x="8362950" y="5353050"/>
            <a:ext cx="2419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Human-reviewed before merge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1355BF-0AE3-4E7F-96DD-B2617D0B62EC}"/>
              </a:ext>
            </a:extLst>
          </p:cNvPr>
          <p:cNvSpPr>
            <a:spLocks noGrp="1"/>
          </p:cNvSpPr>
          <p:nvPr/>
        </p:nvSpPr>
        <p:spPr>
          <a:xfrm>
            <a:off x="8191500" y="5848350"/>
            <a:ext cx="2762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6902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69020"/>
                  </a:srgbClr>
                </a:solidFill>
              </a:rPr>
              <a:t>It solves the hidden work between a ticket and a safe change.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93D589C-9522-51F1-0942-39D84DBA4584}"/>
              </a:ext>
            </a:extLst>
          </p:cNvPr>
          <p:cNvSpPr/>
          <p:nvPr/>
        </p:nvSpPr>
        <p:spPr>
          <a:xfrm>
            <a:off x="742950" y="1271588"/>
            <a:ext cx="1962150" cy="600075"/>
          </a:xfrm>
          <a:prstGeom prst="roundRect">
            <a:avLst/>
          </a:prstGeom>
          <a:solidFill>
            <a:srgbClr val="FF0000">
              <a:alpha val="5969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ODT</a:t>
            </a:r>
            <a:endParaRPr lang="en-US" sz="28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6DBAFF4-51C2-1149-2D8F-16F540918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0" t="3935" r="3991" b="6556"/>
          <a:stretch>
            <a:fillRect/>
          </a:stretch>
        </p:blipFill>
        <p:spPr>
          <a:xfrm>
            <a:off x="8070224" y="833438"/>
            <a:ext cx="3150226" cy="319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7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EBA647-5028-4781-AE3C-2437134FA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CAD1F-E702-43C6-9972-3C853A39CCFB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THE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D4845-A386-4FDE-AD12-D3836029C481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709E2-0062-4095-B535-CDDD627BB08A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80AD18-D80A-4E54-95EB-6B6AF82638C1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8F48B-7425-4695-8EB9-EFD39783994F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25FB8-FC62-49A4-BBBA-9AFD06531ABD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5337FF-E326-48B9-8701-6F5E708679F4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2051B-918F-4E27-AABD-0626CF76F648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810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The expensive part of delivery often happens before code begins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335939B-F0D2-4754-8324-B72194B3468D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1733550" cy="2190750"/>
          </a:xfrm>
          <a:prstGeom prst="roundRect">
            <a:avLst>
              <a:gd name="adj" fmla="val 4396"/>
            </a:avLst>
          </a:prstGeom>
          <a:solidFill>
            <a:srgbClr val="F2E5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94F66E-7906-4A4B-AEE7-56245315F13F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983E4-A8BC-4E10-BCAE-663F96AFEDD5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7335CA-7617-4EFA-A710-739B2EBF75A8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Clarify intent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308524-6A09-4B3F-BE95-58D5264DBB37}"/>
              </a:ext>
            </a:extLst>
          </p:cNvPr>
          <p:cNvSpPr>
            <a:spLocks noGrp="1"/>
          </p:cNvSpPr>
          <p:nvPr/>
        </p:nvSpPr>
        <p:spPr>
          <a:xfrm>
            <a:off x="9715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Acceptance criteria, scope, and edge cases are often scattered across tickets and chats.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5407076-3D1C-4DF3-B129-D2C431E10397}"/>
              </a:ext>
            </a:extLst>
          </p:cNvPr>
          <p:cNvSpPr>
            <a:spLocks noGrp="1"/>
          </p:cNvSpPr>
          <p:nvPr/>
        </p:nvSpPr>
        <p:spPr>
          <a:xfrm>
            <a:off x="3048000" y="2914650"/>
            <a:ext cx="1733550" cy="2533650"/>
          </a:xfrm>
          <a:prstGeom prst="roundRect">
            <a:avLst>
              <a:gd name="adj" fmla="val 4396"/>
            </a:avLst>
          </a:prstGeom>
          <a:solidFill>
            <a:srgbClr val="F2E5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32EA0A0-FEB2-4459-8A5E-89EB2B1D68E5}"/>
              </a:ext>
            </a:extLst>
          </p:cNvPr>
          <p:cNvSpPr>
            <a:spLocks noGrp="1"/>
          </p:cNvSpPr>
          <p:nvPr/>
        </p:nvSpPr>
        <p:spPr>
          <a:xfrm>
            <a:off x="30480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CB00EC-B85C-4F42-89A7-0641D858C49B}"/>
              </a:ext>
            </a:extLst>
          </p:cNvPr>
          <p:cNvSpPr>
            <a:spLocks noGrp="1"/>
          </p:cNvSpPr>
          <p:nvPr/>
        </p:nvSpPr>
        <p:spPr>
          <a:xfrm>
            <a:off x="32194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97403D-4FCF-446D-B464-5091F90FCDB4}"/>
              </a:ext>
            </a:extLst>
          </p:cNvPr>
          <p:cNvSpPr>
            <a:spLocks noGrp="1"/>
          </p:cNvSpPr>
          <p:nvPr/>
        </p:nvSpPr>
        <p:spPr>
          <a:xfrm>
            <a:off x="32194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Find repo 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3B2607-3D11-45AA-A54E-44D4512BA8B4}"/>
              </a:ext>
            </a:extLst>
          </p:cNvPr>
          <p:cNvSpPr>
            <a:spLocks noGrp="1"/>
          </p:cNvSpPr>
          <p:nvPr/>
        </p:nvSpPr>
        <p:spPr>
          <a:xfrm>
            <a:off x="32194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Developers still have to infer which files, modules, and regressions are actually in play.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FB25938-76A1-4029-BFFB-1084B8A77902}"/>
              </a:ext>
            </a:extLst>
          </p:cNvPr>
          <p:cNvSpPr>
            <a:spLocks noGrp="1"/>
          </p:cNvSpPr>
          <p:nvPr/>
        </p:nvSpPr>
        <p:spPr>
          <a:xfrm>
            <a:off x="5295900" y="2609850"/>
            <a:ext cx="1733550" cy="2838450"/>
          </a:xfrm>
          <a:prstGeom prst="roundRect">
            <a:avLst>
              <a:gd name="adj" fmla="val 4396"/>
            </a:avLst>
          </a:prstGeom>
          <a:solidFill>
            <a:srgbClr val="EED8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B205F88-DE83-454E-8608-7240D5867027}"/>
              </a:ext>
            </a:extLst>
          </p:cNvPr>
          <p:cNvSpPr>
            <a:spLocks noGrp="1"/>
          </p:cNvSpPr>
          <p:nvPr/>
        </p:nvSpPr>
        <p:spPr>
          <a:xfrm>
            <a:off x="52959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3B12BF-C54F-4438-8784-6F057DE6058B}"/>
              </a:ext>
            </a:extLst>
          </p:cNvPr>
          <p:cNvSpPr>
            <a:spLocks noGrp="1"/>
          </p:cNvSpPr>
          <p:nvPr/>
        </p:nvSpPr>
        <p:spPr>
          <a:xfrm>
            <a:off x="54673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8D9245-B11C-4C77-B342-FA1C32229D6B}"/>
              </a:ext>
            </a:extLst>
          </p:cNvPr>
          <p:cNvSpPr>
            <a:spLocks noGrp="1"/>
          </p:cNvSpPr>
          <p:nvPr/>
        </p:nvSpPr>
        <p:spPr>
          <a:xfrm>
            <a:off x="54673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Plan the change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F83534-224F-4185-BF61-D416914F3DB5}"/>
              </a:ext>
            </a:extLst>
          </p:cNvPr>
          <p:cNvSpPr>
            <a:spLocks noGrp="1"/>
          </p:cNvSpPr>
          <p:nvPr/>
        </p:nvSpPr>
        <p:spPr>
          <a:xfrm>
            <a:off x="54673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Technical design and patch strategy vary by person and time pressure.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2AD6691-520D-4133-AF25-4039E2C8C05E}"/>
              </a:ext>
            </a:extLst>
          </p:cNvPr>
          <p:cNvSpPr>
            <a:spLocks noGrp="1"/>
          </p:cNvSpPr>
          <p:nvPr/>
        </p:nvSpPr>
        <p:spPr>
          <a:xfrm>
            <a:off x="7543800" y="2324100"/>
            <a:ext cx="1733550" cy="3124200"/>
          </a:xfrm>
          <a:prstGeom prst="roundRect">
            <a:avLst>
              <a:gd name="adj" fmla="val 4396"/>
            </a:avLst>
          </a:prstGeom>
          <a:solidFill>
            <a:srgbClr val="E8CB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D5A0BA4-9C6A-4C39-BC36-268EB986720C}"/>
              </a:ext>
            </a:extLst>
          </p:cNvPr>
          <p:cNvSpPr>
            <a:spLocks noGrp="1"/>
          </p:cNvSpPr>
          <p:nvPr/>
        </p:nvSpPr>
        <p:spPr>
          <a:xfrm>
            <a:off x="75438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10125D-2DC0-4131-ADF4-8AED58F6C156}"/>
              </a:ext>
            </a:extLst>
          </p:cNvPr>
          <p:cNvSpPr>
            <a:spLocks noGrp="1"/>
          </p:cNvSpPr>
          <p:nvPr/>
        </p:nvSpPr>
        <p:spPr>
          <a:xfrm>
            <a:off x="77152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7FC250-B248-4E54-8912-CB8260B4B1D9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Check obligations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DCD79E-D1E8-44AB-9B1C-8CA5BDA7D747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Testing, keyboard behavior, and accessibility often arrive too late in the cycle.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5308681-847A-4E17-8FE8-F4D9CF98FAFD}"/>
              </a:ext>
            </a:extLst>
          </p:cNvPr>
          <p:cNvSpPr>
            <a:spLocks noGrp="1"/>
          </p:cNvSpPr>
          <p:nvPr/>
        </p:nvSpPr>
        <p:spPr>
          <a:xfrm>
            <a:off x="9791700" y="2000250"/>
            <a:ext cx="1733550" cy="3448050"/>
          </a:xfrm>
          <a:prstGeom prst="roundRect">
            <a:avLst>
              <a:gd name="adj" fmla="val 4396"/>
            </a:avLst>
          </a:prstGeom>
          <a:solidFill>
            <a:srgbClr val="E2B9A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6C4F878-9A37-46C7-9233-397AF631587F}"/>
              </a:ext>
            </a:extLst>
          </p:cNvPr>
          <p:cNvSpPr>
            <a:spLocks noGrp="1"/>
          </p:cNvSpPr>
          <p:nvPr/>
        </p:nvSpPr>
        <p:spPr>
          <a:xfrm>
            <a:off x="97917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F1C5C8-78A3-4D8F-AD51-B02098E5C96A}"/>
              </a:ext>
            </a:extLst>
          </p:cNvPr>
          <p:cNvSpPr>
            <a:spLocks noGrp="1"/>
          </p:cNvSpPr>
          <p:nvPr/>
        </p:nvSpPr>
        <p:spPr>
          <a:xfrm>
            <a:off x="99631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0B934D-2774-47BB-B150-E0F470F34E99}"/>
              </a:ext>
            </a:extLst>
          </p:cNvPr>
          <p:cNvSpPr>
            <a:spLocks noGrp="1"/>
          </p:cNvSpPr>
          <p:nvPr/>
        </p:nvSpPr>
        <p:spPr>
          <a:xfrm>
            <a:off x="99631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Prepare handoff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8BFF83-CD4D-4640-8FC3-9FDE3E3F0245}"/>
              </a:ext>
            </a:extLst>
          </p:cNvPr>
          <p:cNvSpPr>
            <a:spLocks noGrp="1"/>
          </p:cNvSpPr>
          <p:nvPr/>
        </p:nvSpPr>
        <p:spPr>
          <a:xfrm>
            <a:off x="99631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Coding agents need structured context, or quality becomes unpredictable.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A5A08A-A586-4ED6-ABA8-C80B7FFF05A8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10591800" cy="1143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245E15-D20F-4464-AF87-AE81B80D2FE8}"/>
              </a:ext>
            </a:extLst>
          </p:cNvPr>
          <p:cNvSpPr>
            <a:spLocks noGrp="1"/>
          </p:cNvSpPr>
          <p:nvPr/>
        </p:nvSpPr>
        <p:spPr>
          <a:xfrm>
            <a:off x="800100" y="5638800"/>
            <a:ext cx="657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 i="0">
                <a:solidFill>
                  <a:srgbClr val="2A2F2F"/>
                </a:solidFill>
              </a:defRPr>
            </a:pPr>
            <a:r>
              <a:rPr sz="1425" b="1" i="0">
                <a:solidFill>
                  <a:srgbClr val="2A2F2F"/>
                </a:solidFill>
              </a:rPr>
              <a:t>Before code starts, teams are already losing time and building risk.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410550-8323-4EC8-900F-B380570077A5}"/>
              </a:ext>
            </a:extLst>
          </p:cNvPr>
          <p:cNvSpPr>
            <a:spLocks noGrp="1"/>
          </p:cNvSpPr>
          <p:nvPr/>
        </p:nvSpPr>
        <p:spPr>
          <a:xfrm>
            <a:off x="800100" y="6000750"/>
            <a:ext cx="323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676C6C"/>
                </a:solidFill>
              </a:defRPr>
            </a:pPr>
            <a:r>
              <a:rPr sz="1125" b="0" i="0">
                <a:solidFill>
                  <a:srgbClr val="676C6C"/>
                </a:solidFill>
              </a:rPr>
              <a:t>ODT targets that hidden layer of work.</a:t>
            </a:r>
          </a:p>
        </p:txBody>
      </p:sp>
    </p:spTree>
    <p:extLst>
      <p:ext uri="{BB962C8B-B14F-4D97-AF65-F5344CB8AC3E}">
        <p14:creationId xmlns:p14="http://schemas.microsoft.com/office/powerpoint/2010/main" val="164321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DE3EB-2430-4796-8611-0AC9391851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5A3B63-EB74-4E61-94CF-0D2DC877C57D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THE SHIFT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A1936-2CD7-4371-836D-3D8B3A630C22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E0D19-82AF-411E-ABF3-5328C2574E8B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A6390-A7A0-46A4-A3D1-EA6D547D1F61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50B96-3508-4A5F-BB39-E0306E107A96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F617B-E8B9-4671-8889-DE41E6E44C3E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6AAF66A-DA40-4B93-ABED-C115453672CB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DD789B-026A-4B00-822C-0D9FBE6773F9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096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 i="0">
                <a:solidFill>
                  <a:srgbClr val="2A2F2F"/>
                </a:solidFill>
              </a:defRPr>
            </a:pPr>
            <a:r>
              <a:rPr sz="2925" b="1" i="0">
                <a:solidFill>
                  <a:srgbClr val="2A2F2F"/>
                </a:solidFill>
              </a:rPr>
              <a:t>ODT removes setup work, not developer judgement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4DADDE-5D30-4C5F-A691-DDB0ED8BD98A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72157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360BDB-5A91-44BE-A8B8-D14D931F636C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167C18-AD8D-4763-95CF-5F5F7CF7BFA9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Intent -&gt; evidence -&gt; execution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00BFDA-B900-4297-8039-D2CCC56EBAAF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476750" cy="3390900"/>
          </a:xfrm>
          <a:prstGeom prst="roundRect">
            <a:avLst>
              <a:gd name="adj" fmla="val 2247"/>
            </a:avLst>
          </a:prstGeom>
          <a:solidFill>
            <a:srgbClr val="1B1E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D6CA9-B637-4B7C-B77E-31DAD048F629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Before ODT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0ED7D1-2EA5-4430-BF32-B657C5A55359}"/>
              </a:ext>
            </a:extLst>
          </p:cNvPr>
          <p:cNvSpPr>
            <a:spLocks noGrp="1"/>
          </p:cNvSpPr>
          <p:nvPr/>
        </p:nvSpPr>
        <p:spPr>
          <a:xfrm>
            <a:off x="1066800" y="316230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25B271-CF33-49C1-968E-8999CF610894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50D4D5-47FA-4FE3-9893-F8AD7453BFD2}"/>
              </a:ext>
            </a:extLst>
          </p:cNvPr>
          <p:cNvSpPr>
            <a:spLocks noGrp="1"/>
          </p:cNvSpPr>
          <p:nvPr/>
        </p:nvSpPr>
        <p:spPr>
          <a:xfrm>
            <a:off x="1562100" y="32956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Manual interpretation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51B843-860F-41B2-9834-210641DFD822}"/>
              </a:ext>
            </a:extLst>
          </p:cNvPr>
          <p:cNvSpPr>
            <a:spLocks noGrp="1"/>
          </p:cNvSpPr>
          <p:nvPr/>
        </p:nvSpPr>
        <p:spPr>
          <a:xfrm>
            <a:off x="1562100" y="352425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Business asks still have to be translated into engineering action.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6DB7CB6-158C-4671-BF2C-A2EFA73C6E0F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2CA125-6A38-4780-B2AB-B2B3969C1044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2A3A3C-A807-471B-A5B2-F10F78500C3A}"/>
              </a:ext>
            </a:extLst>
          </p:cNvPr>
          <p:cNvSpPr>
            <a:spLocks noGrp="1"/>
          </p:cNvSpPr>
          <p:nvPr/>
        </p:nvSpPr>
        <p:spPr>
          <a:xfrm>
            <a:off x="1562100" y="39624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Hidden blast radius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826932-1C2A-4826-99B1-6E58A1902041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Impact discovery still relies on memory, search, and guesswork.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E0664C-C36C-46DB-AB28-0C050E555029}"/>
              </a:ext>
            </a:extLst>
          </p:cNvPr>
          <p:cNvSpPr>
            <a:spLocks noGrp="1"/>
          </p:cNvSpPr>
          <p:nvPr/>
        </p:nvSpPr>
        <p:spPr>
          <a:xfrm>
            <a:off x="1066800" y="449580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B962F8-C455-4E23-9E6B-B652845D163B}"/>
              </a:ext>
            </a:extLst>
          </p:cNvPr>
          <p:cNvSpPr>
            <a:spLocks noGrp="1"/>
          </p:cNvSpPr>
          <p:nvPr/>
        </p:nvSpPr>
        <p:spPr>
          <a:xfrm>
            <a:off x="1238250" y="466725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247502-54E9-47BC-985F-393607074E9E}"/>
              </a:ext>
            </a:extLst>
          </p:cNvPr>
          <p:cNvSpPr>
            <a:spLocks noGrp="1"/>
          </p:cNvSpPr>
          <p:nvPr/>
        </p:nvSpPr>
        <p:spPr>
          <a:xfrm>
            <a:off x="1562100" y="46291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Late quality checks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99F1AF-6A5B-4D4A-823D-05687D07957C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Accessibility and regression planning can slip until the very end.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821B19-8B06-47B3-8FD4-28ABB8B4B9BA}"/>
              </a:ext>
            </a:extLst>
          </p:cNvPr>
          <p:cNvSpPr>
            <a:spLocks noGrp="1"/>
          </p:cNvSpPr>
          <p:nvPr/>
        </p:nvSpPr>
        <p:spPr>
          <a:xfrm>
            <a:off x="1066800" y="516255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DCB1419-9C4A-410E-A11B-482E22A76D50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2CEC81-8005-4338-A40B-E9939810C45F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Unstructured prompting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733F63-C32E-4615-A413-900B00845891}"/>
              </a:ext>
            </a:extLst>
          </p:cNvPr>
          <p:cNvSpPr>
            <a:spLocks noGrp="1"/>
          </p:cNvSpPr>
          <p:nvPr/>
        </p:nvSpPr>
        <p:spPr>
          <a:xfrm>
            <a:off x="1562100" y="552450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Execution agents get uneven context, so output quality can vary.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17AFAA7C-24E1-45F5-968E-069C340B27B6}"/>
              </a:ext>
            </a:extLst>
          </p:cNvPr>
          <p:cNvSpPr>
            <a:spLocks noGrp="1"/>
          </p:cNvSpPr>
          <p:nvPr/>
        </p:nvSpPr>
        <p:spPr>
          <a:xfrm>
            <a:off x="5391150" y="3810000"/>
            <a:ext cx="819150" cy="76200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42E2801-BA12-4A8C-B5D4-309C1F8AE5E2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876800" cy="3390900"/>
          </a:xfrm>
          <a:prstGeom prst="roundRect">
            <a:avLst>
              <a:gd name="adj" fmla="val 2247"/>
            </a:avLst>
          </a:prstGeom>
          <a:solidFill>
            <a:srgbClr val="FFFDFC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426C16-E994-4501-BF7E-D2FD912EB7C6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2A2F2F"/>
                </a:solidFill>
              </a:defRPr>
            </a:pPr>
            <a:r>
              <a:rPr sz="1800" b="1" i="0">
                <a:solidFill>
                  <a:srgbClr val="2A2F2F"/>
                </a:solidFill>
              </a:rPr>
              <a:t>With ODT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691B6FB-0482-4997-8CE4-112FD1CD45DD}"/>
              </a:ext>
            </a:extLst>
          </p:cNvPr>
          <p:cNvSpPr>
            <a:spLocks noGrp="1"/>
          </p:cNvSpPr>
          <p:nvPr/>
        </p:nvSpPr>
        <p:spPr>
          <a:xfrm>
            <a:off x="6781800" y="316230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3C0A28A-6224-4466-BD67-32262659DA9D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171450" cy="1714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31E3D5-610E-4562-92BE-DF815046266F}"/>
              </a:ext>
            </a:extLst>
          </p:cNvPr>
          <p:cNvSpPr>
            <a:spLocks noGrp="1"/>
          </p:cNvSpPr>
          <p:nvPr/>
        </p:nvSpPr>
        <p:spPr>
          <a:xfrm>
            <a:off x="7277100" y="329565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Structured intake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313666-13FF-4B71-91D5-752CA3C0CF18}"/>
              </a:ext>
            </a:extLst>
          </p:cNvPr>
          <p:cNvSpPr>
            <a:spLocks noGrp="1"/>
          </p:cNvSpPr>
          <p:nvPr/>
        </p:nvSpPr>
        <p:spPr>
          <a:xfrm>
            <a:off x="7277100" y="35242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Requirements and constraints are captured in one governed flow.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5BF63D0-6FB9-4F4E-AD42-D1825DF1CC45}"/>
              </a:ext>
            </a:extLst>
          </p:cNvPr>
          <p:cNvSpPr>
            <a:spLocks noGrp="1"/>
          </p:cNvSpPr>
          <p:nvPr/>
        </p:nvSpPr>
        <p:spPr>
          <a:xfrm>
            <a:off x="6781800" y="382905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B80361-1A26-475B-A443-C76E7918065B}"/>
              </a:ext>
            </a:extLst>
          </p:cNvPr>
          <p:cNvSpPr>
            <a:spLocks noGrp="1"/>
          </p:cNvSpPr>
          <p:nvPr/>
        </p:nvSpPr>
        <p:spPr>
          <a:xfrm>
            <a:off x="6953250" y="4000500"/>
            <a:ext cx="171450" cy="171450"/>
          </a:xfrm>
          <a:prstGeom prst="ellipse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98002F-F6BE-4818-BD2A-FEA79F0B5BE0}"/>
              </a:ext>
            </a:extLst>
          </p:cNvPr>
          <p:cNvSpPr>
            <a:spLocks noGrp="1"/>
          </p:cNvSpPr>
          <p:nvPr/>
        </p:nvSpPr>
        <p:spPr>
          <a:xfrm>
            <a:off x="7277100" y="396240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Repo-aware impact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4DEAB1-9827-4211-86EC-B8DA27A42C94}"/>
              </a:ext>
            </a:extLst>
          </p:cNvPr>
          <p:cNvSpPr>
            <a:spLocks noGrp="1"/>
          </p:cNvSpPr>
          <p:nvPr/>
        </p:nvSpPr>
        <p:spPr>
          <a:xfrm>
            <a:off x="7277100" y="41910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Candidate files and regression areas are ranked before coding begins.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A3908A8-DBE7-4238-AC42-7B8C74D1B7C2}"/>
              </a:ext>
            </a:extLst>
          </p:cNvPr>
          <p:cNvSpPr>
            <a:spLocks noGrp="1"/>
          </p:cNvSpPr>
          <p:nvPr/>
        </p:nvSpPr>
        <p:spPr>
          <a:xfrm>
            <a:off x="6781800" y="449580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1749A4C-1BCB-45BF-B236-665877703A0E}"/>
              </a:ext>
            </a:extLst>
          </p:cNvPr>
          <p:cNvSpPr>
            <a:spLocks noGrp="1"/>
          </p:cNvSpPr>
          <p:nvPr/>
        </p:nvSpPr>
        <p:spPr>
          <a:xfrm>
            <a:off x="6953250" y="4667250"/>
            <a:ext cx="171450" cy="171450"/>
          </a:xfrm>
          <a:prstGeom prst="ellipse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D6DA86-131D-456D-BDD1-5CD205955470}"/>
              </a:ext>
            </a:extLst>
          </p:cNvPr>
          <p:cNvSpPr>
            <a:spLocks noGrp="1"/>
          </p:cNvSpPr>
          <p:nvPr/>
        </p:nvSpPr>
        <p:spPr>
          <a:xfrm>
            <a:off x="7277100" y="462915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Guided execution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DE1F07-35D5-4C7A-9AD2-EDF29E25C136}"/>
              </a:ext>
            </a:extLst>
          </p:cNvPr>
          <p:cNvSpPr>
            <a:spLocks noGrp="1"/>
          </p:cNvSpPr>
          <p:nvPr/>
        </p:nvSpPr>
        <p:spPr>
          <a:xfrm>
            <a:off x="7277100" y="48577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Design, code, test, and compliance workpacks are ready to use.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3C7E392-5AB5-474E-A946-7358559F3840}"/>
              </a:ext>
            </a:extLst>
          </p:cNvPr>
          <p:cNvSpPr>
            <a:spLocks noGrp="1"/>
          </p:cNvSpPr>
          <p:nvPr/>
        </p:nvSpPr>
        <p:spPr>
          <a:xfrm>
            <a:off x="6781800" y="516255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B6CA7D8-CA11-4132-BCDB-DA278005C741}"/>
              </a:ext>
            </a:extLst>
          </p:cNvPr>
          <p:cNvSpPr>
            <a:spLocks noGrp="1"/>
          </p:cNvSpPr>
          <p:nvPr/>
        </p:nvSpPr>
        <p:spPr>
          <a:xfrm>
            <a:off x="6953250" y="5334000"/>
            <a:ext cx="171450" cy="1714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BE5B5C-FEBD-4FE1-B6D8-BB4AAAABEAB3}"/>
              </a:ext>
            </a:extLst>
          </p:cNvPr>
          <p:cNvSpPr>
            <a:spLocks noGrp="1"/>
          </p:cNvSpPr>
          <p:nvPr/>
        </p:nvSpPr>
        <p:spPr>
          <a:xfrm>
            <a:off x="7277100" y="529590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Visible review gate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508CDD-6C9C-46D2-A0D1-60E732A3C6A1}"/>
              </a:ext>
            </a:extLst>
          </p:cNvPr>
          <p:cNvSpPr>
            <a:spLocks noGrp="1"/>
          </p:cNvSpPr>
          <p:nvPr/>
        </p:nvSpPr>
        <p:spPr>
          <a:xfrm>
            <a:off x="7277100" y="55245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FEDIT makes decisions clearer before any merge decision.</a:t>
            </a:r>
          </a:p>
        </p:txBody>
      </p:sp>
    </p:spTree>
    <p:extLst>
      <p:ext uri="{BB962C8B-B14F-4D97-AF65-F5344CB8AC3E}">
        <p14:creationId xmlns:p14="http://schemas.microsoft.com/office/powerpoint/2010/main" val="64980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294CAD-CD08-464D-8B07-B3C0A6E46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5ACA63-9F96-4A4A-B0D1-7895103BAA7C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DIFFERENTIATION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0F35F-892F-42CA-85E3-070B8DD32611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689FB3-BEB0-4D44-9C69-64C341E9B391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A719C-583D-4839-AB46-0A3CF581B708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729FA-DC13-459B-A5FD-3EF61FFCCEA4}"/>
              </a:ext>
            </a:extLst>
          </p:cNvPr>
          <p:cNvSpPr>
            <a:spLocks noGrp="1"/>
          </p:cNvSpPr>
          <p:nvPr/>
        </p:nvSpPr>
        <p:spPr>
          <a:xfrm>
            <a:off x="2352675" y="64770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1400" b="0" i="0" dirty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2511C-09DF-4D61-83EE-0E49D5C6FFE1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8A56AB-9C9C-404E-BB7B-B78786B9CE48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AA26F-386A-4310-B9A0-F5B7C2BE1A0C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001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Why this is more than a coding copilot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285D12-521E-4CB6-8560-FB3F4D917DE8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933700" cy="552450"/>
          </a:xfrm>
          <a:prstGeom prst="roundRect">
            <a:avLst>
              <a:gd name="adj" fmla="val 13793"/>
            </a:avLst>
          </a:prstGeom>
          <a:solidFill>
            <a:srgbClr val="1E22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13C15B1-640B-43FA-BDEB-09118F840752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7391400" cy="552450"/>
          </a:xfrm>
          <a:prstGeom prst="roundRect">
            <a:avLst>
              <a:gd name="adj" fmla="val 13793"/>
            </a:avLst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23D708-5571-4C7D-A72A-0231F7B8329E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Typical coding copilot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487288-1E2D-4BB7-9A66-4CB45D967FF6}"/>
              </a:ext>
            </a:extLst>
          </p:cNvPr>
          <p:cNvSpPr>
            <a:spLocks noGrp="1"/>
          </p:cNvSpPr>
          <p:nvPr/>
        </p:nvSpPr>
        <p:spPr>
          <a:xfrm>
            <a:off x="4171950" y="2343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Oracle Developer Twin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A1B47BF-12BB-43AA-8B0C-E7775DED58E0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BE90B31-170B-4E98-9129-35550A367A5D}"/>
              </a:ext>
            </a:extLst>
          </p:cNvPr>
          <p:cNvSpPr>
            <a:spLocks noGrp="1"/>
          </p:cNvSpPr>
          <p:nvPr/>
        </p:nvSpPr>
        <p:spPr>
          <a:xfrm>
            <a:off x="3924300" y="28765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49679D-2FC1-417C-8D45-27298CC0C219}"/>
              </a:ext>
            </a:extLst>
          </p:cNvPr>
          <p:cNvSpPr>
            <a:spLocks noGrp="1"/>
          </p:cNvSpPr>
          <p:nvPr/>
        </p:nvSpPr>
        <p:spPr>
          <a:xfrm>
            <a:off x="1085850" y="30194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Starts with a prompt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F75556-029E-4E32-BE35-EEFD95CC77DA}"/>
              </a:ext>
            </a:extLst>
          </p:cNvPr>
          <p:cNvSpPr>
            <a:spLocks noGrp="1"/>
          </p:cNvSpPr>
          <p:nvPr/>
        </p:nvSpPr>
        <p:spPr>
          <a:xfrm>
            <a:off x="3924300" y="28765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48BD4D-4F45-4CF8-B9D7-183E3A8CBEF2}"/>
              </a:ext>
            </a:extLst>
          </p:cNvPr>
          <p:cNvSpPr>
            <a:spLocks noGrp="1"/>
          </p:cNvSpPr>
          <p:nvPr/>
        </p:nvSpPr>
        <p:spPr>
          <a:xfrm>
            <a:off x="4133850" y="29813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Starts with a work item, structured intake, and target-repo context.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ED379E3-652F-4DEB-AB1F-3C335363019E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84026D4-2875-43B5-8419-C3CCD69CD8BD}"/>
              </a:ext>
            </a:extLst>
          </p:cNvPr>
          <p:cNvSpPr>
            <a:spLocks noGrp="1"/>
          </p:cNvSpPr>
          <p:nvPr/>
        </p:nvSpPr>
        <p:spPr>
          <a:xfrm>
            <a:off x="3924300" y="34861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4BB180-C7FD-4966-9A89-E8F8E779F59A}"/>
              </a:ext>
            </a:extLst>
          </p:cNvPr>
          <p:cNvSpPr>
            <a:spLocks noGrp="1"/>
          </p:cNvSpPr>
          <p:nvPr/>
        </p:nvSpPr>
        <p:spPr>
          <a:xfrm>
            <a:off x="1085850" y="36290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Mainly returns code or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8A7151-75DE-4C73-BD46-E4BC502DB50B}"/>
              </a:ext>
            </a:extLst>
          </p:cNvPr>
          <p:cNvSpPr>
            <a:spLocks noGrp="1"/>
          </p:cNvSpPr>
          <p:nvPr/>
        </p:nvSpPr>
        <p:spPr>
          <a:xfrm>
            <a:off x="3924300" y="34861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5FEDD7-E6FC-4897-919F-8804FA2709DF}"/>
              </a:ext>
            </a:extLst>
          </p:cNvPr>
          <p:cNvSpPr>
            <a:spLocks noGrp="1"/>
          </p:cNvSpPr>
          <p:nvPr/>
        </p:nvSpPr>
        <p:spPr>
          <a:xfrm>
            <a:off x="4133850" y="35909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Creates dashboards, impact analysis, workpacks, prompt contracts, and verification artifacts.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F14B199-0047-4BF3-BEEE-FDF1335ED2DE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3DDB795-A5A0-445B-AA86-45B0CE4C49A8}"/>
              </a:ext>
            </a:extLst>
          </p:cNvPr>
          <p:cNvSpPr>
            <a:spLocks noGrp="1"/>
          </p:cNvSpPr>
          <p:nvPr/>
        </p:nvSpPr>
        <p:spPr>
          <a:xfrm>
            <a:off x="3924300" y="40957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B99C31-C3D4-484A-A441-90C6DA423ED1}"/>
              </a:ext>
            </a:extLst>
          </p:cNvPr>
          <p:cNvSpPr>
            <a:spLocks noGrp="1"/>
          </p:cNvSpPr>
          <p:nvPr/>
        </p:nvSpPr>
        <p:spPr>
          <a:xfrm>
            <a:off x="1085850" y="42386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Repo understanding is ad hoc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7793E-D5EA-40C5-8CB8-03BDC4A750E0}"/>
              </a:ext>
            </a:extLst>
          </p:cNvPr>
          <p:cNvSpPr>
            <a:spLocks noGrp="1"/>
          </p:cNvSpPr>
          <p:nvPr/>
        </p:nvSpPr>
        <p:spPr>
          <a:xfrm>
            <a:off x="3924300" y="40957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B1B287-FDE4-4F6B-ABBE-0DC85E7469B9}"/>
              </a:ext>
            </a:extLst>
          </p:cNvPr>
          <p:cNvSpPr>
            <a:spLocks noGrp="1"/>
          </p:cNvSpPr>
          <p:nvPr/>
        </p:nvSpPr>
        <p:spPr>
          <a:xfrm>
            <a:off x="4133850" y="42005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Impact is inferred and ranked so change scope becomes visible before execution.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F64511D-D917-4AB4-B857-3D21EBE578D0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509CFCD-27DE-451F-B568-01B90B92F923}"/>
              </a:ext>
            </a:extLst>
          </p:cNvPr>
          <p:cNvSpPr>
            <a:spLocks noGrp="1"/>
          </p:cNvSpPr>
          <p:nvPr/>
        </p:nvSpPr>
        <p:spPr>
          <a:xfrm>
            <a:off x="3924300" y="47053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43078C-20D5-4CF9-868D-1ED93AD9E912}"/>
              </a:ext>
            </a:extLst>
          </p:cNvPr>
          <p:cNvSpPr>
            <a:spLocks noGrp="1"/>
          </p:cNvSpPr>
          <p:nvPr/>
        </p:nvSpPr>
        <p:spPr>
          <a:xfrm>
            <a:off x="1085850" y="48482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Quality checks are optional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62AFEE-586F-43FB-9A69-BE763DE34605}"/>
              </a:ext>
            </a:extLst>
          </p:cNvPr>
          <p:cNvSpPr>
            <a:spLocks noGrp="1"/>
          </p:cNvSpPr>
          <p:nvPr/>
        </p:nvSpPr>
        <p:spPr>
          <a:xfrm>
            <a:off x="3924300" y="47053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1B5B22-29A2-4243-B87C-BA54DE70CEDF}"/>
              </a:ext>
            </a:extLst>
          </p:cNvPr>
          <p:cNvSpPr>
            <a:spLocks noGrp="1"/>
          </p:cNvSpPr>
          <p:nvPr/>
        </p:nvSpPr>
        <p:spPr>
          <a:xfrm>
            <a:off x="4133850" y="48101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Accessibility, testing, and review checkpoints are built into the flow.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E272F54-1F37-4479-A686-DB0E45E44DC4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D901460-4FDF-46A4-9116-C8BA8EE2088B}"/>
              </a:ext>
            </a:extLst>
          </p:cNvPr>
          <p:cNvSpPr>
            <a:spLocks noGrp="1"/>
          </p:cNvSpPr>
          <p:nvPr/>
        </p:nvSpPr>
        <p:spPr>
          <a:xfrm>
            <a:off x="3924300" y="53149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1F4B09-825E-4242-AC5B-E7ABDA319DFF}"/>
              </a:ext>
            </a:extLst>
          </p:cNvPr>
          <p:cNvSpPr>
            <a:spLocks noGrp="1"/>
          </p:cNvSpPr>
          <p:nvPr/>
        </p:nvSpPr>
        <p:spPr>
          <a:xfrm>
            <a:off x="1085850" y="54578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Responsibility can feel blurry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D17F3F-C3E7-43BE-8198-68970DD3A87A}"/>
              </a:ext>
            </a:extLst>
          </p:cNvPr>
          <p:cNvSpPr>
            <a:spLocks noGrp="1"/>
          </p:cNvSpPr>
          <p:nvPr/>
        </p:nvSpPr>
        <p:spPr>
          <a:xfrm>
            <a:off x="3924300" y="53149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E3D1D1-4BE6-4917-8B90-27E3876B92A9}"/>
              </a:ext>
            </a:extLst>
          </p:cNvPr>
          <p:cNvSpPr>
            <a:spLocks noGrp="1"/>
          </p:cNvSpPr>
          <p:nvPr/>
        </p:nvSpPr>
        <p:spPr>
          <a:xfrm>
            <a:off x="4133850" y="54197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Human approval remains explicit before merge or release.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4FC974E-2ED9-495A-8A10-0D8E00A37F84}"/>
              </a:ext>
            </a:extLst>
          </p:cNvPr>
          <p:cNvSpPr>
            <a:spLocks noGrp="1"/>
          </p:cNvSpPr>
          <p:nvPr/>
        </p:nvSpPr>
        <p:spPr>
          <a:xfrm>
            <a:off x="876300" y="6096000"/>
            <a:ext cx="10439400" cy="400050"/>
          </a:xfrm>
          <a:prstGeom prst="roundRect">
            <a:avLst>
              <a:gd name="adj" fmla="val 19048"/>
            </a:avLst>
          </a:prstGeom>
          <a:solidFill>
            <a:srgbClr val="1E22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12977E-05C0-4EDF-9F0C-F0E3DC13105F}"/>
              </a:ext>
            </a:extLst>
          </p:cNvPr>
          <p:cNvSpPr>
            <a:spLocks noGrp="1"/>
          </p:cNvSpPr>
          <p:nvPr/>
        </p:nvSpPr>
        <p:spPr>
          <a:xfrm>
            <a:off x="1085850" y="6210300"/>
            <a:ext cx="1003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Codex and Cline can execute. ODT makes execution safer and more consistent.</a:t>
            </a:r>
          </a:p>
        </p:txBody>
      </p:sp>
    </p:spTree>
    <p:extLst>
      <p:ext uri="{BB962C8B-B14F-4D97-AF65-F5344CB8AC3E}">
        <p14:creationId xmlns:p14="http://schemas.microsoft.com/office/powerpoint/2010/main" val="206689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C2C854-C747-4212-B4B2-91E88BA1B5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CFF45-17D7-459F-A0CB-8BA62811048F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IMPLEMENTED TODAY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75F632-6E70-4DA4-B5FE-05FCDBD09791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29E7D-37D5-4E76-9D33-6E705FF53856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49944E-A72C-4153-A13C-BB3BE682A1EC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DB1EA-B02B-426D-B975-BC13C1C3C19F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308CA0-3AAD-49FE-B4C8-3E4A123B6052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96A123-99A5-461A-8088-D2E816647682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E05D5B-4C93-47FD-9A29-F8B0A6A9FDF6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6096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Built. Running. Demoable today.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B58FF-F756-40D3-9172-760F99D5B960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0" i="0">
                <a:solidFill>
                  <a:srgbClr val="FFFFFF">
                    <a:alpha val="80000"/>
                  </a:srgbClr>
                </a:solidFill>
              </a:rPr>
              <a:t>This is a working delivery flow, not a concept mockup.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79371A-EC71-4403-A75F-51C0A1326CEB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219450" cy="2705100"/>
          </a:xfrm>
          <a:prstGeom prst="roundRect">
            <a:avLst>
              <a:gd name="adj" fmla="val 2817"/>
            </a:avLst>
          </a:prstGeom>
          <a:solidFill>
            <a:srgbClr val="FFFFFF">
              <a:alpha val="5882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8C688-38DF-456B-A454-8DB33DEE8886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What the demo proves right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6D5676-6434-44F3-984F-4869960091E7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2286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Review-ready run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Artifacts on disk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Target-repo a11y verification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Live worker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AF65C-F3DB-4476-AC46-83278C985EFB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419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65882"/>
                  </a:srgbClr>
                </a:solidFill>
              </a:rPr>
              <a:t>Hybrid AI path also works: OCI prompt generation with safe fallback.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5927745-003E-4B9E-BF36-ED012EBA745B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45166A-1F01-42BD-91E8-9FA1016CFC06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08610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669C1E-25C7-414A-967B-967468BE4FD2}"/>
              </a:ext>
            </a:extLst>
          </p:cNvPr>
          <p:cNvSpPr>
            <a:spLocks noGrp="1"/>
          </p:cNvSpPr>
          <p:nvPr/>
        </p:nvSpPr>
        <p:spPr>
          <a:xfrm>
            <a:off x="4686300" y="27813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CD151B-D6E4-42CC-8695-4CAB9DB14F77}"/>
              </a:ext>
            </a:extLst>
          </p:cNvPr>
          <p:cNvSpPr>
            <a:spLocks noGrp="1"/>
          </p:cNvSpPr>
          <p:nvPr/>
        </p:nvSpPr>
        <p:spPr>
          <a:xfrm>
            <a:off x="4705350" y="33718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Governed stages from intake to verify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ACF0F4-7C58-4091-BE0A-C2D82F171565}"/>
              </a:ext>
            </a:extLst>
          </p:cNvPr>
          <p:cNvSpPr>
            <a:spLocks noGrp="1"/>
          </p:cNvSpPr>
          <p:nvPr/>
        </p:nvSpPr>
        <p:spPr>
          <a:xfrm>
            <a:off x="4705350" y="36957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Current product flow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886342-46BD-4CA3-8E40-08422F558C0D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61FAF2-500C-42C2-BD7D-6E254E80729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086100" cy="66675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361DF9-7080-402B-8B54-EE12250AA2CA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BB57E2-BEFE-4D8F-827B-3B30B360A3C4}"/>
              </a:ext>
            </a:extLst>
          </p:cNvPr>
          <p:cNvSpPr>
            <a:spLocks noGrp="1"/>
          </p:cNvSpPr>
          <p:nvPr/>
        </p:nvSpPr>
        <p:spPr>
          <a:xfrm>
            <a:off x="8001000" y="33718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Runs stored in ODT history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5AA53E-0EF3-449F-A162-71F1629F6B22}"/>
              </a:ext>
            </a:extLst>
          </p:cNvPr>
          <p:cNvSpPr>
            <a:spLocks noGrp="1"/>
          </p:cNvSpPr>
          <p:nvPr/>
        </p:nvSpPr>
        <p:spPr>
          <a:xfrm>
            <a:off x="8001000" y="36957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Persisted run trail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F268E24-8F0A-43FC-A6F6-55F4F93D40D0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3EF18C-28AA-4397-9D58-40EC7842DEB4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086100" cy="66675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00EA31-D2FA-4B2B-96B4-31FE81CD202D}"/>
              </a:ext>
            </a:extLst>
          </p:cNvPr>
          <p:cNvSpPr>
            <a:spLocks noGrp="1"/>
          </p:cNvSpPr>
          <p:nvPr/>
        </p:nvSpPr>
        <p:spPr>
          <a:xfrm>
            <a:off x="4686300" y="4381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4AA409-DA09-4C78-94B3-D926D8FF6510}"/>
              </a:ext>
            </a:extLst>
          </p:cNvPr>
          <p:cNvSpPr>
            <a:spLocks noGrp="1"/>
          </p:cNvSpPr>
          <p:nvPr/>
        </p:nvSpPr>
        <p:spPr>
          <a:xfrm>
            <a:off x="4705350" y="49720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Blockers in current demo a11y scan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E453F2-640D-456F-8DC7-E771E0CEED6A}"/>
              </a:ext>
            </a:extLst>
          </p:cNvPr>
          <p:cNvSpPr>
            <a:spLocks noGrp="1"/>
          </p:cNvSpPr>
          <p:nvPr/>
        </p:nvSpPr>
        <p:spPr>
          <a:xfrm>
            <a:off x="4705350" y="52959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Latest target-repo verification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8B7D899-6AE2-4357-866E-9DD291CF8F9F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E4A15B-F670-4EF9-BF4A-CF51865CB0D1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086100" cy="66675"/>
          </a:xfrm>
          <a:prstGeom prst="rect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A5B2CC-9CA6-4860-9CD3-94C6433BEFEF}"/>
              </a:ext>
            </a:extLst>
          </p:cNvPr>
          <p:cNvSpPr>
            <a:spLocks noGrp="1"/>
          </p:cNvSpPr>
          <p:nvPr/>
        </p:nvSpPr>
        <p:spPr>
          <a:xfrm>
            <a:off x="7981950" y="4381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88D696-731D-4E0E-BF79-AA91FFD164F4}"/>
              </a:ext>
            </a:extLst>
          </p:cNvPr>
          <p:cNvSpPr>
            <a:spLocks noGrp="1"/>
          </p:cNvSpPr>
          <p:nvPr/>
        </p:nvSpPr>
        <p:spPr>
          <a:xfrm>
            <a:off x="8001000" y="49720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Visible console for the digital worker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FDCAF6-16A0-49BF-B71B-0D98C7528F71}"/>
              </a:ext>
            </a:extLst>
          </p:cNvPr>
          <p:cNvSpPr>
            <a:spLocks noGrp="1"/>
          </p:cNvSpPr>
          <p:nvPr/>
        </p:nvSpPr>
        <p:spPr>
          <a:xfrm>
            <a:off x="8001000" y="52959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FEDIT dashboard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D8B02C5-EBCE-475E-A61F-9FF161AE529F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22098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2D91F9-5062-4B60-9561-CF0B89CAF7C9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C29E01-3A82-407D-A7DF-DE02EBAB3DE1}"/>
              </a:ext>
            </a:extLst>
          </p:cNvPr>
          <p:cNvSpPr>
            <a:spLocks noGrp="1"/>
          </p:cNvSpPr>
          <p:nvPr/>
        </p:nvSpPr>
        <p:spPr>
          <a:xfrm>
            <a:off x="971550" y="6000750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Oracle VPAT guidance primary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3989DC9-EDD2-4B0E-B9C1-73237B4C66B7}"/>
              </a:ext>
            </a:extLst>
          </p:cNvPr>
          <p:cNvSpPr>
            <a:spLocks noGrp="1"/>
          </p:cNvSpPr>
          <p:nvPr/>
        </p:nvSpPr>
        <p:spPr>
          <a:xfrm>
            <a:off x="3143250" y="590550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47F08A-39F5-4036-80F7-C06F96FBE8A8}"/>
              </a:ext>
            </a:extLst>
          </p:cNvPr>
          <p:cNvSpPr>
            <a:spLocks noGrp="1"/>
          </p:cNvSpPr>
          <p:nvPr/>
        </p:nvSpPr>
        <p:spPr>
          <a:xfrm>
            <a:off x="3143250" y="5905500"/>
            <a:ext cx="76200" cy="3238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99A700-9068-4CD9-89E4-09C81230F0FE}"/>
              </a:ext>
            </a:extLst>
          </p:cNvPr>
          <p:cNvSpPr>
            <a:spLocks noGrp="1"/>
          </p:cNvSpPr>
          <p:nvPr/>
        </p:nvSpPr>
        <p:spPr>
          <a:xfrm>
            <a:off x="3314700" y="600075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WCAG 2.1 AA fallback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31F6A73-7F54-44E4-8654-262F4CB9C771}"/>
              </a:ext>
            </a:extLst>
          </p:cNvPr>
          <p:cNvSpPr>
            <a:spLocks noGrp="1"/>
          </p:cNvSpPr>
          <p:nvPr/>
        </p:nvSpPr>
        <p:spPr>
          <a:xfrm>
            <a:off x="5257800" y="5905500"/>
            <a:ext cx="21336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791F5C-2691-45A9-ADCC-B912036C6D28}"/>
              </a:ext>
            </a:extLst>
          </p:cNvPr>
          <p:cNvSpPr>
            <a:spLocks noGrp="1"/>
          </p:cNvSpPr>
          <p:nvPr/>
        </p:nvSpPr>
        <p:spPr>
          <a:xfrm>
            <a:off x="5257800" y="59055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F3FD50-70DA-4857-BCB3-472D0312B696}"/>
              </a:ext>
            </a:extLst>
          </p:cNvPr>
          <p:cNvSpPr>
            <a:spLocks noGrp="1"/>
          </p:cNvSpPr>
          <p:nvPr/>
        </p:nvSpPr>
        <p:spPr>
          <a:xfrm>
            <a:off x="5429250" y="600075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OCI prompt generation wired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CBA7F6C-5D70-4B1E-89B6-8449FE098A4D}"/>
              </a:ext>
            </a:extLst>
          </p:cNvPr>
          <p:cNvSpPr>
            <a:spLocks noGrp="1"/>
          </p:cNvSpPr>
          <p:nvPr/>
        </p:nvSpPr>
        <p:spPr>
          <a:xfrm>
            <a:off x="7524750" y="5905500"/>
            <a:ext cx="21717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706CA7-E5CD-49CB-808A-A0EF52BD1AE5}"/>
              </a:ext>
            </a:extLst>
          </p:cNvPr>
          <p:cNvSpPr>
            <a:spLocks noGrp="1"/>
          </p:cNvSpPr>
          <p:nvPr/>
        </p:nvSpPr>
        <p:spPr>
          <a:xfrm>
            <a:off x="7524750" y="5905500"/>
            <a:ext cx="76200" cy="3238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EE39FA-FC5C-4D05-BFCA-D9055D3DC693}"/>
              </a:ext>
            </a:extLst>
          </p:cNvPr>
          <p:cNvSpPr>
            <a:spLocks noGrp="1"/>
          </p:cNvSpPr>
          <p:nvPr/>
        </p:nvSpPr>
        <p:spPr>
          <a:xfrm>
            <a:off x="7696200" y="600075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Safe template mode preserved</a:t>
            </a:r>
          </a:p>
        </p:txBody>
      </p:sp>
    </p:spTree>
    <p:extLst>
      <p:ext uri="{BB962C8B-B14F-4D97-AF65-F5344CB8AC3E}">
        <p14:creationId xmlns:p14="http://schemas.microsoft.com/office/powerpoint/2010/main" val="79782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1DE1DE-DDED-4167-9EFA-02C4F6A94D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75ADF-570F-49F1-A8D1-2A401DE53DCC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65FE6-5979-4CCD-B2C3-89F582E2AE35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A5C92-CB56-431B-9E76-1CAF575A929B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D0E2EA-376B-45F9-8B7F-AFBD13DA1262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FB9DC-FB48-46AE-84AD-ADBA9CA343CD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17159-4447-4FE1-B7A3-025DA746C8E0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3D452D-9C9B-4B1C-A0EE-2BCF8DF97C95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723AD-5789-4E17-88E2-FAE82CC50593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810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Simple architecture. Clear control points.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7FC3D7-CBE7-4504-98A8-D577A2DF1D82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A2F2F"/>
                </a:solidFill>
              </a:defRPr>
            </a:pPr>
            <a:r>
              <a:rPr sz="1350" b="0" i="0">
                <a:solidFill>
                  <a:srgbClr val="2A2F2F"/>
                </a:solidFill>
              </a:rPr>
              <a:t>Every layer has one job. That keeps the AI path understandable and safe.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E7F720-081D-4DF5-818A-839D122B02C1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ECD51E-6A9F-43EE-9E52-176BD75B87E1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4315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8498B8-AF3D-4685-8098-AB75556317DD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INPUT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29ED59-24B3-4A6E-87F7-8C6674208E2B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Ticket, acceptance criteria, mockups, constraints, and repo target define the request.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7D8E85-B959-4EB2-9C2E-388FAF298191}"/>
              </a:ext>
            </a:extLst>
          </p:cNvPr>
          <p:cNvSpPr>
            <a:spLocks noGrp="1"/>
          </p:cNvSpPr>
          <p:nvPr/>
        </p:nvSpPr>
        <p:spPr>
          <a:xfrm>
            <a:off x="34290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258315-8C1E-4770-A66A-ADE47DAAFD02}"/>
              </a:ext>
            </a:extLst>
          </p:cNvPr>
          <p:cNvSpPr>
            <a:spLocks noGrp="1"/>
          </p:cNvSpPr>
          <p:nvPr/>
        </p:nvSpPr>
        <p:spPr>
          <a:xfrm>
            <a:off x="3429000" y="2609850"/>
            <a:ext cx="2343150" cy="66675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36AE8C-5FD9-4FA0-9E29-E5CF93BCFFDF}"/>
              </a:ext>
            </a:extLst>
          </p:cNvPr>
          <p:cNvSpPr>
            <a:spLocks noGrp="1"/>
          </p:cNvSpPr>
          <p:nvPr/>
        </p:nvSpPr>
        <p:spPr>
          <a:xfrm>
            <a:off x="36195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PLANNING ENGINE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353E46-DEEF-4C5E-B324-5E471CA2D51F}"/>
              </a:ext>
            </a:extLst>
          </p:cNvPr>
          <p:cNvSpPr>
            <a:spLocks noGrp="1"/>
          </p:cNvSpPr>
          <p:nvPr/>
        </p:nvSpPr>
        <p:spPr>
          <a:xfrm>
            <a:off x="36195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Repo analysis, prompt hardening, design guidance, code and test workpacks, and compliance review.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48656B-860B-41E9-A2EC-5BA32C310A7C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A44326-5814-458D-8059-577B299718B0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2343150" cy="66675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EA355B-FA47-435A-AFB1-6E5CBCD9D40A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CONTROL SURFACE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2FD5D-C259-49F6-B7D9-7557DE7E262A}"/>
              </a:ext>
            </a:extLst>
          </p:cNvPr>
          <p:cNvSpPr>
            <a:spLocks noGrp="1"/>
          </p:cNvSpPr>
          <p:nvPr/>
        </p:nvSpPr>
        <p:spPr>
          <a:xfrm>
            <a:off x="62484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FEDIT shows status, explainability, launch controls, and run telemetry.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6E529F-B80A-45E0-AE4A-541F7C0FF2CE}"/>
              </a:ext>
            </a:extLst>
          </p:cNvPr>
          <p:cNvSpPr>
            <a:spLocks noGrp="1"/>
          </p:cNvSpPr>
          <p:nvPr/>
        </p:nvSpPr>
        <p:spPr>
          <a:xfrm>
            <a:off x="86868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4613AC-CFDA-42D4-B8DE-9788FB664BD3}"/>
              </a:ext>
            </a:extLst>
          </p:cNvPr>
          <p:cNvSpPr>
            <a:spLocks noGrp="1"/>
          </p:cNvSpPr>
          <p:nvPr/>
        </p:nvSpPr>
        <p:spPr>
          <a:xfrm>
            <a:off x="8686800" y="2609850"/>
            <a:ext cx="2343150" cy="66675"/>
          </a:xfrm>
          <a:prstGeom prst="rect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44443A-E13F-44D8-A494-D8AF05F8778A}"/>
              </a:ext>
            </a:extLst>
          </p:cNvPr>
          <p:cNvSpPr>
            <a:spLocks noGrp="1"/>
          </p:cNvSpPr>
          <p:nvPr/>
        </p:nvSpPr>
        <p:spPr>
          <a:xfrm>
            <a:off x="88773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HUMAN DECISION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B8DD8C-A925-4932-80DB-AA38F83E4F12}"/>
              </a:ext>
            </a:extLst>
          </p:cNvPr>
          <p:cNvSpPr>
            <a:spLocks noGrp="1"/>
          </p:cNvSpPr>
          <p:nvPr/>
        </p:nvSpPr>
        <p:spPr>
          <a:xfrm>
            <a:off x="88773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A developer or reviewer inspects artifacts and diffs before approving merge or release.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68CAE8E-7F6A-4281-9057-CD92B891F030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381000" cy="38100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3E0F83AE-4D93-4B7A-BC91-37809D2933EE}"/>
              </a:ext>
            </a:extLst>
          </p:cNvPr>
          <p:cNvSpPr>
            <a:spLocks noGrp="1"/>
          </p:cNvSpPr>
          <p:nvPr/>
        </p:nvSpPr>
        <p:spPr>
          <a:xfrm>
            <a:off x="5486400" y="3448050"/>
            <a:ext cx="381000" cy="381000"/>
          </a:xfrm>
          <a:prstGeom prst="rightArrow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9491358-1CF4-4D0C-88CC-A7B7F0CF983B}"/>
              </a:ext>
            </a:extLst>
          </p:cNvPr>
          <p:cNvSpPr>
            <a:spLocks noGrp="1"/>
          </p:cNvSpPr>
          <p:nvPr/>
        </p:nvSpPr>
        <p:spPr>
          <a:xfrm>
            <a:off x="8115300" y="3448050"/>
            <a:ext cx="381000" cy="381000"/>
          </a:xfrm>
          <a:prstGeom prst="rightArrow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F34A23-DE2D-4898-A8E8-5D47B32507B4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Technology foundation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8E9524E-B144-424F-8CFF-283E0F324F06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866BE1-5B0E-4C9E-84F2-FCEEAA5F106A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51DADA-D6B0-406A-9A13-CA06B2E353B5}"/>
              </a:ext>
            </a:extLst>
          </p:cNvPr>
          <p:cNvSpPr>
            <a:spLocks noGrp="1"/>
          </p:cNvSpPr>
          <p:nvPr/>
        </p:nvSpPr>
        <p:spPr>
          <a:xfrm>
            <a:off x="952500" y="55816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Node.js CLI engine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C402F1A-75C9-48E0-BAAD-B460E2539FD5}"/>
              </a:ext>
            </a:extLst>
          </p:cNvPr>
          <p:cNvSpPr>
            <a:spLocks noGrp="1"/>
          </p:cNvSpPr>
          <p:nvPr/>
        </p:nvSpPr>
        <p:spPr>
          <a:xfrm>
            <a:off x="2286000" y="5505450"/>
            <a:ext cx="142875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B072F9-6939-4AF0-9D05-E28FDDBCD742}"/>
              </a:ext>
            </a:extLst>
          </p:cNvPr>
          <p:cNvSpPr>
            <a:spLocks noGrp="1"/>
          </p:cNvSpPr>
          <p:nvPr/>
        </p:nvSpPr>
        <p:spPr>
          <a:xfrm>
            <a:off x="228600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355050-B173-4355-A98C-87D2958E0C27}"/>
              </a:ext>
            </a:extLst>
          </p:cNvPr>
          <p:cNvSpPr>
            <a:spLocks noGrp="1"/>
          </p:cNvSpPr>
          <p:nvPr/>
        </p:nvSpPr>
        <p:spPr>
          <a:xfrm>
            <a:off x="2438400" y="5581650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FEDIT dashboard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26CBD88-6D91-4350-AD34-5EE7DE2F7E4E}"/>
              </a:ext>
            </a:extLst>
          </p:cNvPr>
          <p:cNvSpPr>
            <a:spLocks noGrp="1"/>
          </p:cNvSpPr>
          <p:nvPr/>
        </p:nvSpPr>
        <p:spPr>
          <a:xfrm>
            <a:off x="3829050" y="5505450"/>
            <a:ext cx="16764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BA4A13-3075-4FC0-95D0-3A109D0FBD66}"/>
              </a:ext>
            </a:extLst>
          </p:cNvPr>
          <p:cNvSpPr>
            <a:spLocks noGrp="1"/>
          </p:cNvSpPr>
          <p:nvPr/>
        </p:nvSpPr>
        <p:spPr>
          <a:xfrm>
            <a:off x="382905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EBD533-88FD-49D3-ADD2-C90A081C935F}"/>
              </a:ext>
            </a:extLst>
          </p:cNvPr>
          <p:cNvSpPr>
            <a:spLocks noGrp="1"/>
          </p:cNvSpPr>
          <p:nvPr/>
        </p:nvSpPr>
        <p:spPr>
          <a:xfrm>
            <a:off x="3981450" y="5581650"/>
            <a:ext cx="1409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Local context server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ABED193-899B-440C-AFE1-E21290EF4139}"/>
              </a:ext>
            </a:extLst>
          </p:cNvPr>
          <p:cNvSpPr>
            <a:spLocks noGrp="1"/>
          </p:cNvSpPr>
          <p:nvPr/>
        </p:nvSpPr>
        <p:spPr>
          <a:xfrm>
            <a:off x="5619750" y="5505450"/>
            <a:ext cx="14859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029918-B7DB-473E-9403-70F0F03FADA8}"/>
              </a:ext>
            </a:extLst>
          </p:cNvPr>
          <p:cNvSpPr>
            <a:spLocks noGrp="1"/>
          </p:cNvSpPr>
          <p:nvPr/>
        </p:nvSpPr>
        <p:spPr>
          <a:xfrm>
            <a:off x="561975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BC6346-5C2B-4BC0-ADDC-3F941A025815}"/>
              </a:ext>
            </a:extLst>
          </p:cNvPr>
          <p:cNvSpPr>
            <a:spLocks noGrp="1"/>
          </p:cNvSpPr>
          <p:nvPr/>
        </p:nvSpPr>
        <p:spPr>
          <a:xfrm>
            <a:off x="5772150" y="558165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OCI GenAI optional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4B3CD86-B504-4ACD-B621-5B9A2BB951F5}"/>
              </a:ext>
            </a:extLst>
          </p:cNvPr>
          <p:cNvSpPr>
            <a:spLocks noGrp="1"/>
          </p:cNvSpPr>
          <p:nvPr/>
        </p:nvSpPr>
        <p:spPr>
          <a:xfrm>
            <a:off x="7219950" y="5505450"/>
            <a:ext cx="165735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1B728D-B8A8-4934-94B9-F6EA44D8F2B2}"/>
              </a:ext>
            </a:extLst>
          </p:cNvPr>
          <p:cNvSpPr>
            <a:spLocks noGrp="1"/>
          </p:cNvSpPr>
          <p:nvPr/>
        </p:nvSpPr>
        <p:spPr>
          <a:xfrm>
            <a:off x="721995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A2172C-FB17-4FBC-B8DF-2A9EFE23FADD}"/>
              </a:ext>
            </a:extLst>
          </p:cNvPr>
          <p:cNvSpPr>
            <a:spLocks noGrp="1"/>
          </p:cNvSpPr>
          <p:nvPr/>
        </p:nvSpPr>
        <p:spPr>
          <a:xfrm>
            <a:off x="7372350" y="5581650"/>
            <a:ext cx="1390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Codex / Cline handoff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B7284C5-2466-4591-8D36-EB1027044444}"/>
              </a:ext>
            </a:extLst>
          </p:cNvPr>
          <p:cNvSpPr>
            <a:spLocks noGrp="1"/>
          </p:cNvSpPr>
          <p:nvPr/>
        </p:nvSpPr>
        <p:spPr>
          <a:xfrm>
            <a:off x="8991600" y="5505450"/>
            <a:ext cx="21717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4376EE-6F3F-40F5-B81A-43A925A7F21F}"/>
              </a:ext>
            </a:extLst>
          </p:cNvPr>
          <p:cNvSpPr>
            <a:spLocks noGrp="1"/>
          </p:cNvSpPr>
          <p:nvPr/>
        </p:nvSpPr>
        <p:spPr>
          <a:xfrm>
            <a:off x="899160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391785-E3F4-4CCA-A443-9D0325BFA865}"/>
              </a:ext>
            </a:extLst>
          </p:cNvPr>
          <p:cNvSpPr>
            <a:spLocks noGrp="1"/>
          </p:cNvSpPr>
          <p:nvPr/>
        </p:nvSpPr>
        <p:spPr>
          <a:xfrm>
            <a:off x="9144000" y="5581650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Oracle VPAT / WCAG mapping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EE9650-8F14-44DF-B7B9-AD2F46021CD6}"/>
              </a:ext>
            </a:extLst>
          </p:cNvPr>
          <p:cNvSpPr>
            <a:spLocks noGrp="1"/>
          </p:cNvSpPr>
          <p:nvPr/>
        </p:nvSpPr>
        <p:spPr>
          <a:xfrm>
            <a:off x="800100" y="6019800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 i="0">
                <a:solidFill>
                  <a:srgbClr val="2A2F2F"/>
                </a:solidFill>
              </a:defRPr>
            </a:pPr>
            <a:r>
              <a:rPr sz="1650" b="1" i="0">
                <a:solidFill>
                  <a:srgbClr val="2A2F2F"/>
                </a:solidFill>
              </a:rPr>
              <a:t>ODT plans. Agents execute. Humans decide.</a:t>
            </a:r>
          </a:p>
        </p:txBody>
      </p:sp>
    </p:spTree>
    <p:extLst>
      <p:ext uri="{BB962C8B-B14F-4D97-AF65-F5344CB8AC3E}">
        <p14:creationId xmlns:p14="http://schemas.microsoft.com/office/powerpoint/2010/main" val="275420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BF1847-0A9B-471F-8620-6906344A20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72551-35D4-4803-A487-47BE55494970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DEVELOPER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7243D8-AC9B-4983-BD86-B8DFF5C3224B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4314A-357E-437E-83B4-CF9CD0090427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23B296-BC19-4ACC-8270-B4E4066E44C2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92DDE-7A0B-4BC9-A2CA-8090263D18B3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66C207-833C-4C11-8EF2-67D19D089D98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05E6C3-8CB3-4147-8EDC-2F90C7EE24AD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ACAFD9-2B18-41C3-8A0B-BBB23E2B3EA2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048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What a developer actually does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74968B-C8E0-43ED-9CDE-E70658BE34C5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A2F2F"/>
                </a:solidFill>
              </a:defRPr>
            </a:pPr>
            <a:r>
              <a:rPr sz="1350" b="0" i="0">
                <a:solidFill>
                  <a:srgbClr val="2A2F2F"/>
                </a:solidFill>
              </a:rPr>
              <a:t>The workflow is simple, even though the engine underneath is rich.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A6109C-A139-4D75-99B2-BFFDF1741293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400050" cy="4000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4FB6EE-0342-4EA9-A8FB-6871BDC26E90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53D2FEA-D001-42ED-8146-675ACF1779D1}"/>
              </a:ext>
            </a:extLst>
          </p:cNvPr>
          <p:cNvSpPr>
            <a:spLocks noGrp="1"/>
          </p:cNvSpPr>
          <p:nvPr/>
        </p:nvSpPr>
        <p:spPr>
          <a:xfrm>
            <a:off x="1371600" y="24193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66D908-9981-4FC5-8921-D60EF94D466A}"/>
              </a:ext>
            </a:extLst>
          </p:cNvPr>
          <p:cNvSpPr>
            <a:spLocks noGrp="1"/>
          </p:cNvSpPr>
          <p:nvPr/>
        </p:nvSpPr>
        <p:spPr>
          <a:xfrm>
            <a:off x="1581150" y="2533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Paste the ticket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0DB7F1-2B1A-4491-8C0C-40AF68AFE316}"/>
              </a:ext>
            </a:extLst>
          </p:cNvPr>
          <p:cNvSpPr>
            <a:spLocks noGrp="1"/>
          </p:cNvSpPr>
          <p:nvPr/>
        </p:nvSpPr>
        <p:spPr>
          <a:xfrm>
            <a:off x="1581150" y="27432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Set the repo and add constraints or design input if needed.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6BA1D7-628F-4124-9BF4-677F306E75A5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400050" cy="400050"/>
          </a:xfrm>
          <a:prstGeom prst="ellipse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2F00D-77CB-484D-838E-123D4EA525D8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C978BE0-0495-4E95-ADFB-81437FEC47D7}"/>
              </a:ext>
            </a:extLst>
          </p:cNvPr>
          <p:cNvSpPr>
            <a:spLocks noGrp="1"/>
          </p:cNvSpPr>
          <p:nvPr/>
        </p:nvSpPr>
        <p:spPr>
          <a:xfrm>
            <a:off x="1371600" y="323850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FCDB00-C416-4D00-BBD2-1CB3D718CDD8}"/>
              </a:ext>
            </a:extLst>
          </p:cNvPr>
          <p:cNvSpPr>
            <a:spLocks noGrp="1"/>
          </p:cNvSpPr>
          <p:nvPr/>
        </p:nvSpPr>
        <p:spPr>
          <a:xfrm>
            <a:off x="1581150" y="33528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Run Digital Worker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3413D0-C760-4592-84F4-A01EBE165BB8}"/>
              </a:ext>
            </a:extLst>
          </p:cNvPr>
          <p:cNvSpPr>
            <a:spLocks noGrp="1"/>
          </p:cNvSpPr>
          <p:nvPr/>
        </p:nvSpPr>
        <p:spPr>
          <a:xfrm>
            <a:off x="1581150" y="356235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ODT runs the seven-stage flow and prepares evidence.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3CE7CFB-EE15-4076-9DDD-5D3432A887B6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00050" cy="400050"/>
          </a:xfrm>
          <a:prstGeom prst="ellipse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01A4F-E777-4D95-95C6-D4F192937D16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075745A-6C50-41BE-85A0-E4AEECFEB21E}"/>
              </a:ext>
            </a:extLst>
          </p:cNvPr>
          <p:cNvSpPr>
            <a:spLocks noGrp="1"/>
          </p:cNvSpPr>
          <p:nvPr/>
        </p:nvSpPr>
        <p:spPr>
          <a:xfrm>
            <a:off x="1371600" y="40576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9C9E49-5ACE-4966-B40E-5477793C4FCB}"/>
              </a:ext>
            </a:extLst>
          </p:cNvPr>
          <p:cNvSpPr>
            <a:spLocks noGrp="1"/>
          </p:cNvSpPr>
          <p:nvPr/>
        </p:nvSpPr>
        <p:spPr>
          <a:xfrm>
            <a:off x="1581150" y="41719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Review the evidence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40892-F434-4F8E-86B9-D313788775F7}"/>
              </a:ext>
            </a:extLst>
          </p:cNvPr>
          <p:cNvSpPr>
            <a:spLocks noGrp="1"/>
          </p:cNvSpPr>
          <p:nvPr/>
        </p:nvSpPr>
        <p:spPr>
          <a:xfrm>
            <a:off x="1581150" y="43815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Impact, design, tests, compliance, and verify outputs appear in FEDIT.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AB9B6EF-E8BA-4546-82F3-49786E33D980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400050" cy="4000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C7C287-8349-4154-BAD5-FD27BADAF237}"/>
              </a:ext>
            </a:extLst>
          </p:cNvPr>
          <p:cNvSpPr>
            <a:spLocks noGrp="1"/>
          </p:cNvSpPr>
          <p:nvPr/>
        </p:nvSpPr>
        <p:spPr>
          <a:xfrm>
            <a:off x="800100" y="4991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640BA7-6877-46C3-A877-77996FA571FA}"/>
              </a:ext>
            </a:extLst>
          </p:cNvPr>
          <p:cNvSpPr>
            <a:spLocks noGrp="1"/>
          </p:cNvSpPr>
          <p:nvPr/>
        </p:nvSpPr>
        <p:spPr>
          <a:xfrm>
            <a:off x="1371600" y="487680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40A921-0959-48A9-AF26-269798975D9E}"/>
              </a:ext>
            </a:extLst>
          </p:cNvPr>
          <p:cNvSpPr>
            <a:spLocks noGrp="1"/>
          </p:cNvSpPr>
          <p:nvPr/>
        </p:nvSpPr>
        <p:spPr>
          <a:xfrm>
            <a:off x="1581150" y="49911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Delegate to agent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22C3EF-1F6B-4C5E-94A3-2F6D3D87C89D}"/>
              </a:ext>
            </a:extLst>
          </p:cNvPr>
          <p:cNvSpPr>
            <a:spLocks noGrp="1"/>
          </p:cNvSpPr>
          <p:nvPr/>
        </p:nvSpPr>
        <p:spPr>
          <a:xfrm>
            <a:off x="1581150" y="520065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Codex or Cline can implement with prepared guidance.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D62CA92-4567-4C10-B441-4D901EA52109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400050" cy="4000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AD648D-ED7A-42F7-BA66-858F1D2EC282}"/>
              </a:ext>
            </a:extLst>
          </p:cNvPr>
          <p:cNvSpPr>
            <a:spLocks noGrp="1"/>
          </p:cNvSpPr>
          <p:nvPr/>
        </p:nvSpPr>
        <p:spPr>
          <a:xfrm>
            <a:off x="800100" y="58102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44C4410-4ACC-4B37-ACE1-091A8083926F}"/>
              </a:ext>
            </a:extLst>
          </p:cNvPr>
          <p:cNvSpPr>
            <a:spLocks noGrp="1"/>
          </p:cNvSpPr>
          <p:nvPr/>
        </p:nvSpPr>
        <p:spPr>
          <a:xfrm>
            <a:off x="1371600" y="56959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B8B203-4E9E-43A9-A5BA-4F37125B1C25}"/>
              </a:ext>
            </a:extLst>
          </p:cNvPr>
          <p:cNvSpPr>
            <a:spLocks noGrp="1"/>
          </p:cNvSpPr>
          <p:nvPr/>
        </p:nvSpPr>
        <p:spPr>
          <a:xfrm>
            <a:off x="1581150" y="58102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Approve or reject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37547-CCE6-47A2-8644-FA9934B62E30}"/>
              </a:ext>
            </a:extLst>
          </p:cNvPr>
          <p:cNvSpPr>
            <a:spLocks noGrp="1"/>
          </p:cNvSpPr>
          <p:nvPr/>
        </p:nvSpPr>
        <p:spPr>
          <a:xfrm>
            <a:off x="1581150" y="60198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A human reviewer still decides before merge.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F20506C-17B5-4F32-9B81-E3355C1A47C1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4895850" cy="4000500"/>
          </a:xfrm>
          <a:prstGeom prst="roundRect">
            <a:avLst>
              <a:gd name="adj" fmla="val 1905"/>
            </a:avLst>
          </a:prstGeom>
          <a:solidFill>
            <a:srgbClr val="181B20"/>
          </a:solidFill>
          <a:ln w="1143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BCC3E2F-A47B-441E-B797-7443A0714D72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4552950" cy="438150"/>
          </a:xfrm>
          <a:prstGeom prst="roundRect">
            <a:avLst>
              <a:gd name="adj" fmla="val 17391"/>
            </a:avLst>
          </a:prstGeom>
          <a:solidFill>
            <a:srgbClr val="2226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84FE27F-C0FD-4AA3-9B76-C70C79822A2B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12549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96100" y="2438400"/>
            <a:ext cx="266700" cy="266700"/>
          </a:xfrm>
          <a:prstGeom prst="round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0F74AC2-0E83-46BF-B21D-9873A48CE350}"/>
              </a:ext>
            </a:extLst>
          </p:cNvPr>
          <p:cNvSpPr>
            <a:spLocks noGrp="1"/>
          </p:cNvSpPr>
          <p:nvPr/>
        </p:nvSpPr>
        <p:spPr>
          <a:xfrm>
            <a:off x="7277100" y="2533650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975" b="1" i="0">
                <a:solidFill>
                  <a:srgbClr val="FFFFFF">
                    <a:alpha val="80000"/>
                  </a:srgbClr>
                </a:solidFill>
              </a:rPr>
              <a:t>FEDIT Digital Worker Console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D159FF8-D3C9-43DF-B393-963CCC67CB73}"/>
              </a:ext>
            </a:extLst>
          </p:cNvPr>
          <p:cNvSpPr>
            <a:spLocks noGrp="1"/>
          </p:cNvSpPr>
          <p:nvPr/>
        </p:nvSpPr>
        <p:spPr>
          <a:xfrm>
            <a:off x="9582150" y="2438400"/>
            <a:ext cx="1600200" cy="285750"/>
          </a:xfrm>
          <a:prstGeom prst="roundRect">
            <a:avLst>
              <a:gd name="adj" fmla="val 26667"/>
            </a:avLst>
          </a:prstGeom>
          <a:solidFill>
            <a:srgbClr val="C7463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97F193-56B2-4BB9-AD36-B547FB3A3F8C}"/>
              </a:ext>
            </a:extLst>
          </p:cNvPr>
          <p:cNvSpPr>
            <a:spLocks noGrp="1"/>
          </p:cNvSpPr>
          <p:nvPr/>
        </p:nvSpPr>
        <p:spPr>
          <a:xfrm>
            <a:off x="9734550" y="2533650"/>
            <a:ext cx="1295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RUN DIGITAL WORKER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A847544-1A11-4DC5-B13C-3F7CC409AAB2}"/>
              </a:ext>
            </a:extLst>
          </p:cNvPr>
          <p:cNvSpPr>
            <a:spLocks noGrp="1"/>
          </p:cNvSpPr>
          <p:nvPr/>
        </p:nvSpPr>
        <p:spPr>
          <a:xfrm>
            <a:off x="6838950" y="299085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224C02-7B12-469B-AC5C-5C173A65E6C3}"/>
              </a:ext>
            </a:extLst>
          </p:cNvPr>
          <p:cNvSpPr>
            <a:spLocks noGrp="1"/>
          </p:cNvSpPr>
          <p:nvPr/>
        </p:nvSpPr>
        <p:spPr>
          <a:xfrm>
            <a:off x="6991350" y="31432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Prompt Hardening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2B4FFE-3C24-46DC-86FD-C6F6146FD21C}"/>
              </a:ext>
            </a:extLst>
          </p:cNvPr>
          <p:cNvSpPr>
            <a:spLocks noGrp="1"/>
          </p:cNvSpPr>
          <p:nvPr/>
        </p:nvSpPr>
        <p:spPr>
          <a:xfrm>
            <a:off x="6991350" y="3409950"/>
            <a:ext cx="1066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Structured intake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and stage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controls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84C60CF6-E72A-4E3C-B9BB-6E128A28CD7C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262667-60D3-41DB-BC11-34EA0CD94CBB}"/>
              </a:ext>
            </a:extLst>
          </p:cNvPr>
          <p:cNvSpPr>
            <a:spLocks noGrp="1"/>
          </p:cNvSpPr>
          <p:nvPr/>
        </p:nvSpPr>
        <p:spPr>
          <a:xfrm>
            <a:off x="8648700" y="314325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Visible Agent Workflow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4120C9-AB49-4B5A-B7E2-4917BE35DBE6}"/>
              </a:ext>
            </a:extLst>
          </p:cNvPr>
          <p:cNvSpPr>
            <a:spLocks noGrp="1"/>
          </p:cNvSpPr>
          <p:nvPr/>
        </p:nvSpPr>
        <p:spPr>
          <a:xfrm>
            <a:off x="8648700" y="3409950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Impact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Design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7A62CC-1B6E-4002-AD9C-E0E84EB939C6}"/>
              </a:ext>
            </a:extLst>
          </p:cNvPr>
          <p:cNvSpPr>
            <a:spLocks noGrp="1"/>
          </p:cNvSpPr>
          <p:nvPr/>
        </p:nvSpPr>
        <p:spPr>
          <a:xfrm>
            <a:off x="9467850" y="3409950"/>
            <a:ext cx="95250" cy="3810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08C00B-D1F5-4C8F-B364-E22FA20B79E2}"/>
              </a:ext>
            </a:extLst>
          </p:cNvPr>
          <p:cNvSpPr>
            <a:spLocks noGrp="1"/>
          </p:cNvSpPr>
          <p:nvPr/>
        </p:nvSpPr>
        <p:spPr>
          <a:xfrm>
            <a:off x="9658350" y="3409950"/>
            <a:ext cx="95250" cy="49530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5DF083-2EBB-4A9C-8DDD-11B902509C41}"/>
              </a:ext>
            </a:extLst>
          </p:cNvPr>
          <p:cNvSpPr>
            <a:spLocks noGrp="1"/>
          </p:cNvSpPr>
          <p:nvPr/>
        </p:nvSpPr>
        <p:spPr>
          <a:xfrm>
            <a:off x="9848850" y="3409950"/>
            <a:ext cx="95250" cy="3238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30D0241-0A9D-496F-AF14-2A46BA48098B}"/>
              </a:ext>
            </a:extLst>
          </p:cNvPr>
          <p:cNvSpPr>
            <a:spLocks noGrp="1"/>
          </p:cNvSpPr>
          <p:nvPr/>
        </p:nvSpPr>
        <p:spPr>
          <a:xfrm>
            <a:off x="10325100" y="2990850"/>
            <a:ext cx="106680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5885FE-73D7-4B66-9F83-64C77C6A9D38}"/>
              </a:ext>
            </a:extLst>
          </p:cNvPr>
          <p:cNvSpPr>
            <a:spLocks noGrp="1"/>
          </p:cNvSpPr>
          <p:nvPr/>
        </p:nvSpPr>
        <p:spPr>
          <a:xfrm>
            <a:off x="10477500" y="31432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Explainability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2CAE144-6E79-41C8-BD1F-C519304D1F97}"/>
              </a:ext>
            </a:extLst>
          </p:cNvPr>
          <p:cNvSpPr>
            <a:spLocks noGrp="1"/>
          </p:cNvSpPr>
          <p:nvPr/>
        </p:nvSpPr>
        <p:spPr>
          <a:xfrm>
            <a:off x="10477500" y="3409950"/>
            <a:ext cx="800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Ranked files,</a:t>
            </a:r>
          </a:p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prompts,</a:t>
            </a:r>
          </a:p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notes.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DA04FFA-A2EF-4837-8D38-EE255C2765D6}"/>
              </a:ext>
            </a:extLst>
          </p:cNvPr>
          <p:cNvSpPr>
            <a:spLocks noGrp="1"/>
          </p:cNvSpPr>
          <p:nvPr/>
        </p:nvSpPr>
        <p:spPr>
          <a:xfrm>
            <a:off x="6838950" y="4248150"/>
            <a:ext cx="4552950" cy="1771650"/>
          </a:xfrm>
          <a:prstGeom prst="roundRect">
            <a:avLst>
              <a:gd name="adj" fmla="val 4301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51E031-44A5-4509-8229-822BFC4AC544}"/>
              </a:ext>
            </a:extLst>
          </p:cNvPr>
          <p:cNvSpPr>
            <a:spLocks noGrp="1"/>
          </p:cNvSpPr>
          <p:nvPr/>
        </p:nvSpPr>
        <p:spPr>
          <a:xfrm>
            <a:off x="6991350" y="44005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Completion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8A4851-3DD9-4BFC-AF47-29D2ECD458B6}"/>
              </a:ext>
            </a:extLst>
          </p:cNvPr>
          <p:cNvSpPr>
            <a:spLocks noGrp="1"/>
          </p:cNvSpPr>
          <p:nvPr/>
        </p:nvSpPr>
        <p:spPr>
          <a:xfrm>
            <a:off x="6991350" y="4591050"/>
            <a:ext cx="171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Ready for</a:t>
            </a:r>
          </a:p>
          <a:p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B0E5EA-1AC3-4584-B4CE-1B1CE370628E}"/>
              </a:ext>
            </a:extLst>
          </p:cNvPr>
          <p:cNvSpPr>
            <a:spLocks noGrp="1"/>
          </p:cNvSpPr>
          <p:nvPr/>
        </p:nvSpPr>
        <p:spPr>
          <a:xfrm>
            <a:off x="6991350" y="5162550"/>
            <a:ext cx="2247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80000"/>
                  </a:srgbClr>
                </a:solidFill>
              </a:rPr>
              <a:t>Human review stays</a:t>
            </a:r>
          </a:p>
          <a:p>
            <a:pPr algn="l">
              <a:defRPr sz="10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80000"/>
                  </a:srgbClr>
                </a:solidFill>
              </a:rPr>
              <a:t>the final decision point.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B0627C30-62A5-4725-B9A4-759C99545F79}"/>
              </a:ext>
            </a:extLst>
          </p:cNvPr>
          <p:cNvSpPr>
            <a:spLocks noGrp="1"/>
          </p:cNvSpPr>
          <p:nvPr/>
        </p:nvSpPr>
        <p:spPr>
          <a:xfrm>
            <a:off x="9696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E51C38-20D2-4919-96E6-4E8B906BB362}"/>
              </a:ext>
            </a:extLst>
          </p:cNvPr>
          <p:cNvSpPr>
            <a:spLocks noGrp="1"/>
          </p:cNvSpPr>
          <p:nvPr/>
        </p:nvSpPr>
        <p:spPr>
          <a:xfrm>
            <a:off x="9810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Intake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BF9BA4CD-955C-4019-97FF-EB9DA0695C13}"/>
              </a:ext>
            </a:extLst>
          </p:cNvPr>
          <p:cNvSpPr>
            <a:spLocks noGrp="1"/>
          </p:cNvSpPr>
          <p:nvPr/>
        </p:nvSpPr>
        <p:spPr>
          <a:xfrm>
            <a:off x="10839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CB4F94A-7F6B-44E0-853B-0AEE1E84AA17}"/>
              </a:ext>
            </a:extLst>
          </p:cNvPr>
          <p:cNvSpPr>
            <a:spLocks noGrp="1"/>
          </p:cNvSpPr>
          <p:nvPr/>
        </p:nvSpPr>
        <p:spPr>
          <a:xfrm>
            <a:off x="10953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DE7364B-236D-476A-8486-0E3F5D9F50B0}"/>
              </a:ext>
            </a:extLst>
          </p:cNvPr>
          <p:cNvSpPr>
            <a:spLocks noGrp="1"/>
          </p:cNvSpPr>
          <p:nvPr/>
        </p:nvSpPr>
        <p:spPr>
          <a:xfrm>
            <a:off x="11982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65159E-27CD-4EB3-ACD1-E348F8E672E9}"/>
              </a:ext>
            </a:extLst>
          </p:cNvPr>
          <p:cNvSpPr>
            <a:spLocks noGrp="1"/>
          </p:cNvSpPr>
          <p:nvPr/>
        </p:nvSpPr>
        <p:spPr>
          <a:xfrm>
            <a:off x="12096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9924390-2564-4A7B-BF8E-A9BAE10C8952}"/>
              </a:ext>
            </a:extLst>
          </p:cNvPr>
          <p:cNvSpPr>
            <a:spLocks noGrp="1"/>
          </p:cNvSpPr>
          <p:nvPr/>
        </p:nvSpPr>
        <p:spPr>
          <a:xfrm>
            <a:off x="13125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C718E45-E82D-412E-8F72-DD8762B41983}"/>
              </a:ext>
            </a:extLst>
          </p:cNvPr>
          <p:cNvSpPr>
            <a:spLocks noGrp="1"/>
          </p:cNvSpPr>
          <p:nvPr/>
        </p:nvSpPr>
        <p:spPr>
          <a:xfrm>
            <a:off x="13239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E4F4579-B15D-4ED2-8A34-16DF2C64A6E2}"/>
              </a:ext>
            </a:extLst>
          </p:cNvPr>
          <p:cNvSpPr>
            <a:spLocks noGrp="1"/>
          </p:cNvSpPr>
          <p:nvPr/>
        </p:nvSpPr>
        <p:spPr>
          <a:xfrm>
            <a:off x="9696450" y="50101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D15ADE-2422-491F-9B6E-C07187A1A28A}"/>
              </a:ext>
            </a:extLst>
          </p:cNvPr>
          <p:cNvSpPr>
            <a:spLocks noGrp="1"/>
          </p:cNvSpPr>
          <p:nvPr/>
        </p:nvSpPr>
        <p:spPr>
          <a:xfrm>
            <a:off x="9810750" y="50958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E20564CD-E98C-4D23-A93C-2F8F6DC928B2}"/>
              </a:ext>
            </a:extLst>
          </p:cNvPr>
          <p:cNvSpPr>
            <a:spLocks noGrp="1"/>
          </p:cNvSpPr>
          <p:nvPr/>
        </p:nvSpPr>
        <p:spPr>
          <a:xfrm>
            <a:off x="10839450" y="50101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B6B68A0-9211-4813-A6BD-6D5D04D8F02B}"/>
              </a:ext>
            </a:extLst>
          </p:cNvPr>
          <p:cNvSpPr>
            <a:spLocks noGrp="1"/>
          </p:cNvSpPr>
          <p:nvPr/>
        </p:nvSpPr>
        <p:spPr>
          <a:xfrm>
            <a:off x="10953750" y="50958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39F50821-13F4-43AE-8AB4-CFAC2D14B0F5}"/>
              </a:ext>
            </a:extLst>
          </p:cNvPr>
          <p:cNvSpPr>
            <a:spLocks noGrp="1"/>
          </p:cNvSpPr>
          <p:nvPr/>
        </p:nvSpPr>
        <p:spPr>
          <a:xfrm>
            <a:off x="11982450" y="50101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173AA27-9E2F-464D-9238-FD49CD5E9038}"/>
              </a:ext>
            </a:extLst>
          </p:cNvPr>
          <p:cNvSpPr>
            <a:spLocks noGrp="1"/>
          </p:cNvSpPr>
          <p:nvPr/>
        </p:nvSpPr>
        <p:spPr>
          <a:xfrm>
            <a:off x="12096750" y="50958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3E9114C-DAD9-42B5-9426-6C10516E5507}"/>
              </a:ext>
            </a:extLst>
          </p:cNvPr>
          <p:cNvSpPr>
            <a:spLocks noGrp="1"/>
          </p:cNvSpPr>
          <p:nvPr/>
        </p:nvSpPr>
        <p:spPr>
          <a:xfrm>
            <a:off x="9544050" y="56769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627"/>
            </a:srgbClr>
          </a:solidFill>
          <a:ln w="9525">
            <a:solidFill>
              <a:srgbClr val="FFFFFF">
                <a:alpha val="1411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C9E8623-05B0-4D6C-82E9-19CF644D7544}"/>
              </a:ext>
            </a:extLst>
          </p:cNvPr>
          <p:cNvSpPr>
            <a:spLocks noGrp="1"/>
          </p:cNvSpPr>
          <p:nvPr/>
        </p:nvSpPr>
        <p:spPr>
          <a:xfrm>
            <a:off x="9544050" y="5676900"/>
            <a:ext cx="76200" cy="2857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AEC44B-620D-440B-8B06-90E66AE97247}"/>
              </a:ext>
            </a:extLst>
          </p:cNvPr>
          <p:cNvSpPr>
            <a:spLocks noGrp="1"/>
          </p:cNvSpPr>
          <p:nvPr/>
        </p:nvSpPr>
        <p:spPr>
          <a:xfrm>
            <a:off x="9715500" y="5772150"/>
            <a:ext cx="1333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DELEGATE TO AGENT</a:t>
            </a:r>
          </a:p>
        </p:txBody>
      </p:sp>
    </p:spTree>
    <p:extLst>
      <p:ext uri="{BB962C8B-B14F-4D97-AF65-F5344CB8AC3E}">
        <p14:creationId xmlns:p14="http://schemas.microsoft.com/office/powerpoint/2010/main" val="148213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8DA680-C6AD-4366-905F-D7FEDA7594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BA80E-AD45-4E42-B679-5046CB6EFF97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TRUST AND GOVERNANCE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13E66-8C60-4DEC-A3DC-BEDC89B59D6E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B71EF-40F2-4307-9A8D-9A72122421EB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9B1D5-E39C-4BF9-9A57-4F0CE7FE09B4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F1EC-9B5A-4D55-96DE-F7787585BCF1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5B96D-9E07-4449-9AC2-F7328FF52838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46472F-86C8-4AC5-9FE6-5C735D0E961B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A6A30C-4089-4A57-9797-CF2B717AD0A3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239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Trust is built 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FD2F99-0D5E-47B7-96F4-097F1F823200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Human review, accessibility, traceability, and fallback behavior are part of the product.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49A0828-EAA3-489C-877E-F27DB1E0B8C2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457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EC7FC-CCF3-469D-A21E-C63A4A43821A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0C8E1E-7C6E-4234-B169-E7852CA15324}"/>
              </a:ext>
            </a:extLst>
          </p:cNvPr>
          <p:cNvSpPr>
            <a:spLocks noGrp="1"/>
          </p:cNvSpPr>
          <p:nvPr/>
        </p:nvSpPr>
        <p:spPr>
          <a:xfrm>
            <a:off x="971550" y="2114550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Speed with visible control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1E3522-934B-4957-96D2-52150CD493F1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493395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B69F88-9B9B-448E-A51A-A803A8B4796C}"/>
              </a:ext>
            </a:extLst>
          </p:cNvPr>
          <p:cNvSpPr>
            <a:spLocks noGrp="1"/>
          </p:cNvSpPr>
          <p:nvPr/>
        </p:nvSpPr>
        <p:spPr>
          <a:xfrm>
            <a:off x="1028700" y="2895600"/>
            <a:ext cx="247650" cy="2476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56B822-DE86-402F-B1A2-023381DB24D1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403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Human in the loop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1020A9-01DB-429B-9607-D80B014C69EA}"/>
              </a:ext>
            </a:extLst>
          </p:cNvPr>
          <p:cNvSpPr>
            <a:spLocks noGrp="1"/>
          </p:cNvSpPr>
          <p:nvPr/>
        </p:nvSpPr>
        <p:spPr>
          <a:xfrm>
            <a:off x="1028700" y="32575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Merge and release decisions stay with a developer or reviewer. ODT accelerates preparation, not accountability transfer.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85A3D65-4230-4360-9663-7CF7CA9536AC}"/>
              </a:ext>
            </a:extLst>
          </p:cNvPr>
          <p:cNvSpPr>
            <a:spLocks noGrp="1"/>
          </p:cNvSpPr>
          <p:nvPr/>
        </p:nvSpPr>
        <p:spPr>
          <a:xfrm>
            <a:off x="5981700" y="2686050"/>
            <a:ext cx="541020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840130-A20C-47F6-9F7E-221F02D4AD92}"/>
              </a:ext>
            </a:extLst>
          </p:cNvPr>
          <p:cNvSpPr>
            <a:spLocks noGrp="1"/>
          </p:cNvSpPr>
          <p:nvPr/>
        </p:nvSpPr>
        <p:spPr>
          <a:xfrm>
            <a:off x="6210300" y="2895600"/>
            <a:ext cx="247650" cy="247650"/>
          </a:xfrm>
          <a:prstGeom prst="ellipse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A0425B-FFF6-4FA2-82DD-57A78BEF1A62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451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Accessibility by default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63D72-133E-494A-A33B-3D781C44DCC4}"/>
              </a:ext>
            </a:extLst>
          </p:cNvPr>
          <p:cNvSpPr>
            <a:spLocks noGrp="1"/>
          </p:cNvSpPr>
          <p:nvPr/>
        </p:nvSpPr>
        <p:spPr>
          <a:xfrm>
            <a:off x="6210300" y="3257550"/>
            <a:ext cx="495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Oracle VPAT guidance is treated as primary, with WCAG fallback and manual evidence checks preserved.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44C658E-B855-4A3D-A062-D98380B308BD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493395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AECEC2-EBFD-4AD5-8A5E-68A2FF4D43E9}"/>
              </a:ext>
            </a:extLst>
          </p:cNvPr>
          <p:cNvSpPr>
            <a:spLocks noGrp="1"/>
          </p:cNvSpPr>
          <p:nvPr/>
        </p:nvSpPr>
        <p:spPr>
          <a:xfrm>
            <a:off x="1028700" y="4457700"/>
            <a:ext cx="247650" cy="247650"/>
          </a:xfrm>
          <a:prstGeom prst="ellipse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961BEF-3FDE-403A-8ABE-13211691EF53}"/>
              </a:ext>
            </a:extLst>
          </p:cNvPr>
          <p:cNvSpPr>
            <a:spLocks noGrp="1"/>
          </p:cNvSpPr>
          <p:nvPr/>
        </p:nvSpPr>
        <p:spPr>
          <a:xfrm>
            <a:off x="1428750" y="4419600"/>
            <a:ext cx="403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Explainability and audit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DD959C-3C11-4E00-81A0-F78C181AF68B}"/>
              </a:ext>
            </a:extLst>
          </p:cNvPr>
          <p:cNvSpPr>
            <a:spLocks noGrp="1"/>
          </p:cNvSpPr>
          <p:nvPr/>
        </p:nvSpPr>
        <p:spPr>
          <a:xfrm>
            <a:off x="1028700" y="48196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Runs create durable artifacts, prompt traces, ranked files, and reviewable evidence instead of hidden reasoning.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C05847-5AF7-4A17-9FE0-0E1B226860EB}"/>
              </a:ext>
            </a:extLst>
          </p:cNvPr>
          <p:cNvSpPr>
            <a:spLocks noGrp="1"/>
          </p:cNvSpPr>
          <p:nvPr/>
        </p:nvSpPr>
        <p:spPr>
          <a:xfrm>
            <a:off x="5981700" y="4248150"/>
            <a:ext cx="541020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A425A5-C6DE-4A73-97A4-8C0481998CAA}"/>
              </a:ext>
            </a:extLst>
          </p:cNvPr>
          <p:cNvSpPr>
            <a:spLocks noGrp="1"/>
          </p:cNvSpPr>
          <p:nvPr/>
        </p:nvSpPr>
        <p:spPr>
          <a:xfrm>
            <a:off x="6210300" y="4457700"/>
            <a:ext cx="247650" cy="2476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51743E-ACF5-4A9F-988B-808969FF2B89}"/>
              </a:ext>
            </a:extLst>
          </p:cNvPr>
          <p:cNvSpPr>
            <a:spLocks noGrp="1"/>
          </p:cNvSpPr>
          <p:nvPr/>
        </p:nvSpPr>
        <p:spPr>
          <a:xfrm>
            <a:off x="6610350" y="4419600"/>
            <a:ext cx="451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AI resilience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3C013A-DEB7-430F-BB09-6BCE6FE3AC38}"/>
              </a:ext>
            </a:extLst>
          </p:cNvPr>
          <p:cNvSpPr>
            <a:spLocks noGrp="1"/>
          </p:cNvSpPr>
          <p:nvPr/>
        </p:nvSpPr>
        <p:spPr>
          <a:xfrm>
            <a:off x="6210300" y="4819650"/>
            <a:ext cx="495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OCI-backed prompt generation is optional and hybrid; safe template mode stays available for continuity.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DD4672-DEAB-41AC-A0CD-683889514CA9}"/>
              </a:ext>
            </a:extLst>
          </p:cNvPr>
          <p:cNvSpPr>
            <a:spLocks noGrp="1"/>
          </p:cNvSpPr>
          <p:nvPr/>
        </p:nvSpPr>
        <p:spPr>
          <a:xfrm>
            <a:off x="800100" y="59626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ODT makes risk visible before it becomes release risk.</a:t>
            </a:r>
          </a:p>
        </p:txBody>
      </p:sp>
    </p:spTree>
    <p:extLst>
      <p:ext uri="{BB962C8B-B14F-4D97-AF65-F5344CB8AC3E}">
        <p14:creationId xmlns:p14="http://schemas.microsoft.com/office/powerpoint/2010/main" val="139778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AC8050-0561-437A-A09D-E87A46ECE5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CA6C8-3AC6-48A5-8161-C0058D566287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STRATEGIC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8EBAC-6C66-4DD2-A0DF-A08553EFF047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7F97E0-9954-4B24-867E-EFDB8F378FEA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F57FBA-759F-488E-B3CE-7A7277D1D832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C9775-6096-47B6-A350-ECB53AD76142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1E6469-1426-431A-A4E3-FBC8C833F1BA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F4FE89-CE3A-4DE1-AA0F-ED0F268A1F6E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A1E1A3-08BE-4FDE-9AB3-AA032A59A349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429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What this brings to Oracle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92F61C-AD06-4378-ACB2-B4A7A45E358E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A2F2F"/>
                </a:solidFill>
              </a:defRPr>
            </a:pPr>
            <a:r>
              <a:rPr sz="1350" b="0" i="0">
                <a:solidFill>
                  <a:srgbClr val="2A2F2F"/>
                </a:solidFill>
              </a:rPr>
              <a:t>ODT is a reusable Oracle pattern for safer, faster software delivery.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101459-44E8-4E87-BFC3-506DE4C37486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3276600" cy="26098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143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FCC1B2-8833-4AD4-BD61-714D5CCB6936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3276600" cy="762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2BC020-B543-4ED1-AA4D-394BB2E78236}"/>
              </a:ext>
            </a:extLst>
          </p:cNvPr>
          <p:cNvSpPr>
            <a:spLocks noGrp="1"/>
          </p:cNvSpPr>
          <p:nvPr/>
        </p:nvSpPr>
        <p:spPr>
          <a:xfrm>
            <a:off x="4857750" y="3333750"/>
            <a:ext cx="247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 i="0">
                <a:solidFill>
                  <a:srgbClr val="98231C"/>
                </a:solidFill>
              </a:defRPr>
            </a:pPr>
            <a:r>
              <a:rPr sz="2100" b="1" i="0">
                <a:solidFill>
                  <a:srgbClr val="98231C"/>
                </a:solidFill>
              </a:rPr>
              <a:t>Reusable</a:t>
            </a:r>
          </a:p>
          <a:p>
            <a:pPr algn="ctr">
              <a:defRPr sz="2100" b="1" i="0">
                <a:solidFill>
                  <a:srgbClr val="98231C"/>
                </a:solidFill>
              </a:defRPr>
            </a:pPr>
            <a:r>
              <a:rPr sz="2100" b="1" i="0">
                <a:solidFill>
                  <a:srgbClr val="98231C"/>
                </a:solidFill>
              </a:rPr>
              <a:t>Oracle pattern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7CA7C-734D-4599-8FE0-06527357E3FB}"/>
              </a:ext>
            </a:extLst>
          </p:cNvPr>
          <p:cNvSpPr>
            <a:spLocks noGrp="1"/>
          </p:cNvSpPr>
          <p:nvPr/>
        </p:nvSpPr>
        <p:spPr>
          <a:xfrm>
            <a:off x="5105400" y="4210050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Governable AI</a:t>
            </a:r>
          </a:p>
          <a:p>
            <a:pPr algn="ctr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delivery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8A4018-1BD8-4657-9CE1-B8A75CC02E47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4AAA2F-6541-4F34-95AB-ABD5AF6E7F0D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76200" cy="11239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23C80-2D74-41C9-BE13-66D3306766AB}"/>
              </a:ext>
            </a:extLst>
          </p:cNvPr>
          <p:cNvSpPr>
            <a:spLocks noGrp="1"/>
          </p:cNvSpPr>
          <p:nvPr/>
        </p:nvSpPr>
        <p:spPr>
          <a:xfrm>
            <a:off x="1028700" y="27622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Standardized readiness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D1166F-4E11-46BC-9934-FDF80FEABCCF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Brings consistency to intake, impact, test scope, and review evidence.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69D46C-AC9D-453A-9861-D855FFD76467}"/>
              </a:ext>
            </a:extLst>
          </p:cNvPr>
          <p:cNvSpPr>
            <a:spLocks noGrp="1"/>
          </p:cNvSpPr>
          <p:nvPr/>
        </p:nvSpPr>
        <p:spPr>
          <a:xfrm>
            <a:off x="8648700" y="25908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BFC66C-FA12-41F5-9687-21845BF64909}"/>
              </a:ext>
            </a:extLst>
          </p:cNvPr>
          <p:cNvSpPr>
            <a:spLocks noGrp="1"/>
          </p:cNvSpPr>
          <p:nvPr/>
        </p:nvSpPr>
        <p:spPr>
          <a:xfrm>
            <a:off x="8648700" y="2590800"/>
            <a:ext cx="76200" cy="11239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1DB208-D8A0-4BEB-81B0-9E4D98791157}"/>
              </a:ext>
            </a:extLst>
          </p:cNvPr>
          <p:cNvSpPr>
            <a:spLocks noGrp="1"/>
          </p:cNvSpPr>
          <p:nvPr/>
        </p:nvSpPr>
        <p:spPr>
          <a:xfrm>
            <a:off x="8877300" y="27622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Higher quality confidence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D993FE-1BE5-4255-A408-103CEAC4554F}"/>
              </a:ext>
            </a:extLst>
          </p:cNvPr>
          <p:cNvSpPr>
            <a:spLocks noGrp="1"/>
          </p:cNvSpPr>
          <p:nvPr/>
        </p:nvSpPr>
        <p:spPr>
          <a:xfrm>
            <a:off x="8877300" y="30861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Keeps accessibility and verification visible earlier in delivery.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5BA3CF-70D4-4958-952D-B3B7F1563F42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DD4853-8BB6-4786-9E08-20AE3A8F4A66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76200" cy="11239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A789D1-9519-49DD-AD29-885FB662E23E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Faster onboarding and handoff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D50D86-9C54-4DD0-9383-6C1DA7079E84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Developers and agents receive clearer context instead of tribal knowledge.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75374DD-37B1-477E-8161-76E3D283A6BF}"/>
              </a:ext>
            </a:extLst>
          </p:cNvPr>
          <p:cNvSpPr>
            <a:spLocks noGrp="1"/>
          </p:cNvSpPr>
          <p:nvPr/>
        </p:nvSpPr>
        <p:spPr>
          <a:xfrm>
            <a:off x="8648700" y="41910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00C8F1-52B6-45D9-9B2A-337B8BA10194}"/>
              </a:ext>
            </a:extLst>
          </p:cNvPr>
          <p:cNvSpPr>
            <a:spLocks noGrp="1"/>
          </p:cNvSpPr>
          <p:nvPr/>
        </p:nvSpPr>
        <p:spPr>
          <a:xfrm>
            <a:off x="8648700" y="4191000"/>
            <a:ext cx="76200" cy="1123950"/>
          </a:xfrm>
          <a:prstGeom prst="rect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2C21A2-A082-44E0-B440-D701814AD45A}"/>
              </a:ext>
            </a:extLst>
          </p:cNvPr>
          <p:cNvSpPr>
            <a:spLocks noGrp="1"/>
          </p:cNvSpPr>
          <p:nvPr/>
        </p:nvSpPr>
        <p:spPr>
          <a:xfrm>
            <a:off x="8877300" y="43624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Foundation for 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05B722-775A-46FC-BAA1-FD98E8AB782F}"/>
              </a:ext>
            </a:extLst>
          </p:cNvPr>
          <p:cNvSpPr>
            <a:spLocks noGrp="1"/>
          </p:cNvSpPr>
          <p:nvPr/>
        </p:nvSpPr>
        <p:spPr>
          <a:xfrm>
            <a:off x="8877300" y="46863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The same pattern can expand beyond React and beyond frontend over time.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B8646DB-4560-495E-9E53-69D6F4E41ED0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E1333B-E934-4F12-9B9D-7B08497F7D22}"/>
              </a:ext>
            </a:extLst>
          </p:cNvPr>
          <p:cNvSpPr>
            <a:spLocks noGrp="1"/>
          </p:cNvSpPr>
          <p:nvPr/>
        </p:nvSpPr>
        <p:spPr>
          <a:xfrm>
            <a:off x="1771650" y="60198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Frontend today</a:t>
            </a: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5AA37EDF-68F5-4C68-99CE-E50C5FFCC305}"/>
              </a:ext>
            </a:extLst>
          </p:cNvPr>
          <p:cNvSpPr>
            <a:spLocks noGrp="1"/>
          </p:cNvSpPr>
          <p:nvPr/>
        </p:nvSpPr>
        <p:spPr>
          <a:xfrm>
            <a:off x="3524250" y="5943600"/>
            <a:ext cx="666750" cy="28575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7BD4A-AB52-4016-94AE-62339DB950CD}"/>
              </a:ext>
            </a:extLst>
          </p:cNvPr>
          <p:cNvSpPr>
            <a:spLocks noGrp="1"/>
          </p:cNvSpPr>
          <p:nvPr/>
        </p:nvSpPr>
        <p:spPr>
          <a:xfrm>
            <a:off x="4572000" y="60198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More stacks next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0137A60D-5D7E-4A4B-BFE8-804F5672B246}"/>
              </a:ext>
            </a:extLst>
          </p:cNvPr>
          <p:cNvSpPr>
            <a:spLocks noGrp="1"/>
          </p:cNvSpPr>
          <p:nvPr/>
        </p:nvSpPr>
        <p:spPr>
          <a:xfrm>
            <a:off x="6191250" y="5943600"/>
            <a:ext cx="666750" cy="285750"/>
          </a:xfrm>
          <a:prstGeom prst="rightArrow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FBF488-278C-4111-ABC4-AEE89EF1E853}"/>
              </a:ext>
            </a:extLst>
          </p:cNvPr>
          <p:cNvSpPr>
            <a:spLocks noGrp="1"/>
          </p:cNvSpPr>
          <p:nvPr/>
        </p:nvSpPr>
        <p:spPr>
          <a:xfrm>
            <a:off x="7239000" y="60198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Broader digital workers later</a:t>
            </a:r>
          </a:p>
        </p:txBody>
      </p:sp>
    </p:spTree>
    <p:extLst>
      <p:ext uri="{BB962C8B-B14F-4D97-AF65-F5344CB8AC3E}">
        <p14:creationId xmlns:p14="http://schemas.microsoft.com/office/powerpoint/2010/main" val="150520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59654B-2A9A-4EB5-BBA5-FF75A75A7B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532A4-9913-48C4-8DE0-DA0E594C7B11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CLOSING TAKEAWAY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5C132C-7C12-4422-AA4F-C352D1971DCC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02BA3-1DF8-4A1C-8D46-1BF77BD53C57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5CE60D-6E95-4386-A6D2-489EA9704B35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1548A0-6AA0-47B5-A009-B1B1B0147833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947902-F600-40F8-8B96-F3FACDECED9F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AF0B10A-7596-4342-90CA-1C0708A8BED8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761" y="1040608"/>
            <a:ext cx="2819400" cy="2714623"/>
          </a:xfrm>
          <a:prstGeom prst="round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DE675C3-B4B2-44F0-BCC6-67E16232D06E}"/>
              </a:ext>
            </a:extLst>
          </p:cNvPr>
          <p:cNvSpPr>
            <a:spLocks noGrp="1"/>
          </p:cNvSpPr>
          <p:nvPr/>
        </p:nvSpPr>
        <p:spPr>
          <a:xfrm>
            <a:off x="3790950" y="1200150"/>
            <a:ext cx="6667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 dirty="0">
                <a:solidFill>
                  <a:srgbClr val="FFFFFF"/>
                </a:solidFill>
              </a:rPr>
              <a:t>From ticket to trust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88B9C-B6F4-4F57-A771-F52D9236FAD9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650" b="0" i="0" dirty="0">
                <a:solidFill>
                  <a:srgbClr val="FFFFFF">
                    <a:alpha val="80000"/>
                  </a:srgbClr>
                </a:solidFill>
              </a:rPr>
              <a:t>ODT makes the invisible work before coding visible, guided, and repeatable.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6B7F930-9B8A-446B-BF0B-6C606798B5F0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9C12F3-8283-4D98-B06A-2DB9BC9D4C01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76200" cy="11430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8861DE-E13A-4753-B6E0-9C8BF5BE7C69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REMOVES HIDDEN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680B0-489B-414D-9BA2-CCAD2F2779C2}"/>
              </a:ext>
            </a:extLst>
          </p:cNvPr>
          <p:cNvSpPr>
            <a:spLocks noGrp="1"/>
          </p:cNvSpPr>
          <p:nvPr/>
        </p:nvSpPr>
        <p:spPr>
          <a:xfrm>
            <a:off x="1028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It cuts the planning work that slows teams before code starts.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DBCF1E4-22B5-4B24-A609-6096BCCA8EA6}"/>
              </a:ext>
            </a:extLst>
          </p:cNvPr>
          <p:cNvSpPr>
            <a:spLocks noGrp="1"/>
          </p:cNvSpPr>
          <p:nvPr/>
        </p:nvSpPr>
        <p:spPr>
          <a:xfrm>
            <a:off x="3848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A3100A-9678-4B68-98D1-F9E2BC23AF76}"/>
              </a:ext>
            </a:extLst>
          </p:cNvPr>
          <p:cNvSpPr>
            <a:spLocks noGrp="1"/>
          </p:cNvSpPr>
          <p:nvPr/>
        </p:nvSpPr>
        <p:spPr>
          <a:xfrm>
            <a:off x="3848100" y="4914900"/>
            <a:ext cx="76200" cy="114300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6A989E-2DC5-422C-96E5-274C68F97709}"/>
              </a:ext>
            </a:extLst>
          </p:cNvPr>
          <p:cNvSpPr>
            <a:spLocks noGrp="1"/>
          </p:cNvSpPr>
          <p:nvPr/>
        </p:nvSpPr>
        <p:spPr>
          <a:xfrm>
            <a:off x="4076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KEEPS OWNERSHIP HUMAN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68EF0B-762B-4E2F-96F7-7205A823B4DC}"/>
              </a:ext>
            </a:extLst>
          </p:cNvPr>
          <p:cNvSpPr>
            <a:spLocks noGrp="1"/>
          </p:cNvSpPr>
          <p:nvPr/>
        </p:nvSpPr>
        <p:spPr>
          <a:xfrm>
            <a:off x="4076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The worker prepares and explains. The developer still decides.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97FF694-254E-469A-BFFC-954C772CFF37}"/>
              </a:ext>
            </a:extLst>
          </p:cNvPr>
          <p:cNvSpPr>
            <a:spLocks noGrp="1"/>
          </p:cNvSpPr>
          <p:nvPr/>
        </p:nvSpPr>
        <p:spPr>
          <a:xfrm>
            <a:off x="6896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59E0AD-D761-4B44-982D-62643B7ABB66}"/>
              </a:ext>
            </a:extLst>
          </p:cNvPr>
          <p:cNvSpPr>
            <a:spLocks noGrp="1"/>
          </p:cNvSpPr>
          <p:nvPr/>
        </p:nvSpPr>
        <p:spPr>
          <a:xfrm>
            <a:off x="6896100" y="4914900"/>
            <a:ext cx="76200" cy="114300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6FA9B7-6DA5-44BB-B2F7-A5CEB5D0C53E}"/>
              </a:ext>
            </a:extLst>
          </p:cNvPr>
          <p:cNvSpPr>
            <a:spLocks noGrp="1"/>
          </p:cNvSpPr>
          <p:nvPr/>
        </p:nvSpPr>
        <p:spPr>
          <a:xfrm>
            <a:off x="7124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READY TO SCALE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97165A-FC6F-4332-BAB8-2F38686FA0D8}"/>
              </a:ext>
            </a:extLst>
          </p:cNvPr>
          <p:cNvSpPr>
            <a:spLocks noGrp="1"/>
          </p:cNvSpPr>
          <p:nvPr/>
        </p:nvSpPr>
        <p:spPr>
          <a:xfrm>
            <a:off x="7124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It is already live in FEDIT and ready to grow.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87C0B00-6E60-4EE4-B01B-A2C2492B43D2}"/>
              </a:ext>
            </a:extLst>
          </p:cNvPr>
          <p:cNvSpPr>
            <a:spLocks noGrp="1"/>
          </p:cNvSpPr>
          <p:nvPr/>
        </p:nvSpPr>
        <p:spPr>
          <a:xfrm>
            <a:off x="8362950" y="1885950"/>
            <a:ext cx="28956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70DA72-B8BB-42C4-9705-952E5A46F7C8}"/>
              </a:ext>
            </a:extLst>
          </p:cNvPr>
          <p:cNvSpPr>
            <a:spLocks noGrp="1"/>
          </p:cNvSpPr>
          <p:nvPr/>
        </p:nvSpPr>
        <p:spPr>
          <a:xfrm>
            <a:off x="8362950" y="188595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C9D481-4470-42BF-82A8-42E9BF1A87C1}"/>
              </a:ext>
            </a:extLst>
          </p:cNvPr>
          <p:cNvSpPr>
            <a:spLocks noGrp="1"/>
          </p:cNvSpPr>
          <p:nvPr/>
        </p:nvSpPr>
        <p:spPr>
          <a:xfrm>
            <a:off x="8534400" y="1981200"/>
            <a:ext cx="2590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Run -&gt; Review -&gt; Delegate -&gt; Approve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80A032-7FDA-4ED1-94A7-AF1800B86AAE}"/>
              </a:ext>
            </a:extLst>
          </p:cNvPr>
          <p:cNvSpPr>
            <a:spLocks noGrp="1"/>
          </p:cNvSpPr>
          <p:nvPr/>
        </p:nvSpPr>
        <p:spPr>
          <a:xfrm>
            <a:off x="8343900" y="2552700"/>
            <a:ext cx="27432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This is not just faster AI. It is safer, review-ready delivery.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E04F7B-9E5A-45A1-A489-55094A3136CB}"/>
              </a:ext>
            </a:extLst>
          </p:cNvPr>
          <p:cNvSpPr>
            <a:spLocks noGrp="1"/>
          </p:cNvSpPr>
          <p:nvPr/>
        </p:nvSpPr>
        <p:spPr>
          <a:xfrm>
            <a:off x="8362950" y="3581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72157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72157"/>
                  </a:srgbClr>
                </a:solidFill>
              </a:rPr>
              <a:t>That is the delivery value.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9E1771-B936-B6FF-7AF1-B0B87B39956C}"/>
              </a:ext>
            </a:extLst>
          </p:cNvPr>
          <p:cNvSpPr/>
          <p:nvPr/>
        </p:nvSpPr>
        <p:spPr>
          <a:xfrm>
            <a:off x="3790950" y="2285998"/>
            <a:ext cx="4133850" cy="1143001"/>
          </a:xfrm>
          <a:prstGeom prst="roundRect">
            <a:avLst/>
          </a:prstGeom>
          <a:solidFill>
            <a:srgbClr val="FF0000">
              <a:alpha val="5827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4587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1734</Words>
  <Application>Microsoft Macintosh PowerPoint</Application>
  <DocSecurity>0</DocSecurity>
  <PresentationFormat>Widescreen</PresentationFormat>
  <Paragraphs>287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Vijay N</cp:lastModifiedBy>
  <cp:revision>8</cp:revision>
  <dcterms:created xsi:type="dcterms:W3CDTF">2026-04-23T11:33:40Z</dcterms:created>
  <dcterms:modified xsi:type="dcterms:W3CDTF">2026-04-23T12:43:33Z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ChatGPT:6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ChatGPT:5</vt:lpwstr>
  </property>
  <property fmtid="{D5CDD505-2E9C-101B-9397-08002B2CF9AE}" pid="5" name="ClassificationContentMarkingHeaderText">
    <vt:lpwstr>Confidential - Oracle Restricted \Employees Only</vt:lpwstr>
  </property>
</Properties>
</file>