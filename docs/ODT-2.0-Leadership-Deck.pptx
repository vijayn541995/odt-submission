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09"/>
    <p:restoredTop sz="94678"/>
  </p:normalViewPr>
  <p:slideViewPr>
    <p:cSldViewPr snapToGrid="0">
      <p:cViewPr varScale="1">
        <p:scale>
          <a:sx n="138" d="100"/>
          <a:sy n="138" d="100"/>
        </p:scale>
        <p:origin x="176" y="4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ODT 2.0 should be positioned as the enterprise control plane around AI coding workers, not as a replacement for Codex or Cline.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slide updates the original problem statement to show why AI coding alone is incomplete in enterprise delivery.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slide clearly separates ODT from coding assistants: ODT is not competing with Codex; ODT orchestrates and governs Codex-style workers.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is the 'what is built today' slide. It is intentionally product-surface focused.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is the updated workflow diagram. It replaces the earlier 7-stage concept with the current ODT 2.0 requirement-to-PR-ready flow.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user emphasized sequential relay between planner, developer, reviewer, and verifier. This slide makes that core product idea explicit.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is the ODT 2.0 architecture slide. It intentionally simplifies the older dark architecture while preserving the same visual family.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user called out customization for team/company policy packs, WCAG/VPAT, coding standards, and do/don't rules. This slide captures that.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slide explains why ODT matters for cost and privacy, not only productivity.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is the future improvement slide requested by the user. It includes OCI GenAI/OCA, MCP, auth/RBAC, DB awareness, and connector upgrades.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slide reflects the recent ODT behavior work: completed Jira verification should launch Reviewer and Build Verifier before PR Ready.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Final summary slide: ODT is the enterprise control plane for agentic AI development.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EA3BE25-49FC-F611-9A56-CA9D695C0212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63500" y="63500"/>
            <a:ext cx="270986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Confidential - Oracle Restricted \Employees Only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E808EF8-8CA1-D772-AB62-B54EC11FB1C0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42100"/>
            <a:ext cx="270986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Confidential - Oracle Restricted \Employees Only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Rectangle 98">
            <a:extLst>
              <a:ext uri="{FF2B5EF4-FFF2-40B4-BE49-F238E27FC236}">
                <a16:creationId xmlns:a16="http://schemas.microsoft.com/office/drawing/2014/main" id="{2F76EFD4-7D4E-4ABE-888C-93B9576F7E6A}"/>
              </a:ext>
            </a:extLst>
          </p:cNvPr>
          <p:cNvSpPr>
            <a:spLocks noGrp="1"/>
          </p:cNvSpPr>
          <p:nvPr/>
        </p:nvSpPr>
        <p:spPr>
          <a:xfrm>
            <a:off x="-8467" y="228600"/>
            <a:ext cx="12192000" cy="6858000"/>
          </a:xfrm>
          <a:prstGeom prst="rect">
            <a:avLst/>
          </a:prstGeom>
          <a:solidFill>
            <a:srgbClr val="F7F4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ED6410D6-0BB3-48E5-B669-E114CA2BF665}"/>
              </a:ext>
            </a:extLst>
          </p:cNvPr>
          <p:cNvSpPr>
            <a:spLocks noGrp="1"/>
          </p:cNvSpPr>
          <p:nvPr/>
        </p:nvSpPr>
        <p:spPr>
          <a:xfrm>
            <a:off x="6858000" y="323850"/>
            <a:ext cx="1714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B7817F51-D6BB-419C-AC2C-ECF26EF33CF1}"/>
              </a:ext>
            </a:extLst>
          </p:cNvPr>
          <p:cNvSpPr>
            <a:spLocks noGrp="1"/>
          </p:cNvSpPr>
          <p:nvPr/>
        </p:nvSpPr>
        <p:spPr>
          <a:xfrm>
            <a:off x="7105650" y="361950"/>
            <a:ext cx="26670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8BD8EC69-EC3C-4023-9D33-810A2900AF01}"/>
              </a:ext>
            </a:extLst>
          </p:cNvPr>
          <p:cNvSpPr>
            <a:spLocks noGrp="1"/>
          </p:cNvSpPr>
          <p:nvPr/>
        </p:nvSpPr>
        <p:spPr>
          <a:xfrm>
            <a:off x="7353300" y="400050"/>
            <a:ext cx="3619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28EFE094-6D15-4CA1-843F-C18713BAD85F}"/>
              </a:ext>
            </a:extLst>
          </p:cNvPr>
          <p:cNvSpPr>
            <a:spLocks noGrp="1"/>
          </p:cNvSpPr>
          <p:nvPr/>
        </p:nvSpPr>
        <p:spPr>
          <a:xfrm>
            <a:off x="7600950" y="323850"/>
            <a:ext cx="45720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4ED2DF30-25BF-4D2D-B0AA-76C9440D2846}"/>
              </a:ext>
            </a:extLst>
          </p:cNvPr>
          <p:cNvSpPr>
            <a:spLocks noGrp="1"/>
          </p:cNvSpPr>
          <p:nvPr/>
        </p:nvSpPr>
        <p:spPr>
          <a:xfrm>
            <a:off x="7848600" y="361950"/>
            <a:ext cx="5524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F3204C56-1B3E-4419-A8BD-1E3ED791EB34}"/>
              </a:ext>
            </a:extLst>
          </p:cNvPr>
          <p:cNvSpPr>
            <a:spLocks noGrp="1"/>
          </p:cNvSpPr>
          <p:nvPr/>
        </p:nvSpPr>
        <p:spPr>
          <a:xfrm>
            <a:off x="8096250" y="400050"/>
            <a:ext cx="1714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19F090DD-24D7-48CD-8D74-F9684B464591}"/>
              </a:ext>
            </a:extLst>
          </p:cNvPr>
          <p:cNvSpPr>
            <a:spLocks noGrp="1"/>
          </p:cNvSpPr>
          <p:nvPr/>
        </p:nvSpPr>
        <p:spPr>
          <a:xfrm>
            <a:off x="8343900" y="323850"/>
            <a:ext cx="26670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B36C1BAE-0A65-459C-A437-D53E195CF471}"/>
              </a:ext>
            </a:extLst>
          </p:cNvPr>
          <p:cNvSpPr>
            <a:spLocks noGrp="1"/>
          </p:cNvSpPr>
          <p:nvPr/>
        </p:nvSpPr>
        <p:spPr>
          <a:xfrm>
            <a:off x="8591550" y="361950"/>
            <a:ext cx="3619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095BEDDA-A312-4BFE-94B5-2007F7C2B3D7}"/>
              </a:ext>
            </a:extLst>
          </p:cNvPr>
          <p:cNvSpPr>
            <a:spLocks noGrp="1"/>
          </p:cNvSpPr>
          <p:nvPr/>
        </p:nvSpPr>
        <p:spPr>
          <a:xfrm>
            <a:off x="8839200" y="400050"/>
            <a:ext cx="45720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97A352F1-D8F1-4A41-A29D-95D6F6C48E3A}"/>
              </a:ext>
            </a:extLst>
          </p:cNvPr>
          <p:cNvSpPr>
            <a:spLocks noGrp="1"/>
          </p:cNvSpPr>
          <p:nvPr/>
        </p:nvSpPr>
        <p:spPr>
          <a:xfrm>
            <a:off x="9086850" y="323850"/>
            <a:ext cx="5524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ED287FEF-CDD8-407C-9C0D-B839FB8849FD}"/>
              </a:ext>
            </a:extLst>
          </p:cNvPr>
          <p:cNvSpPr>
            <a:spLocks noGrp="1"/>
          </p:cNvSpPr>
          <p:nvPr/>
        </p:nvSpPr>
        <p:spPr>
          <a:xfrm>
            <a:off x="9334500" y="361950"/>
            <a:ext cx="1714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508A10DA-5CBB-4364-8EEB-C76556490346}"/>
              </a:ext>
            </a:extLst>
          </p:cNvPr>
          <p:cNvSpPr>
            <a:spLocks noGrp="1"/>
          </p:cNvSpPr>
          <p:nvPr/>
        </p:nvSpPr>
        <p:spPr>
          <a:xfrm>
            <a:off x="9582150" y="400050"/>
            <a:ext cx="26670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48271448-8002-4EEC-913B-288543B58A6E}"/>
              </a:ext>
            </a:extLst>
          </p:cNvPr>
          <p:cNvSpPr>
            <a:spLocks noGrp="1"/>
          </p:cNvSpPr>
          <p:nvPr/>
        </p:nvSpPr>
        <p:spPr>
          <a:xfrm>
            <a:off x="9829800" y="323850"/>
            <a:ext cx="3619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FADFD4A8-917C-49C3-8BA2-A61EEEC018CC}"/>
              </a:ext>
            </a:extLst>
          </p:cNvPr>
          <p:cNvSpPr>
            <a:spLocks noGrp="1"/>
          </p:cNvSpPr>
          <p:nvPr/>
        </p:nvSpPr>
        <p:spPr>
          <a:xfrm>
            <a:off x="10077450" y="361950"/>
            <a:ext cx="45720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0A98F766-B433-4A9C-958E-FE439AA8ABF5}"/>
              </a:ext>
            </a:extLst>
          </p:cNvPr>
          <p:cNvSpPr>
            <a:spLocks noGrp="1"/>
          </p:cNvSpPr>
          <p:nvPr/>
        </p:nvSpPr>
        <p:spPr>
          <a:xfrm>
            <a:off x="10325100" y="400050"/>
            <a:ext cx="5524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8E42059B-E958-40C9-B121-E5A38E5E8D9C}"/>
              </a:ext>
            </a:extLst>
          </p:cNvPr>
          <p:cNvSpPr>
            <a:spLocks noGrp="1"/>
          </p:cNvSpPr>
          <p:nvPr/>
        </p:nvSpPr>
        <p:spPr>
          <a:xfrm>
            <a:off x="10572750" y="323850"/>
            <a:ext cx="1714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69D84408-5C5C-4E2A-8F4E-60D7B7A532FC}"/>
              </a:ext>
            </a:extLst>
          </p:cNvPr>
          <p:cNvSpPr>
            <a:spLocks noGrp="1"/>
          </p:cNvSpPr>
          <p:nvPr/>
        </p:nvSpPr>
        <p:spPr>
          <a:xfrm>
            <a:off x="6972300" y="552450"/>
            <a:ext cx="26670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4026EECC-ECE7-4EAF-B2C8-7B037CACC497}"/>
              </a:ext>
            </a:extLst>
          </p:cNvPr>
          <p:cNvSpPr>
            <a:spLocks noGrp="1"/>
          </p:cNvSpPr>
          <p:nvPr/>
        </p:nvSpPr>
        <p:spPr>
          <a:xfrm>
            <a:off x="7219950" y="590550"/>
            <a:ext cx="3619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400937F5-52F8-42FE-A9FB-8BBE042C1D78}"/>
              </a:ext>
            </a:extLst>
          </p:cNvPr>
          <p:cNvSpPr>
            <a:spLocks noGrp="1"/>
          </p:cNvSpPr>
          <p:nvPr/>
        </p:nvSpPr>
        <p:spPr>
          <a:xfrm>
            <a:off x="7467600" y="628650"/>
            <a:ext cx="45720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E16F43AD-C956-4B2F-AA30-E3D18D3028D5}"/>
              </a:ext>
            </a:extLst>
          </p:cNvPr>
          <p:cNvSpPr>
            <a:spLocks noGrp="1"/>
          </p:cNvSpPr>
          <p:nvPr/>
        </p:nvSpPr>
        <p:spPr>
          <a:xfrm>
            <a:off x="7715250" y="552450"/>
            <a:ext cx="5524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A4A61B5E-5546-486E-A11D-9EA153FE3ADB}"/>
              </a:ext>
            </a:extLst>
          </p:cNvPr>
          <p:cNvSpPr>
            <a:spLocks noGrp="1"/>
          </p:cNvSpPr>
          <p:nvPr/>
        </p:nvSpPr>
        <p:spPr>
          <a:xfrm>
            <a:off x="7962900" y="590550"/>
            <a:ext cx="1714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F2684B6C-ADAA-410E-A11D-1400367D063F}"/>
              </a:ext>
            </a:extLst>
          </p:cNvPr>
          <p:cNvSpPr>
            <a:spLocks noGrp="1"/>
          </p:cNvSpPr>
          <p:nvPr/>
        </p:nvSpPr>
        <p:spPr>
          <a:xfrm>
            <a:off x="8210550" y="628650"/>
            <a:ext cx="26670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F4E8FA62-C034-40C9-9956-35B11EC6B458}"/>
              </a:ext>
            </a:extLst>
          </p:cNvPr>
          <p:cNvSpPr>
            <a:spLocks noGrp="1"/>
          </p:cNvSpPr>
          <p:nvPr/>
        </p:nvSpPr>
        <p:spPr>
          <a:xfrm>
            <a:off x="8458200" y="552450"/>
            <a:ext cx="3619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AB5F5CB3-8FC2-468C-AB9E-A60BF37A1BD8}"/>
              </a:ext>
            </a:extLst>
          </p:cNvPr>
          <p:cNvSpPr>
            <a:spLocks noGrp="1"/>
          </p:cNvSpPr>
          <p:nvPr/>
        </p:nvSpPr>
        <p:spPr>
          <a:xfrm>
            <a:off x="8705850" y="590550"/>
            <a:ext cx="45720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BC76FB36-2C4E-4A1C-9AFB-940CAB3D8BA8}"/>
              </a:ext>
            </a:extLst>
          </p:cNvPr>
          <p:cNvSpPr>
            <a:spLocks noGrp="1"/>
          </p:cNvSpPr>
          <p:nvPr/>
        </p:nvSpPr>
        <p:spPr>
          <a:xfrm>
            <a:off x="8953500" y="628650"/>
            <a:ext cx="5524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83B52C77-1D20-45D9-949E-E4980CD68D6C}"/>
              </a:ext>
            </a:extLst>
          </p:cNvPr>
          <p:cNvSpPr>
            <a:spLocks noGrp="1"/>
          </p:cNvSpPr>
          <p:nvPr/>
        </p:nvSpPr>
        <p:spPr>
          <a:xfrm>
            <a:off x="9201150" y="552450"/>
            <a:ext cx="1714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129DF0FA-5646-4737-9D80-0B228D45F144}"/>
              </a:ext>
            </a:extLst>
          </p:cNvPr>
          <p:cNvSpPr>
            <a:spLocks noGrp="1"/>
          </p:cNvSpPr>
          <p:nvPr/>
        </p:nvSpPr>
        <p:spPr>
          <a:xfrm>
            <a:off x="9448800" y="590550"/>
            <a:ext cx="26670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6D28EEE2-61B0-48A7-8180-AFBA0567D556}"/>
              </a:ext>
            </a:extLst>
          </p:cNvPr>
          <p:cNvSpPr>
            <a:spLocks noGrp="1"/>
          </p:cNvSpPr>
          <p:nvPr/>
        </p:nvSpPr>
        <p:spPr>
          <a:xfrm>
            <a:off x="9696450" y="628650"/>
            <a:ext cx="3619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AF23BC7A-256A-49E8-8447-F4B7260BE679}"/>
              </a:ext>
            </a:extLst>
          </p:cNvPr>
          <p:cNvSpPr>
            <a:spLocks noGrp="1"/>
          </p:cNvSpPr>
          <p:nvPr/>
        </p:nvSpPr>
        <p:spPr>
          <a:xfrm>
            <a:off x="9944100" y="552450"/>
            <a:ext cx="45720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11A2643D-038D-4381-A0CD-0A51ABCCD38A}"/>
              </a:ext>
            </a:extLst>
          </p:cNvPr>
          <p:cNvSpPr>
            <a:spLocks noGrp="1"/>
          </p:cNvSpPr>
          <p:nvPr/>
        </p:nvSpPr>
        <p:spPr>
          <a:xfrm>
            <a:off x="10191750" y="590550"/>
            <a:ext cx="5524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7892441A-9978-4A9E-925C-C7172987D667}"/>
              </a:ext>
            </a:extLst>
          </p:cNvPr>
          <p:cNvSpPr>
            <a:spLocks noGrp="1"/>
          </p:cNvSpPr>
          <p:nvPr/>
        </p:nvSpPr>
        <p:spPr>
          <a:xfrm>
            <a:off x="10439400" y="628650"/>
            <a:ext cx="1714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688F4C85-847B-4ED9-A8EA-8EF5F8D9C1CC}"/>
              </a:ext>
            </a:extLst>
          </p:cNvPr>
          <p:cNvSpPr>
            <a:spLocks noGrp="1"/>
          </p:cNvSpPr>
          <p:nvPr/>
        </p:nvSpPr>
        <p:spPr>
          <a:xfrm>
            <a:off x="10687050" y="552450"/>
            <a:ext cx="26670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BBC1DC8A-8C7A-45B6-8F88-BEC21064AA8C}"/>
              </a:ext>
            </a:extLst>
          </p:cNvPr>
          <p:cNvSpPr>
            <a:spLocks noGrp="1"/>
          </p:cNvSpPr>
          <p:nvPr/>
        </p:nvSpPr>
        <p:spPr>
          <a:xfrm>
            <a:off x="6858000" y="781050"/>
            <a:ext cx="3619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BE789224-7A60-4815-8E03-7501A53CA375}"/>
              </a:ext>
            </a:extLst>
          </p:cNvPr>
          <p:cNvSpPr>
            <a:spLocks noGrp="1"/>
          </p:cNvSpPr>
          <p:nvPr/>
        </p:nvSpPr>
        <p:spPr>
          <a:xfrm>
            <a:off x="7105650" y="819150"/>
            <a:ext cx="45720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64A4479D-1ADE-49A6-A7C0-24364190E128}"/>
              </a:ext>
            </a:extLst>
          </p:cNvPr>
          <p:cNvSpPr>
            <a:spLocks noGrp="1"/>
          </p:cNvSpPr>
          <p:nvPr/>
        </p:nvSpPr>
        <p:spPr>
          <a:xfrm>
            <a:off x="7353300" y="857250"/>
            <a:ext cx="5524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6E29AE42-517E-43BB-AE03-D2DCF3C42271}"/>
              </a:ext>
            </a:extLst>
          </p:cNvPr>
          <p:cNvSpPr>
            <a:spLocks noGrp="1"/>
          </p:cNvSpPr>
          <p:nvPr/>
        </p:nvSpPr>
        <p:spPr>
          <a:xfrm>
            <a:off x="7600950" y="781050"/>
            <a:ext cx="1714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06F778FD-6559-4664-8EF5-9D5D074962A5}"/>
              </a:ext>
            </a:extLst>
          </p:cNvPr>
          <p:cNvSpPr>
            <a:spLocks noGrp="1"/>
          </p:cNvSpPr>
          <p:nvPr/>
        </p:nvSpPr>
        <p:spPr>
          <a:xfrm>
            <a:off x="7848600" y="819150"/>
            <a:ext cx="26670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7C17603A-D444-423E-AAD4-83409640FB94}"/>
              </a:ext>
            </a:extLst>
          </p:cNvPr>
          <p:cNvSpPr>
            <a:spLocks noGrp="1"/>
          </p:cNvSpPr>
          <p:nvPr/>
        </p:nvSpPr>
        <p:spPr>
          <a:xfrm>
            <a:off x="8096250" y="857250"/>
            <a:ext cx="3619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1D4FB73B-F5C0-44B9-BCF7-7AD0613A702E}"/>
              </a:ext>
            </a:extLst>
          </p:cNvPr>
          <p:cNvSpPr>
            <a:spLocks noGrp="1"/>
          </p:cNvSpPr>
          <p:nvPr/>
        </p:nvSpPr>
        <p:spPr>
          <a:xfrm>
            <a:off x="8343900" y="781050"/>
            <a:ext cx="45720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92BED0B0-C52A-4AA1-9136-BBCF12EABCFB}"/>
              </a:ext>
            </a:extLst>
          </p:cNvPr>
          <p:cNvSpPr>
            <a:spLocks noGrp="1"/>
          </p:cNvSpPr>
          <p:nvPr/>
        </p:nvSpPr>
        <p:spPr>
          <a:xfrm>
            <a:off x="8591550" y="819150"/>
            <a:ext cx="5524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AC1FA901-4B7E-42D8-8D96-1E45A4BE0B17}"/>
              </a:ext>
            </a:extLst>
          </p:cNvPr>
          <p:cNvSpPr>
            <a:spLocks noGrp="1"/>
          </p:cNvSpPr>
          <p:nvPr/>
        </p:nvSpPr>
        <p:spPr>
          <a:xfrm>
            <a:off x="8839200" y="857250"/>
            <a:ext cx="1714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B7B56D4C-3EEA-486D-8258-5474CDA8B0C0}"/>
              </a:ext>
            </a:extLst>
          </p:cNvPr>
          <p:cNvSpPr>
            <a:spLocks noGrp="1"/>
          </p:cNvSpPr>
          <p:nvPr/>
        </p:nvSpPr>
        <p:spPr>
          <a:xfrm>
            <a:off x="9086850" y="781050"/>
            <a:ext cx="26670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AF8AE39A-DAA3-4EAC-826C-29C9BA87020C}"/>
              </a:ext>
            </a:extLst>
          </p:cNvPr>
          <p:cNvSpPr>
            <a:spLocks noGrp="1"/>
          </p:cNvSpPr>
          <p:nvPr/>
        </p:nvSpPr>
        <p:spPr>
          <a:xfrm>
            <a:off x="9334500" y="819150"/>
            <a:ext cx="3619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Rounded Rectangle 44">
            <a:extLst>
              <a:ext uri="{FF2B5EF4-FFF2-40B4-BE49-F238E27FC236}">
                <a16:creationId xmlns:a16="http://schemas.microsoft.com/office/drawing/2014/main" id="{C3EA43F9-A4FC-4B48-86AC-47C09D7C4771}"/>
              </a:ext>
            </a:extLst>
          </p:cNvPr>
          <p:cNvSpPr>
            <a:spLocks noGrp="1"/>
          </p:cNvSpPr>
          <p:nvPr/>
        </p:nvSpPr>
        <p:spPr>
          <a:xfrm>
            <a:off x="9582150" y="857250"/>
            <a:ext cx="45720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Rounded Rectangle 45">
            <a:extLst>
              <a:ext uri="{FF2B5EF4-FFF2-40B4-BE49-F238E27FC236}">
                <a16:creationId xmlns:a16="http://schemas.microsoft.com/office/drawing/2014/main" id="{CA92EB06-E2BC-45ED-BB75-2F38159BE69B}"/>
              </a:ext>
            </a:extLst>
          </p:cNvPr>
          <p:cNvSpPr>
            <a:spLocks noGrp="1"/>
          </p:cNvSpPr>
          <p:nvPr/>
        </p:nvSpPr>
        <p:spPr>
          <a:xfrm>
            <a:off x="9829800" y="781050"/>
            <a:ext cx="5524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Rounded Rectangle 46">
            <a:extLst>
              <a:ext uri="{FF2B5EF4-FFF2-40B4-BE49-F238E27FC236}">
                <a16:creationId xmlns:a16="http://schemas.microsoft.com/office/drawing/2014/main" id="{8C0657AD-B6E6-4942-B23B-A36F6D7F8788}"/>
              </a:ext>
            </a:extLst>
          </p:cNvPr>
          <p:cNvSpPr>
            <a:spLocks noGrp="1"/>
          </p:cNvSpPr>
          <p:nvPr/>
        </p:nvSpPr>
        <p:spPr>
          <a:xfrm>
            <a:off x="10077450" y="819150"/>
            <a:ext cx="1714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Rounded Rectangle 47">
            <a:extLst>
              <a:ext uri="{FF2B5EF4-FFF2-40B4-BE49-F238E27FC236}">
                <a16:creationId xmlns:a16="http://schemas.microsoft.com/office/drawing/2014/main" id="{613C13ED-AFA2-4B45-95CF-62D49BD5D2F0}"/>
              </a:ext>
            </a:extLst>
          </p:cNvPr>
          <p:cNvSpPr>
            <a:spLocks noGrp="1"/>
          </p:cNvSpPr>
          <p:nvPr/>
        </p:nvSpPr>
        <p:spPr>
          <a:xfrm>
            <a:off x="10325100" y="857250"/>
            <a:ext cx="26670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Rounded Rectangle 48">
            <a:extLst>
              <a:ext uri="{FF2B5EF4-FFF2-40B4-BE49-F238E27FC236}">
                <a16:creationId xmlns:a16="http://schemas.microsoft.com/office/drawing/2014/main" id="{D7AA76B1-F56C-4394-A6ED-20F33DC0B7BD}"/>
              </a:ext>
            </a:extLst>
          </p:cNvPr>
          <p:cNvSpPr>
            <a:spLocks noGrp="1"/>
          </p:cNvSpPr>
          <p:nvPr/>
        </p:nvSpPr>
        <p:spPr>
          <a:xfrm>
            <a:off x="10572750" y="781050"/>
            <a:ext cx="3619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Rounded Rectangle 49">
            <a:extLst>
              <a:ext uri="{FF2B5EF4-FFF2-40B4-BE49-F238E27FC236}">
                <a16:creationId xmlns:a16="http://schemas.microsoft.com/office/drawing/2014/main" id="{914D528C-CEAA-4F4A-96AB-8D4398186D26}"/>
              </a:ext>
            </a:extLst>
          </p:cNvPr>
          <p:cNvSpPr>
            <a:spLocks noGrp="1"/>
          </p:cNvSpPr>
          <p:nvPr/>
        </p:nvSpPr>
        <p:spPr>
          <a:xfrm>
            <a:off x="6972300" y="1009650"/>
            <a:ext cx="45720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Rounded Rectangle 50">
            <a:extLst>
              <a:ext uri="{FF2B5EF4-FFF2-40B4-BE49-F238E27FC236}">
                <a16:creationId xmlns:a16="http://schemas.microsoft.com/office/drawing/2014/main" id="{D1F85BAC-9A37-43BC-84A4-A1E95A98B453}"/>
              </a:ext>
            </a:extLst>
          </p:cNvPr>
          <p:cNvSpPr>
            <a:spLocks noGrp="1"/>
          </p:cNvSpPr>
          <p:nvPr/>
        </p:nvSpPr>
        <p:spPr>
          <a:xfrm>
            <a:off x="7219950" y="1047750"/>
            <a:ext cx="5524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Rounded Rectangle 51">
            <a:extLst>
              <a:ext uri="{FF2B5EF4-FFF2-40B4-BE49-F238E27FC236}">
                <a16:creationId xmlns:a16="http://schemas.microsoft.com/office/drawing/2014/main" id="{72DA9E43-A0E4-40F6-A49F-5F8C2D878B60}"/>
              </a:ext>
            </a:extLst>
          </p:cNvPr>
          <p:cNvSpPr>
            <a:spLocks noGrp="1"/>
          </p:cNvSpPr>
          <p:nvPr/>
        </p:nvSpPr>
        <p:spPr>
          <a:xfrm>
            <a:off x="7467600" y="1085850"/>
            <a:ext cx="1714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Rounded Rectangle 52">
            <a:extLst>
              <a:ext uri="{FF2B5EF4-FFF2-40B4-BE49-F238E27FC236}">
                <a16:creationId xmlns:a16="http://schemas.microsoft.com/office/drawing/2014/main" id="{615AE0E0-D350-454D-B003-EDA83B157500}"/>
              </a:ext>
            </a:extLst>
          </p:cNvPr>
          <p:cNvSpPr>
            <a:spLocks noGrp="1"/>
          </p:cNvSpPr>
          <p:nvPr/>
        </p:nvSpPr>
        <p:spPr>
          <a:xfrm>
            <a:off x="7715250" y="1009650"/>
            <a:ext cx="26670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Rounded Rectangle 53">
            <a:extLst>
              <a:ext uri="{FF2B5EF4-FFF2-40B4-BE49-F238E27FC236}">
                <a16:creationId xmlns:a16="http://schemas.microsoft.com/office/drawing/2014/main" id="{67F07745-D47A-41A2-AFFA-36BA853F84F1}"/>
              </a:ext>
            </a:extLst>
          </p:cNvPr>
          <p:cNvSpPr>
            <a:spLocks noGrp="1"/>
          </p:cNvSpPr>
          <p:nvPr/>
        </p:nvSpPr>
        <p:spPr>
          <a:xfrm>
            <a:off x="7962900" y="1047750"/>
            <a:ext cx="3619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Rounded Rectangle 54">
            <a:extLst>
              <a:ext uri="{FF2B5EF4-FFF2-40B4-BE49-F238E27FC236}">
                <a16:creationId xmlns:a16="http://schemas.microsoft.com/office/drawing/2014/main" id="{38FCB8F9-A018-41CF-B8E5-986FDAC99ACA}"/>
              </a:ext>
            </a:extLst>
          </p:cNvPr>
          <p:cNvSpPr>
            <a:spLocks noGrp="1"/>
          </p:cNvSpPr>
          <p:nvPr/>
        </p:nvSpPr>
        <p:spPr>
          <a:xfrm>
            <a:off x="8210550" y="1085850"/>
            <a:ext cx="45720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Rounded Rectangle 55">
            <a:extLst>
              <a:ext uri="{FF2B5EF4-FFF2-40B4-BE49-F238E27FC236}">
                <a16:creationId xmlns:a16="http://schemas.microsoft.com/office/drawing/2014/main" id="{637A0634-245D-4F6C-8223-A3BBBA50125D}"/>
              </a:ext>
            </a:extLst>
          </p:cNvPr>
          <p:cNvSpPr>
            <a:spLocks noGrp="1"/>
          </p:cNvSpPr>
          <p:nvPr/>
        </p:nvSpPr>
        <p:spPr>
          <a:xfrm>
            <a:off x="8458200" y="1009650"/>
            <a:ext cx="5524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Rounded Rectangle 56">
            <a:extLst>
              <a:ext uri="{FF2B5EF4-FFF2-40B4-BE49-F238E27FC236}">
                <a16:creationId xmlns:a16="http://schemas.microsoft.com/office/drawing/2014/main" id="{9F1EE4ED-113F-489F-B051-0382B660640D}"/>
              </a:ext>
            </a:extLst>
          </p:cNvPr>
          <p:cNvSpPr>
            <a:spLocks noGrp="1"/>
          </p:cNvSpPr>
          <p:nvPr/>
        </p:nvSpPr>
        <p:spPr>
          <a:xfrm>
            <a:off x="8705850" y="1047750"/>
            <a:ext cx="1714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Rounded Rectangle 57">
            <a:extLst>
              <a:ext uri="{FF2B5EF4-FFF2-40B4-BE49-F238E27FC236}">
                <a16:creationId xmlns:a16="http://schemas.microsoft.com/office/drawing/2014/main" id="{A15B53EF-1F6A-49BE-A32F-106327F8A420}"/>
              </a:ext>
            </a:extLst>
          </p:cNvPr>
          <p:cNvSpPr>
            <a:spLocks noGrp="1"/>
          </p:cNvSpPr>
          <p:nvPr/>
        </p:nvSpPr>
        <p:spPr>
          <a:xfrm>
            <a:off x="8953500" y="1085850"/>
            <a:ext cx="26670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Rounded Rectangle 58">
            <a:extLst>
              <a:ext uri="{FF2B5EF4-FFF2-40B4-BE49-F238E27FC236}">
                <a16:creationId xmlns:a16="http://schemas.microsoft.com/office/drawing/2014/main" id="{5A0FEFE3-2308-42B2-86FF-1A4C02B38314}"/>
              </a:ext>
            </a:extLst>
          </p:cNvPr>
          <p:cNvSpPr>
            <a:spLocks noGrp="1"/>
          </p:cNvSpPr>
          <p:nvPr/>
        </p:nvSpPr>
        <p:spPr>
          <a:xfrm>
            <a:off x="9201150" y="1009650"/>
            <a:ext cx="3619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8D8F64D2-0158-473D-93F7-62921A2514EB}"/>
              </a:ext>
            </a:extLst>
          </p:cNvPr>
          <p:cNvSpPr>
            <a:spLocks noGrp="1"/>
          </p:cNvSpPr>
          <p:nvPr/>
        </p:nvSpPr>
        <p:spPr>
          <a:xfrm>
            <a:off x="342900" y="76200"/>
            <a:ext cx="342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 i="0">
                <a:solidFill>
                  <a:srgbClr val="8A8580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8A8580"/>
                </a:solidFill>
                <a:latin typeface="Aptos"/>
                <a:ea typeface="Aptos"/>
                <a:cs typeface="Aptos"/>
              </a:rPr>
              <a:t>Confidential - Oracle Restricted (Employees Only)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43C2C8AA-7E3D-4DAB-A3D2-17EE0FD9798A}"/>
              </a:ext>
            </a:extLst>
          </p:cNvPr>
          <p:cNvSpPr>
            <a:spLocks noGrp="1"/>
          </p:cNvSpPr>
          <p:nvPr/>
        </p:nvSpPr>
        <p:spPr>
          <a:xfrm>
            <a:off x="342900" y="6572250"/>
            <a:ext cx="2476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 i="0">
                <a:solidFill>
                  <a:srgbClr val="807A76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807A76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5869B896-336E-4C23-BB44-E6693D250E76}"/>
              </a:ext>
            </a:extLst>
          </p:cNvPr>
          <p:cNvSpPr>
            <a:spLocks noGrp="1"/>
          </p:cNvSpPr>
          <p:nvPr/>
        </p:nvSpPr>
        <p:spPr>
          <a:xfrm>
            <a:off x="723900" y="6572250"/>
            <a:ext cx="4381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 i="0">
                <a:solidFill>
                  <a:srgbClr val="807A76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807A76"/>
                </a:solidFill>
                <a:latin typeface="Aptos"/>
                <a:ea typeface="Aptos"/>
                <a:cs typeface="Aptos"/>
              </a:rPr>
              <a:t>ODT 2.0 Leadership Deck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BA64008D-7ED2-4447-8717-927F640F9CE1}"/>
              </a:ext>
            </a:extLst>
          </p:cNvPr>
          <p:cNvSpPr>
            <a:spLocks noGrp="1"/>
          </p:cNvSpPr>
          <p:nvPr/>
        </p:nvSpPr>
        <p:spPr>
          <a:xfrm>
            <a:off x="11334750" y="6419850"/>
            <a:ext cx="419100" cy="419100"/>
          </a:xfrm>
          <a:prstGeom prst="rect">
            <a:avLst/>
          </a:prstGeom>
          <a:solidFill>
            <a:srgbClr val="C7463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Rounded Rectangle 63">
            <a:extLst>
              <a:ext uri="{FF2B5EF4-FFF2-40B4-BE49-F238E27FC236}">
                <a16:creationId xmlns:a16="http://schemas.microsoft.com/office/drawing/2014/main" id="{0ECB9AE4-3C14-488A-8283-855C0714CA7A}"/>
              </a:ext>
            </a:extLst>
          </p:cNvPr>
          <p:cNvSpPr>
            <a:spLocks noGrp="1"/>
          </p:cNvSpPr>
          <p:nvPr/>
        </p:nvSpPr>
        <p:spPr>
          <a:xfrm>
            <a:off x="11430000" y="6562725"/>
            <a:ext cx="228600" cy="114300"/>
          </a:xfrm>
          <a:prstGeom prst="roundRect">
            <a:avLst>
              <a:gd name="adj" fmla="val 50000"/>
            </a:avLst>
          </a:prstGeom>
          <a:solidFill>
            <a:srgbClr val="000000">
              <a:alpha val="0"/>
            </a:srgbClr>
          </a:solidFill>
          <a:ln w="2286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422FE7EA-5C26-4383-8DBC-34902013865C}"/>
              </a:ext>
            </a:extLst>
          </p:cNvPr>
          <p:cNvSpPr>
            <a:spLocks noGrp="1"/>
          </p:cNvSpPr>
          <p:nvPr/>
        </p:nvSpPr>
        <p:spPr>
          <a:xfrm>
            <a:off x="666750" y="876300"/>
            <a:ext cx="676275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900" b="1" i="0">
                <a:solidFill>
                  <a:srgbClr val="2B2B2B"/>
                </a:solidFill>
                <a:latin typeface="Aptos Display"/>
                <a:ea typeface="Aptos Display"/>
                <a:cs typeface="Aptos Display"/>
              </a:defRPr>
            </a:pPr>
            <a:r>
              <a:rPr sz="3900" b="1" i="0">
                <a:solidFill>
                  <a:srgbClr val="2B2B2B"/>
                </a:solidFill>
                <a:latin typeface="Aptos Display"/>
                <a:ea typeface="Aptos Display"/>
                <a:cs typeface="Aptos Display"/>
              </a:rPr>
              <a:t>Oracle Developer Twin 2.0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5DB19A93-7606-4CA1-B20C-11A7F01CFAA0}"/>
              </a:ext>
            </a:extLst>
          </p:cNvPr>
          <p:cNvSpPr>
            <a:spLocks noGrp="1"/>
          </p:cNvSpPr>
          <p:nvPr/>
        </p:nvSpPr>
        <p:spPr>
          <a:xfrm>
            <a:off x="685800" y="1562100"/>
            <a:ext cx="6096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 i="0">
                <a:solidFill>
                  <a:srgbClr val="8C1D18"/>
                </a:solidFill>
                <a:latin typeface="Aptos"/>
                <a:ea typeface="Aptos"/>
                <a:cs typeface="Aptos"/>
              </a:defRPr>
            </a:pPr>
            <a:r>
              <a:rPr sz="2100" b="1" i="0">
                <a:solidFill>
                  <a:srgbClr val="8C1D18"/>
                </a:solidFill>
                <a:latin typeface="Aptos"/>
                <a:ea typeface="Aptos"/>
                <a:cs typeface="Aptos"/>
              </a:rPr>
              <a:t>Governed Agentic SDLC Workbench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61C5A6D3-AB44-4F94-9C3E-2E0D8E0B9EDE}"/>
              </a:ext>
            </a:extLst>
          </p:cNvPr>
          <p:cNvSpPr>
            <a:spLocks noGrp="1"/>
          </p:cNvSpPr>
          <p:nvPr/>
        </p:nvSpPr>
        <p:spPr>
          <a:xfrm>
            <a:off x="685800" y="2095500"/>
            <a:ext cx="6572250" cy="838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0" i="0">
                <a:solidFill>
                  <a:srgbClr val="333333"/>
                </a:solidFill>
                <a:latin typeface="Aptos"/>
                <a:ea typeface="Aptos"/>
                <a:cs typeface="Aptos"/>
              </a:defRPr>
            </a:pPr>
            <a:r>
              <a:rPr sz="1725" b="0" i="0">
                <a:solidFill>
                  <a:srgbClr val="333333"/>
                </a:solidFill>
                <a:latin typeface="Aptos"/>
                <a:ea typeface="Aptos"/>
                <a:cs typeface="Aptos"/>
              </a:rPr>
              <a:t>A control plane that turns Codex, Cline, OCI GenAI, and future model engines into supervised, evidence-backed software delivery workers.</a:t>
            </a:r>
          </a:p>
        </p:txBody>
      </p:sp>
      <p:sp>
        <p:nvSpPr>
          <p:cNvPr id="68" name="Rounded Rectangle 67">
            <a:extLst>
              <a:ext uri="{FF2B5EF4-FFF2-40B4-BE49-F238E27FC236}">
                <a16:creationId xmlns:a16="http://schemas.microsoft.com/office/drawing/2014/main" id="{AF2EE540-9481-418E-AFF5-D9CCF4C2BA32}"/>
              </a:ext>
            </a:extLst>
          </p:cNvPr>
          <p:cNvSpPr>
            <a:spLocks noGrp="1"/>
          </p:cNvSpPr>
          <p:nvPr/>
        </p:nvSpPr>
        <p:spPr>
          <a:xfrm>
            <a:off x="685800" y="3190875"/>
            <a:ext cx="2190750" cy="34290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DED8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88CB56FE-61A2-451A-A487-D10D47624116}"/>
              </a:ext>
            </a:extLst>
          </p:cNvPr>
          <p:cNvSpPr>
            <a:spLocks noGrp="1"/>
          </p:cNvSpPr>
          <p:nvPr/>
        </p:nvSpPr>
        <p:spPr>
          <a:xfrm>
            <a:off x="685800" y="3190875"/>
            <a:ext cx="76200" cy="342900"/>
          </a:xfrm>
          <a:prstGeom prst="rect">
            <a:avLst/>
          </a:prstGeom>
          <a:solidFill>
            <a:srgbClr val="C7463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E6B032BA-EC74-4529-970D-0A1DE3A700CD}"/>
              </a:ext>
            </a:extLst>
          </p:cNvPr>
          <p:cNvSpPr>
            <a:spLocks noGrp="1"/>
          </p:cNvSpPr>
          <p:nvPr/>
        </p:nvSpPr>
        <p:spPr>
          <a:xfrm>
            <a:off x="838200" y="3267075"/>
            <a:ext cx="19240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 i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2B2B2B"/>
                </a:solidFill>
                <a:latin typeface="Aptos"/>
                <a:ea typeface="Aptos"/>
                <a:cs typeface="Aptos"/>
              </a:rPr>
              <a:t>ENTERPRISE GOVERNANCE</a:t>
            </a:r>
          </a:p>
        </p:txBody>
      </p:sp>
      <p:sp>
        <p:nvSpPr>
          <p:cNvPr id="71" name="Rounded Rectangle 70">
            <a:extLst>
              <a:ext uri="{FF2B5EF4-FFF2-40B4-BE49-F238E27FC236}">
                <a16:creationId xmlns:a16="http://schemas.microsoft.com/office/drawing/2014/main" id="{11E7AEA3-563A-4BE9-AFA6-0A5E09D86154}"/>
              </a:ext>
            </a:extLst>
          </p:cNvPr>
          <p:cNvSpPr>
            <a:spLocks noGrp="1"/>
          </p:cNvSpPr>
          <p:nvPr/>
        </p:nvSpPr>
        <p:spPr>
          <a:xfrm>
            <a:off x="3067050" y="3190875"/>
            <a:ext cx="2000250" cy="34290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DED8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CDD2D112-84E5-4091-9816-2C8811995D8F}"/>
              </a:ext>
            </a:extLst>
          </p:cNvPr>
          <p:cNvSpPr>
            <a:spLocks noGrp="1"/>
          </p:cNvSpPr>
          <p:nvPr/>
        </p:nvSpPr>
        <p:spPr>
          <a:xfrm>
            <a:off x="3067050" y="3190875"/>
            <a:ext cx="76200" cy="342900"/>
          </a:xfrm>
          <a:prstGeom prst="rect">
            <a:avLst/>
          </a:prstGeom>
          <a:solidFill>
            <a:srgbClr val="2E5F8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7C6906EC-D655-497E-A2F5-C0FAE5738801}"/>
              </a:ext>
            </a:extLst>
          </p:cNvPr>
          <p:cNvSpPr>
            <a:spLocks noGrp="1"/>
          </p:cNvSpPr>
          <p:nvPr/>
        </p:nvSpPr>
        <p:spPr>
          <a:xfrm>
            <a:off x="3219450" y="3267075"/>
            <a:ext cx="17335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 i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2B2B2B"/>
                </a:solidFill>
                <a:latin typeface="Aptos"/>
                <a:ea typeface="Aptos"/>
                <a:cs typeface="Aptos"/>
              </a:rPr>
              <a:t>AGENTIC WORKFLOW</a:t>
            </a:r>
          </a:p>
        </p:txBody>
      </p:sp>
      <p:sp>
        <p:nvSpPr>
          <p:cNvPr id="74" name="Rounded Rectangle 73">
            <a:extLst>
              <a:ext uri="{FF2B5EF4-FFF2-40B4-BE49-F238E27FC236}">
                <a16:creationId xmlns:a16="http://schemas.microsoft.com/office/drawing/2014/main" id="{0B7B8CA8-0A79-41A8-A79D-9C7E38B45BEE}"/>
              </a:ext>
            </a:extLst>
          </p:cNvPr>
          <p:cNvSpPr>
            <a:spLocks noGrp="1"/>
          </p:cNvSpPr>
          <p:nvPr/>
        </p:nvSpPr>
        <p:spPr>
          <a:xfrm>
            <a:off x="5257800" y="3190875"/>
            <a:ext cx="2190750" cy="34290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DED8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C49E58DF-F6DF-42E5-893D-C3C3AEBF24FF}"/>
              </a:ext>
            </a:extLst>
          </p:cNvPr>
          <p:cNvSpPr>
            <a:spLocks noGrp="1"/>
          </p:cNvSpPr>
          <p:nvPr/>
        </p:nvSpPr>
        <p:spPr>
          <a:xfrm>
            <a:off x="5257800" y="3190875"/>
            <a:ext cx="76200" cy="342900"/>
          </a:xfrm>
          <a:prstGeom prst="rect">
            <a:avLst/>
          </a:prstGeom>
          <a:solidFill>
            <a:srgbClr val="2F7D4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C10AC5FF-31DB-452D-B6D7-59DE37ED5C39}"/>
              </a:ext>
            </a:extLst>
          </p:cNvPr>
          <p:cNvSpPr>
            <a:spLocks noGrp="1"/>
          </p:cNvSpPr>
          <p:nvPr/>
        </p:nvSpPr>
        <p:spPr>
          <a:xfrm>
            <a:off x="5410200" y="3267075"/>
            <a:ext cx="19240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 i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2B2B2B"/>
                </a:solidFill>
                <a:latin typeface="Aptos"/>
                <a:ea typeface="Aptos"/>
                <a:cs typeface="Aptos"/>
              </a:rPr>
              <a:t>LOCAL EVIDENCE FIRST</a:t>
            </a:r>
          </a:p>
        </p:txBody>
      </p:sp>
      <p:sp>
        <p:nvSpPr>
          <p:cNvPr id="77" name="Rounded Rectangle 76">
            <a:extLst>
              <a:ext uri="{FF2B5EF4-FFF2-40B4-BE49-F238E27FC236}">
                <a16:creationId xmlns:a16="http://schemas.microsoft.com/office/drawing/2014/main" id="{B347E61E-2C3D-45B3-8B38-36FCDC2FDA4D}"/>
              </a:ext>
            </a:extLst>
          </p:cNvPr>
          <p:cNvSpPr>
            <a:spLocks noGrp="1"/>
          </p:cNvSpPr>
          <p:nvPr/>
        </p:nvSpPr>
        <p:spPr>
          <a:xfrm>
            <a:off x="685800" y="4171950"/>
            <a:ext cx="2929467" cy="1352550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1430">
            <a:solidFill>
              <a:srgbClr val="DED8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2B89C1D2-BFD9-41CC-BE4A-B64D6939A148}"/>
              </a:ext>
            </a:extLst>
          </p:cNvPr>
          <p:cNvSpPr>
            <a:spLocks noGrp="1"/>
          </p:cNvSpPr>
          <p:nvPr/>
        </p:nvSpPr>
        <p:spPr>
          <a:xfrm>
            <a:off x="685800" y="4171950"/>
            <a:ext cx="76200" cy="1352550"/>
          </a:xfrm>
          <a:prstGeom prst="rect">
            <a:avLst/>
          </a:prstGeom>
          <a:solidFill>
            <a:srgbClr val="C7463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54F0A0CF-A963-4CA3-9609-46AEF6077BD6}"/>
              </a:ext>
            </a:extLst>
          </p:cNvPr>
          <p:cNvSpPr>
            <a:spLocks noGrp="1"/>
          </p:cNvSpPr>
          <p:nvPr/>
        </p:nvSpPr>
        <p:spPr>
          <a:xfrm>
            <a:off x="895350" y="4343400"/>
            <a:ext cx="25527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 i="0">
                <a:solidFill>
                  <a:srgbClr val="8C1D18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8C1D18"/>
                </a:solidFill>
                <a:latin typeface="Aptos"/>
                <a:ea typeface="Aptos"/>
                <a:cs typeface="Aptos"/>
              </a:rPr>
              <a:t>Control plane</a:t>
            </a: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8DAF7910-74D1-403D-B1FE-ED4C92D66158}"/>
              </a:ext>
            </a:extLst>
          </p:cNvPr>
          <p:cNvSpPr>
            <a:spLocks noGrp="1"/>
          </p:cNvSpPr>
          <p:nvPr/>
        </p:nvSpPr>
        <p:spPr>
          <a:xfrm>
            <a:off x="895350" y="4648200"/>
            <a:ext cx="25527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 i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2B2B2B"/>
                </a:solidFill>
                <a:latin typeface="Aptos"/>
                <a:ea typeface="Aptos"/>
                <a:cs typeface="Aptos"/>
              </a:rPr>
              <a:t>ODT owns intake, planning, evidence, standards, approvals, delegation, review, build proof, and PR readiness.</a:t>
            </a:r>
          </a:p>
        </p:txBody>
      </p:sp>
      <p:sp>
        <p:nvSpPr>
          <p:cNvPr id="81" name="Rounded Rectangle 80">
            <a:extLst>
              <a:ext uri="{FF2B5EF4-FFF2-40B4-BE49-F238E27FC236}">
                <a16:creationId xmlns:a16="http://schemas.microsoft.com/office/drawing/2014/main" id="{09004A50-2388-4228-AB74-3F12C644876B}"/>
              </a:ext>
            </a:extLst>
          </p:cNvPr>
          <p:cNvSpPr>
            <a:spLocks noGrp="1"/>
          </p:cNvSpPr>
          <p:nvPr/>
        </p:nvSpPr>
        <p:spPr>
          <a:xfrm>
            <a:off x="3829050" y="4171950"/>
            <a:ext cx="2952750" cy="1352550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1430">
            <a:solidFill>
              <a:srgbClr val="DED8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6BFE9382-B682-4BAF-97D5-9BA168E44BB3}"/>
              </a:ext>
            </a:extLst>
          </p:cNvPr>
          <p:cNvSpPr>
            <a:spLocks noGrp="1"/>
          </p:cNvSpPr>
          <p:nvPr/>
        </p:nvSpPr>
        <p:spPr>
          <a:xfrm>
            <a:off x="3829049" y="4171950"/>
            <a:ext cx="57151" cy="1352550"/>
          </a:xfrm>
          <a:prstGeom prst="rect">
            <a:avLst/>
          </a:prstGeom>
          <a:solidFill>
            <a:srgbClr val="2E5F8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715C229C-5D47-483E-92A5-8DFB37439A59}"/>
              </a:ext>
            </a:extLst>
          </p:cNvPr>
          <p:cNvSpPr>
            <a:spLocks noGrp="1"/>
          </p:cNvSpPr>
          <p:nvPr/>
        </p:nvSpPr>
        <p:spPr>
          <a:xfrm>
            <a:off x="4038600" y="4343400"/>
            <a:ext cx="25527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 i="0">
                <a:solidFill>
                  <a:srgbClr val="8C1D18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8C1D18"/>
                </a:solidFill>
                <a:latin typeface="Aptos"/>
                <a:ea typeface="Aptos"/>
                <a:cs typeface="Aptos"/>
              </a:rPr>
              <a:t>Worker engines</a:t>
            </a: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6C999D9E-900C-4F2F-90F0-F916EAF2A723}"/>
              </a:ext>
            </a:extLst>
          </p:cNvPr>
          <p:cNvSpPr>
            <a:spLocks noGrp="1"/>
          </p:cNvSpPr>
          <p:nvPr/>
        </p:nvSpPr>
        <p:spPr>
          <a:xfrm>
            <a:off x="4038600" y="4648200"/>
            <a:ext cx="25527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 i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350" b="0" i="0" dirty="0">
                <a:solidFill>
                  <a:srgbClr val="2B2B2B"/>
                </a:solidFill>
                <a:latin typeface="Aptos"/>
                <a:ea typeface="Aptos"/>
                <a:cs typeface="Aptos"/>
              </a:rPr>
              <a:t>Codex is wired today. Cline, OCI GenAI/OCA, </a:t>
            </a:r>
            <a:r>
              <a:rPr sz="1350" b="0" i="0" dirty="0" err="1">
                <a:solidFill>
                  <a:srgbClr val="2B2B2B"/>
                </a:solidFill>
                <a:latin typeface="Aptos"/>
                <a:ea typeface="Aptos"/>
                <a:cs typeface="Aptos"/>
              </a:rPr>
              <a:t>Ollama</a:t>
            </a:r>
            <a:r>
              <a:rPr sz="1350" b="0" i="0" dirty="0">
                <a:solidFill>
                  <a:srgbClr val="2B2B2B"/>
                </a:solidFill>
                <a:latin typeface="Aptos"/>
                <a:ea typeface="Aptos"/>
                <a:cs typeface="Aptos"/>
              </a:rPr>
              <a:t>, and OpenAI-compatible adapters fit behind governed gates.</a:t>
            </a:r>
          </a:p>
        </p:txBody>
      </p:sp>
      <p:sp>
        <p:nvSpPr>
          <p:cNvPr id="85" name="Rounded Rectangle 84">
            <a:extLst>
              <a:ext uri="{FF2B5EF4-FFF2-40B4-BE49-F238E27FC236}">
                <a16:creationId xmlns:a16="http://schemas.microsoft.com/office/drawing/2014/main" id="{56B93F7D-F54A-48A1-88CA-C2C2AE72A06D}"/>
              </a:ext>
            </a:extLst>
          </p:cNvPr>
          <p:cNvSpPr>
            <a:spLocks noGrp="1"/>
          </p:cNvSpPr>
          <p:nvPr/>
        </p:nvSpPr>
        <p:spPr>
          <a:xfrm>
            <a:off x="6972300" y="4169833"/>
            <a:ext cx="3276600" cy="1339850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1430">
            <a:solidFill>
              <a:srgbClr val="DED8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C374FC73-5AB2-45FD-B26D-77D8B3A5D9BE}"/>
              </a:ext>
            </a:extLst>
          </p:cNvPr>
          <p:cNvSpPr>
            <a:spLocks noGrp="1"/>
          </p:cNvSpPr>
          <p:nvPr/>
        </p:nvSpPr>
        <p:spPr>
          <a:xfrm>
            <a:off x="6972300" y="4171950"/>
            <a:ext cx="66675" cy="1352550"/>
          </a:xfrm>
          <a:prstGeom prst="rect">
            <a:avLst/>
          </a:prstGeom>
          <a:solidFill>
            <a:srgbClr val="2F7D4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1DBC221D-4F7F-4A1E-A767-6E570E7D1EAC}"/>
              </a:ext>
            </a:extLst>
          </p:cNvPr>
          <p:cNvSpPr>
            <a:spLocks noGrp="1"/>
          </p:cNvSpPr>
          <p:nvPr/>
        </p:nvSpPr>
        <p:spPr>
          <a:xfrm>
            <a:off x="7181850" y="4343400"/>
            <a:ext cx="25527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 i="0">
                <a:solidFill>
                  <a:srgbClr val="8C1D18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8C1D18"/>
                </a:solidFill>
                <a:latin typeface="Aptos"/>
                <a:ea typeface="Aptos"/>
                <a:cs typeface="Aptos"/>
              </a:rPr>
              <a:t>Enterprise promise</a:t>
            </a: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A14A2CAF-34C9-4E8A-89F3-50729DEA436F}"/>
              </a:ext>
            </a:extLst>
          </p:cNvPr>
          <p:cNvSpPr>
            <a:spLocks noGrp="1"/>
          </p:cNvSpPr>
          <p:nvPr/>
        </p:nvSpPr>
        <p:spPr>
          <a:xfrm>
            <a:off x="7120467" y="4624387"/>
            <a:ext cx="310515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>
              <a:defRPr sz="1350" b="0" i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350" b="0" i="0" dirty="0">
                <a:solidFill>
                  <a:srgbClr val="2B2B2B"/>
                </a:solidFill>
                <a:latin typeface="Aptos"/>
                <a:ea typeface="Aptos"/>
                <a:cs typeface="Aptos"/>
              </a:rPr>
              <a:t>Less repeated context work</a:t>
            </a:r>
            <a:r>
              <a:rPr lang="en-US" sz="1350" b="0" i="0" dirty="0">
                <a:solidFill>
                  <a:srgbClr val="2B2B2B"/>
                </a:solidFill>
                <a:latin typeface="Aptos"/>
                <a:ea typeface="Aptos"/>
                <a:cs typeface="Aptos"/>
              </a:rPr>
              <a:t> and</a:t>
            </a:r>
            <a:r>
              <a:rPr lang="en-US" sz="1350" dirty="0">
                <a:solidFill>
                  <a:srgbClr val="2B2B2B"/>
                </a:solidFill>
                <a:latin typeface="Aptos"/>
                <a:ea typeface="Aptos"/>
                <a:cs typeface="Aptos"/>
              </a:rPr>
              <a:t> increase in</a:t>
            </a:r>
            <a:r>
              <a:rPr lang="en-US" sz="1350" b="0" i="0" dirty="0">
                <a:solidFill>
                  <a:srgbClr val="2B2B2B"/>
                </a:solidFill>
                <a:latin typeface="Aptos"/>
                <a:ea typeface="Aptos"/>
                <a:cs typeface="Aptos"/>
              </a:rPr>
              <a:t> </a:t>
            </a:r>
            <a:r>
              <a:rPr lang="en-US" sz="1350" dirty="0">
                <a:solidFill>
                  <a:srgbClr val="2B2B2B"/>
                </a:solidFill>
                <a:latin typeface="Aptos"/>
                <a:ea typeface="Aptos"/>
                <a:cs typeface="Aptos"/>
              </a:rPr>
              <a:t>productivity</a:t>
            </a:r>
            <a:r>
              <a:rPr lang="en-US" sz="1350" b="0" i="0" dirty="0">
                <a:solidFill>
                  <a:srgbClr val="2B2B2B"/>
                </a:solidFill>
                <a:latin typeface="Aptos"/>
                <a:ea typeface="Aptos"/>
                <a:cs typeface="Aptos"/>
              </a:rPr>
              <a:t>,</a:t>
            </a:r>
            <a:r>
              <a:rPr sz="1350" b="0" i="0" dirty="0">
                <a:solidFill>
                  <a:srgbClr val="2B2B2B"/>
                </a:solidFill>
                <a:latin typeface="Aptos"/>
                <a:ea typeface="Aptos"/>
                <a:cs typeface="Aptos"/>
              </a:rPr>
              <a:t> stronger standards discipline, lower token waste, and auditable human-in-the-loop delivery.</a:t>
            </a:r>
          </a:p>
        </p:txBody>
      </p:sp>
      <p:sp>
        <p:nvSpPr>
          <p:cNvPr id="89" name="Rounded Rectangle 88">
            <a:extLst>
              <a:ext uri="{FF2B5EF4-FFF2-40B4-BE49-F238E27FC236}">
                <a16:creationId xmlns:a16="http://schemas.microsoft.com/office/drawing/2014/main" id="{7A201B70-9560-4D55-8F89-8E3251F31FD4}"/>
              </a:ext>
            </a:extLst>
          </p:cNvPr>
          <p:cNvSpPr>
            <a:spLocks noGrp="1"/>
          </p:cNvSpPr>
          <p:nvPr/>
        </p:nvSpPr>
        <p:spPr>
          <a:xfrm>
            <a:off x="8782050" y="1009650"/>
            <a:ext cx="2114550" cy="2114550"/>
          </a:xfrm>
          <a:prstGeom prst="roundRect">
            <a:avLst>
              <a:gd name="adj" fmla="val 3604"/>
            </a:avLst>
          </a:prstGeom>
          <a:solidFill>
            <a:srgbClr val="C74634"/>
          </a:solidFill>
          <a:ln w="9525">
            <a:solidFill>
              <a:srgbClr val="C746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AA558C88-82CC-4CC7-9B1B-86FD330D82AD}"/>
              </a:ext>
            </a:extLst>
          </p:cNvPr>
          <p:cNvSpPr>
            <a:spLocks noGrp="1"/>
          </p:cNvSpPr>
          <p:nvPr/>
        </p:nvSpPr>
        <p:spPr>
          <a:xfrm>
            <a:off x="9124950" y="1466850"/>
            <a:ext cx="14287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375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75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ODT</a:t>
            </a:r>
          </a:p>
        </p:txBody>
      </p:sp>
      <p:sp>
        <p:nvSpPr>
          <p:cNvPr id="91" name="Oval 90">
            <a:extLst>
              <a:ext uri="{FF2B5EF4-FFF2-40B4-BE49-F238E27FC236}">
                <a16:creationId xmlns:a16="http://schemas.microsoft.com/office/drawing/2014/main" id="{06449115-41E7-40EF-BA57-800C19B03F79}"/>
              </a:ext>
            </a:extLst>
          </p:cNvPr>
          <p:cNvSpPr>
            <a:spLocks noGrp="1"/>
          </p:cNvSpPr>
          <p:nvPr/>
        </p:nvSpPr>
        <p:spPr>
          <a:xfrm>
            <a:off x="9382125" y="2343150"/>
            <a:ext cx="133350" cy="133350"/>
          </a:xfrm>
          <a:prstGeom prst="ellipse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2" name="Oval 91">
            <a:extLst>
              <a:ext uri="{FF2B5EF4-FFF2-40B4-BE49-F238E27FC236}">
                <a16:creationId xmlns:a16="http://schemas.microsoft.com/office/drawing/2014/main" id="{E6A05AA9-1A8D-443F-B0F3-D4411223F9AF}"/>
              </a:ext>
            </a:extLst>
          </p:cNvPr>
          <p:cNvSpPr>
            <a:spLocks noGrp="1"/>
          </p:cNvSpPr>
          <p:nvPr/>
        </p:nvSpPr>
        <p:spPr>
          <a:xfrm>
            <a:off x="9791700" y="2343150"/>
            <a:ext cx="133350" cy="133350"/>
          </a:xfrm>
          <a:prstGeom prst="ellipse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B741EFBF-1FDF-4DE1-B0BF-32F641F40641}"/>
              </a:ext>
            </a:extLst>
          </p:cNvPr>
          <p:cNvSpPr>
            <a:spLocks noGrp="1"/>
          </p:cNvSpPr>
          <p:nvPr/>
        </p:nvSpPr>
        <p:spPr>
          <a:xfrm>
            <a:off x="10201275" y="2343150"/>
            <a:ext cx="133350" cy="133350"/>
          </a:xfrm>
          <a:prstGeom prst="ellipse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C23808D7-2977-44EB-A63E-35E249D48C7A}"/>
              </a:ext>
            </a:extLst>
          </p:cNvPr>
          <p:cNvSpPr>
            <a:spLocks noGrp="1"/>
          </p:cNvSpPr>
          <p:nvPr/>
        </p:nvSpPr>
        <p:spPr>
          <a:xfrm>
            <a:off x="8648700" y="3333750"/>
            <a:ext cx="23812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 i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2B2B2B"/>
                </a:solidFill>
                <a:latin typeface="Aptos"/>
                <a:ea typeface="Aptos"/>
                <a:cs typeface="Aptos"/>
              </a:rPr>
              <a:t>CONTROL PLANE</a:t>
            </a:r>
          </a:p>
          <a:p>
            <a:pPr algn="ctr">
              <a:defRPr sz="1350" b="1" i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2B2B2B"/>
                </a:solidFill>
                <a:latin typeface="Aptos"/>
                <a:ea typeface="Aptos"/>
                <a:cs typeface="Aptos"/>
              </a:rPr>
              <a:t>FOR AI DELIVERY</a:t>
            </a: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F2DBA733-BDB7-4829-B948-90CFACE65DD7}"/>
              </a:ext>
            </a:extLst>
          </p:cNvPr>
          <p:cNvSpPr>
            <a:spLocks noGrp="1"/>
          </p:cNvSpPr>
          <p:nvPr/>
        </p:nvSpPr>
        <p:spPr>
          <a:xfrm>
            <a:off x="685800" y="5772150"/>
            <a:ext cx="10096500" cy="438150"/>
          </a:xfrm>
          <a:prstGeom prst="rect">
            <a:avLst/>
          </a:prstGeom>
          <a:solidFill>
            <a:srgbClr val="FFF4D6"/>
          </a:solidFill>
          <a:ln w="9525">
            <a:solidFill>
              <a:srgbClr val="E9C8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BCEC751E-F9B1-4145-AFB5-629EDF534F26}"/>
              </a:ext>
            </a:extLst>
          </p:cNvPr>
          <p:cNvSpPr>
            <a:spLocks noGrp="1"/>
          </p:cNvSpPr>
          <p:nvPr/>
        </p:nvSpPr>
        <p:spPr>
          <a:xfrm>
            <a:off x="857250" y="5867400"/>
            <a:ext cx="97536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575" b="0" i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575" b="0" i="0">
                <a:solidFill>
                  <a:srgbClr val="2B2B2B"/>
                </a:solidFill>
                <a:latin typeface="Aptos"/>
                <a:ea typeface="Aptos"/>
                <a:cs typeface="Aptos"/>
              </a:rPr>
              <a:t>ODT 2.0 is not another coding assistant. It is the governed workbench around coding assistants.</a:t>
            </a: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1E6E8E58-57DE-4F66-A162-4105C6F66E8F}"/>
              </a:ext>
            </a:extLst>
          </p:cNvPr>
          <p:cNvSpPr>
            <a:spLocks noGrp="1"/>
          </p:cNvSpPr>
          <p:nvPr/>
        </p:nvSpPr>
        <p:spPr>
          <a:xfrm>
            <a:off x="11334750" y="6419850"/>
            <a:ext cx="419100" cy="419100"/>
          </a:xfrm>
          <a:prstGeom prst="rect">
            <a:avLst/>
          </a:prstGeom>
          <a:solidFill>
            <a:srgbClr val="C7463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8" name="Rounded Rectangle 97">
            <a:extLst>
              <a:ext uri="{FF2B5EF4-FFF2-40B4-BE49-F238E27FC236}">
                <a16:creationId xmlns:a16="http://schemas.microsoft.com/office/drawing/2014/main" id="{7745ED04-9E9A-4293-8BFD-C0D912DF850B}"/>
              </a:ext>
            </a:extLst>
          </p:cNvPr>
          <p:cNvSpPr>
            <a:spLocks noGrp="1"/>
          </p:cNvSpPr>
          <p:nvPr/>
        </p:nvSpPr>
        <p:spPr>
          <a:xfrm>
            <a:off x="11430000" y="6562725"/>
            <a:ext cx="228600" cy="114300"/>
          </a:xfrm>
          <a:prstGeom prst="roundRect">
            <a:avLst>
              <a:gd name="adj" fmla="val 50000"/>
            </a:avLst>
          </a:prstGeom>
          <a:solidFill>
            <a:srgbClr val="000000">
              <a:alpha val="0"/>
            </a:srgbClr>
          </a:solidFill>
          <a:ln w="2286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81601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Rectangle 100">
            <a:extLst>
              <a:ext uri="{FF2B5EF4-FFF2-40B4-BE49-F238E27FC236}">
                <a16:creationId xmlns:a16="http://schemas.microsoft.com/office/drawing/2014/main" id="{3FEE4628-D8E1-475F-A999-BC49C1DDAD2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DCD3A73-1642-46EE-9BF9-998884D73274}"/>
              </a:ext>
            </a:extLst>
          </p:cNvPr>
          <p:cNvSpPr>
            <a:spLocks noGrp="1"/>
          </p:cNvSpPr>
          <p:nvPr/>
        </p:nvSpPr>
        <p:spPr>
          <a:xfrm>
            <a:off x="6858000" y="323850"/>
            <a:ext cx="1714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C28024E3-317C-4D5F-AFF6-4DD0A06BC40D}"/>
              </a:ext>
            </a:extLst>
          </p:cNvPr>
          <p:cNvSpPr>
            <a:spLocks noGrp="1"/>
          </p:cNvSpPr>
          <p:nvPr/>
        </p:nvSpPr>
        <p:spPr>
          <a:xfrm>
            <a:off x="7105650" y="361950"/>
            <a:ext cx="26670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4F9941E4-C276-44D8-977A-CA6FA46E93BD}"/>
              </a:ext>
            </a:extLst>
          </p:cNvPr>
          <p:cNvSpPr>
            <a:spLocks noGrp="1"/>
          </p:cNvSpPr>
          <p:nvPr/>
        </p:nvSpPr>
        <p:spPr>
          <a:xfrm>
            <a:off x="7353300" y="400050"/>
            <a:ext cx="3619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8CDC39FB-AD59-4200-BBC1-03F849B8B01F}"/>
              </a:ext>
            </a:extLst>
          </p:cNvPr>
          <p:cNvSpPr>
            <a:spLocks noGrp="1"/>
          </p:cNvSpPr>
          <p:nvPr/>
        </p:nvSpPr>
        <p:spPr>
          <a:xfrm>
            <a:off x="7600950" y="323850"/>
            <a:ext cx="45720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72A55016-7CD8-4FBC-8B06-06E8451EA0FB}"/>
              </a:ext>
            </a:extLst>
          </p:cNvPr>
          <p:cNvSpPr>
            <a:spLocks noGrp="1"/>
          </p:cNvSpPr>
          <p:nvPr/>
        </p:nvSpPr>
        <p:spPr>
          <a:xfrm>
            <a:off x="7848600" y="361950"/>
            <a:ext cx="5524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666A3E4A-B7C2-486E-A3BD-AF6459826FAD}"/>
              </a:ext>
            </a:extLst>
          </p:cNvPr>
          <p:cNvSpPr>
            <a:spLocks noGrp="1"/>
          </p:cNvSpPr>
          <p:nvPr/>
        </p:nvSpPr>
        <p:spPr>
          <a:xfrm>
            <a:off x="8096250" y="400050"/>
            <a:ext cx="1714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50AD94BB-B491-4421-869A-D118F8B5FFFA}"/>
              </a:ext>
            </a:extLst>
          </p:cNvPr>
          <p:cNvSpPr>
            <a:spLocks noGrp="1"/>
          </p:cNvSpPr>
          <p:nvPr/>
        </p:nvSpPr>
        <p:spPr>
          <a:xfrm>
            <a:off x="8343900" y="323850"/>
            <a:ext cx="26670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ED071C0D-184A-480D-B641-A6337238C18A}"/>
              </a:ext>
            </a:extLst>
          </p:cNvPr>
          <p:cNvSpPr>
            <a:spLocks noGrp="1"/>
          </p:cNvSpPr>
          <p:nvPr/>
        </p:nvSpPr>
        <p:spPr>
          <a:xfrm>
            <a:off x="8591550" y="361950"/>
            <a:ext cx="3619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E0E704FB-A478-4950-A73C-D47AFB9C3B4F}"/>
              </a:ext>
            </a:extLst>
          </p:cNvPr>
          <p:cNvSpPr>
            <a:spLocks noGrp="1"/>
          </p:cNvSpPr>
          <p:nvPr/>
        </p:nvSpPr>
        <p:spPr>
          <a:xfrm>
            <a:off x="8839200" y="400050"/>
            <a:ext cx="45720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DAE3D331-3F5A-402A-AED9-BD92EAD52786}"/>
              </a:ext>
            </a:extLst>
          </p:cNvPr>
          <p:cNvSpPr>
            <a:spLocks noGrp="1"/>
          </p:cNvSpPr>
          <p:nvPr/>
        </p:nvSpPr>
        <p:spPr>
          <a:xfrm>
            <a:off x="9086850" y="323850"/>
            <a:ext cx="5524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165D2E6F-3827-4225-92D0-22A5F477A0A7}"/>
              </a:ext>
            </a:extLst>
          </p:cNvPr>
          <p:cNvSpPr>
            <a:spLocks noGrp="1"/>
          </p:cNvSpPr>
          <p:nvPr/>
        </p:nvSpPr>
        <p:spPr>
          <a:xfrm>
            <a:off x="9334500" y="361950"/>
            <a:ext cx="1714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4AA36F99-D9FA-4A44-AC5F-C46855F13B8B}"/>
              </a:ext>
            </a:extLst>
          </p:cNvPr>
          <p:cNvSpPr>
            <a:spLocks noGrp="1"/>
          </p:cNvSpPr>
          <p:nvPr/>
        </p:nvSpPr>
        <p:spPr>
          <a:xfrm>
            <a:off x="9582150" y="400050"/>
            <a:ext cx="26670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F369B0EA-CD7B-4A50-9749-890EB87FFA60}"/>
              </a:ext>
            </a:extLst>
          </p:cNvPr>
          <p:cNvSpPr>
            <a:spLocks noGrp="1"/>
          </p:cNvSpPr>
          <p:nvPr/>
        </p:nvSpPr>
        <p:spPr>
          <a:xfrm>
            <a:off x="9829800" y="323850"/>
            <a:ext cx="3619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A6B6C83B-1EE4-4AC8-8F3C-AB14486662CD}"/>
              </a:ext>
            </a:extLst>
          </p:cNvPr>
          <p:cNvSpPr>
            <a:spLocks noGrp="1"/>
          </p:cNvSpPr>
          <p:nvPr/>
        </p:nvSpPr>
        <p:spPr>
          <a:xfrm>
            <a:off x="10077450" y="361950"/>
            <a:ext cx="45720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5220DF8E-6F08-47C5-9B80-23FB506A2EA8}"/>
              </a:ext>
            </a:extLst>
          </p:cNvPr>
          <p:cNvSpPr>
            <a:spLocks noGrp="1"/>
          </p:cNvSpPr>
          <p:nvPr/>
        </p:nvSpPr>
        <p:spPr>
          <a:xfrm>
            <a:off x="10325100" y="400050"/>
            <a:ext cx="5524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78BE61E8-E866-40B7-A91D-60DF5B355786}"/>
              </a:ext>
            </a:extLst>
          </p:cNvPr>
          <p:cNvSpPr>
            <a:spLocks noGrp="1"/>
          </p:cNvSpPr>
          <p:nvPr/>
        </p:nvSpPr>
        <p:spPr>
          <a:xfrm>
            <a:off x="10572750" y="323850"/>
            <a:ext cx="1714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82C26B2F-E9C3-4D63-8DE8-2805E866973F}"/>
              </a:ext>
            </a:extLst>
          </p:cNvPr>
          <p:cNvSpPr>
            <a:spLocks noGrp="1"/>
          </p:cNvSpPr>
          <p:nvPr/>
        </p:nvSpPr>
        <p:spPr>
          <a:xfrm>
            <a:off x="6972300" y="552450"/>
            <a:ext cx="26670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BE0B2339-D50D-44AC-9CC8-D091A08EFE7F}"/>
              </a:ext>
            </a:extLst>
          </p:cNvPr>
          <p:cNvSpPr>
            <a:spLocks noGrp="1"/>
          </p:cNvSpPr>
          <p:nvPr/>
        </p:nvSpPr>
        <p:spPr>
          <a:xfrm>
            <a:off x="7219950" y="590550"/>
            <a:ext cx="3619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A8AC11E3-BE59-4323-A117-639EF67180E5}"/>
              </a:ext>
            </a:extLst>
          </p:cNvPr>
          <p:cNvSpPr>
            <a:spLocks noGrp="1"/>
          </p:cNvSpPr>
          <p:nvPr/>
        </p:nvSpPr>
        <p:spPr>
          <a:xfrm>
            <a:off x="7467600" y="628650"/>
            <a:ext cx="45720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22CBE77F-AFE7-482E-BE44-A3EEFE903213}"/>
              </a:ext>
            </a:extLst>
          </p:cNvPr>
          <p:cNvSpPr>
            <a:spLocks noGrp="1"/>
          </p:cNvSpPr>
          <p:nvPr/>
        </p:nvSpPr>
        <p:spPr>
          <a:xfrm>
            <a:off x="7715250" y="552450"/>
            <a:ext cx="5524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C1837660-EDF6-4648-9B42-0077DA4C018D}"/>
              </a:ext>
            </a:extLst>
          </p:cNvPr>
          <p:cNvSpPr>
            <a:spLocks noGrp="1"/>
          </p:cNvSpPr>
          <p:nvPr/>
        </p:nvSpPr>
        <p:spPr>
          <a:xfrm>
            <a:off x="7962900" y="590550"/>
            <a:ext cx="1714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5625CF78-EC83-4A9F-8597-C3DFCD589B92}"/>
              </a:ext>
            </a:extLst>
          </p:cNvPr>
          <p:cNvSpPr>
            <a:spLocks noGrp="1"/>
          </p:cNvSpPr>
          <p:nvPr/>
        </p:nvSpPr>
        <p:spPr>
          <a:xfrm>
            <a:off x="8210550" y="628650"/>
            <a:ext cx="26670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5B10B579-4E03-4528-A059-07B71A348E9A}"/>
              </a:ext>
            </a:extLst>
          </p:cNvPr>
          <p:cNvSpPr>
            <a:spLocks noGrp="1"/>
          </p:cNvSpPr>
          <p:nvPr/>
        </p:nvSpPr>
        <p:spPr>
          <a:xfrm>
            <a:off x="8458200" y="552450"/>
            <a:ext cx="3619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4275C783-A7FA-4003-8DB7-87A8B703A645}"/>
              </a:ext>
            </a:extLst>
          </p:cNvPr>
          <p:cNvSpPr>
            <a:spLocks noGrp="1"/>
          </p:cNvSpPr>
          <p:nvPr/>
        </p:nvSpPr>
        <p:spPr>
          <a:xfrm>
            <a:off x="8705850" y="590550"/>
            <a:ext cx="45720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9E916FB9-AE6E-4F92-82DC-B2BD8D9D8A67}"/>
              </a:ext>
            </a:extLst>
          </p:cNvPr>
          <p:cNvSpPr>
            <a:spLocks noGrp="1"/>
          </p:cNvSpPr>
          <p:nvPr/>
        </p:nvSpPr>
        <p:spPr>
          <a:xfrm>
            <a:off x="8953500" y="628650"/>
            <a:ext cx="5524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C3E0DA77-B9CA-4D50-84F0-617C9EF52BF3}"/>
              </a:ext>
            </a:extLst>
          </p:cNvPr>
          <p:cNvSpPr>
            <a:spLocks noGrp="1"/>
          </p:cNvSpPr>
          <p:nvPr/>
        </p:nvSpPr>
        <p:spPr>
          <a:xfrm>
            <a:off x="9201150" y="552450"/>
            <a:ext cx="1714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913C844C-1AE3-49D7-BE79-482A92E4B04F}"/>
              </a:ext>
            </a:extLst>
          </p:cNvPr>
          <p:cNvSpPr>
            <a:spLocks noGrp="1"/>
          </p:cNvSpPr>
          <p:nvPr/>
        </p:nvSpPr>
        <p:spPr>
          <a:xfrm>
            <a:off x="9448800" y="590550"/>
            <a:ext cx="26670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4B9696BF-3E8B-4601-99FA-6E3182BCE218}"/>
              </a:ext>
            </a:extLst>
          </p:cNvPr>
          <p:cNvSpPr>
            <a:spLocks noGrp="1"/>
          </p:cNvSpPr>
          <p:nvPr/>
        </p:nvSpPr>
        <p:spPr>
          <a:xfrm>
            <a:off x="9696450" y="628650"/>
            <a:ext cx="3619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7FBACAB9-53B8-413D-A818-6251EF5A2CF1}"/>
              </a:ext>
            </a:extLst>
          </p:cNvPr>
          <p:cNvSpPr>
            <a:spLocks noGrp="1"/>
          </p:cNvSpPr>
          <p:nvPr/>
        </p:nvSpPr>
        <p:spPr>
          <a:xfrm>
            <a:off x="9944100" y="552450"/>
            <a:ext cx="45720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6013DF1B-40A4-4CF6-A196-C313A228CECA}"/>
              </a:ext>
            </a:extLst>
          </p:cNvPr>
          <p:cNvSpPr>
            <a:spLocks noGrp="1"/>
          </p:cNvSpPr>
          <p:nvPr/>
        </p:nvSpPr>
        <p:spPr>
          <a:xfrm>
            <a:off x="10191750" y="590550"/>
            <a:ext cx="5524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2EA51303-A264-4C23-A6B1-755B419F1D32}"/>
              </a:ext>
            </a:extLst>
          </p:cNvPr>
          <p:cNvSpPr>
            <a:spLocks noGrp="1"/>
          </p:cNvSpPr>
          <p:nvPr/>
        </p:nvSpPr>
        <p:spPr>
          <a:xfrm>
            <a:off x="10439400" y="628650"/>
            <a:ext cx="1714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0956920C-9BB0-4A69-BC29-E61CC46087E4}"/>
              </a:ext>
            </a:extLst>
          </p:cNvPr>
          <p:cNvSpPr>
            <a:spLocks noGrp="1"/>
          </p:cNvSpPr>
          <p:nvPr/>
        </p:nvSpPr>
        <p:spPr>
          <a:xfrm>
            <a:off x="10687050" y="552450"/>
            <a:ext cx="26670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3E89DF58-FBC9-49D3-A319-DBD1B250B2D4}"/>
              </a:ext>
            </a:extLst>
          </p:cNvPr>
          <p:cNvSpPr>
            <a:spLocks noGrp="1"/>
          </p:cNvSpPr>
          <p:nvPr/>
        </p:nvSpPr>
        <p:spPr>
          <a:xfrm>
            <a:off x="6858000" y="781050"/>
            <a:ext cx="3619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053C17E8-8450-4CC3-B433-414CE3070258}"/>
              </a:ext>
            </a:extLst>
          </p:cNvPr>
          <p:cNvSpPr>
            <a:spLocks noGrp="1"/>
          </p:cNvSpPr>
          <p:nvPr/>
        </p:nvSpPr>
        <p:spPr>
          <a:xfrm>
            <a:off x="7105650" y="819150"/>
            <a:ext cx="45720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701BCCAF-1A80-4714-8ACD-E7E1846ACAC4}"/>
              </a:ext>
            </a:extLst>
          </p:cNvPr>
          <p:cNvSpPr>
            <a:spLocks noGrp="1"/>
          </p:cNvSpPr>
          <p:nvPr/>
        </p:nvSpPr>
        <p:spPr>
          <a:xfrm>
            <a:off x="7353300" y="857250"/>
            <a:ext cx="5524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20B87354-1017-4108-8954-8BC878DED9BE}"/>
              </a:ext>
            </a:extLst>
          </p:cNvPr>
          <p:cNvSpPr>
            <a:spLocks noGrp="1"/>
          </p:cNvSpPr>
          <p:nvPr/>
        </p:nvSpPr>
        <p:spPr>
          <a:xfrm>
            <a:off x="7600950" y="781050"/>
            <a:ext cx="1714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C19540F3-3A2B-4E65-9D18-97442FF2A4E9}"/>
              </a:ext>
            </a:extLst>
          </p:cNvPr>
          <p:cNvSpPr>
            <a:spLocks noGrp="1"/>
          </p:cNvSpPr>
          <p:nvPr/>
        </p:nvSpPr>
        <p:spPr>
          <a:xfrm>
            <a:off x="7848600" y="819150"/>
            <a:ext cx="26670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9DCF276C-4307-4491-9888-CE11760CA246}"/>
              </a:ext>
            </a:extLst>
          </p:cNvPr>
          <p:cNvSpPr>
            <a:spLocks noGrp="1"/>
          </p:cNvSpPr>
          <p:nvPr/>
        </p:nvSpPr>
        <p:spPr>
          <a:xfrm>
            <a:off x="8096250" y="857250"/>
            <a:ext cx="3619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0B22AA43-86C8-4EF3-8870-82CDB514F62D}"/>
              </a:ext>
            </a:extLst>
          </p:cNvPr>
          <p:cNvSpPr>
            <a:spLocks noGrp="1"/>
          </p:cNvSpPr>
          <p:nvPr/>
        </p:nvSpPr>
        <p:spPr>
          <a:xfrm>
            <a:off x="8343900" y="781050"/>
            <a:ext cx="45720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36E9B511-87A2-43FA-A61C-7C9C2B90AA96}"/>
              </a:ext>
            </a:extLst>
          </p:cNvPr>
          <p:cNvSpPr>
            <a:spLocks noGrp="1"/>
          </p:cNvSpPr>
          <p:nvPr/>
        </p:nvSpPr>
        <p:spPr>
          <a:xfrm>
            <a:off x="8591550" y="819150"/>
            <a:ext cx="5524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7F6BF2CD-5D4B-4FFB-B589-511B50326638}"/>
              </a:ext>
            </a:extLst>
          </p:cNvPr>
          <p:cNvSpPr>
            <a:spLocks noGrp="1"/>
          </p:cNvSpPr>
          <p:nvPr/>
        </p:nvSpPr>
        <p:spPr>
          <a:xfrm>
            <a:off x="8839200" y="857250"/>
            <a:ext cx="1714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2E8436A8-A779-4307-85E6-AF29F293A615}"/>
              </a:ext>
            </a:extLst>
          </p:cNvPr>
          <p:cNvSpPr>
            <a:spLocks noGrp="1"/>
          </p:cNvSpPr>
          <p:nvPr/>
        </p:nvSpPr>
        <p:spPr>
          <a:xfrm>
            <a:off x="9086850" y="781050"/>
            <a:ext cx="26670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035F5A8C-B239-41C1-9637-E27B20E3E7B7}"/>
              </a:ext>
            </a:extLst>
          </p:cNvPr>
          <p:cNvSpPr>
            <a:spLocks noGrp="1"/>
          </p:cNvSpPr>
          <p:nvPr/>
        </p:nvSpPr>
        <p:spPr>
          <a:xfrm>
            <a:off x="9334500" y="819150"/>
            <a:ext cx="3619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Rounded Rectangle 44">
            <a:extLst>
              <a:ext uri="{FF2B5EF4-FFF2-40B4-BE49-F238E27FC236}">
                <a16:creationId xmlns:a16="http://schemas.microsoft.com/office/drawing/2014/main" id="{9B2D5A4C-A34F-41E7-961A-B8473D670FE5}"/>
              </a:ext>
            </a:extLst>
          </p:cNvPr>
          <p:cNvSpPr>
            <a:spLocks noGrp="1"/>
          </p:cNvSpPr>
          <p:nvPr/>
        </p:nvSpPr>
        <p:spPr>
          <a:xfrm>
            <a:off x="9582150" y="857250"/>
            <a:ext cx="45720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Rounded Rectangle 45">
            <a:extLst>
              <a:ext uri="{FF2B5EF4-FFF2-40B4-BE49-F238E27FC236}">
                <a16:creationId xmlns:a16="http://schemas.microsoft.com/office/drawing/2014/main" id="{8D0A7F9E-A70E-4E69-BB94-829C7A466CAC}"/>
              </a:ext>
            </a:extLst>
          </p:cNvPr>
          <p:cNvSpPr>
            <a:spLocks noGrp="1"/>
          </p:cNvSpPr>
          <p:nvPr/>
        </p:nvSpPr>
        <p:spPr>
          <a:xfrm>
            <a:off x="9829800" y="781050"/>
            <a:ext cx="5524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Rounded Rectangle 46">
            <a:extLst>
              <a:ext uri="{FF2B5EF4-FFF2-40B4-BE49-F238E27FC236}">
                <a16:creationId xmlns:a16="http://schemas.microsoft.com/office/drawing/2014/main" id="{3D0CFAA0-BB35-4A83-86C1-D839B0CF79B2}"/>
              </a:ext>
            </a:extLst>
          </p:cNvPr>
          <p:cNvSpPr>
            <a:spLocks noGrp="1"/>
          </p:cNvSpPr>
          <p:nvPr/>
        </p:nvSpPr>
        <p:spPr>
          <a:xfrm>
            <a:off x="10077450" y="819150"/>
            <a:ext cx="1714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Rounded Rectangle 47">
            <a:extLst>
              <a:ext uri="{FF2B5EF4-FFF2-40B4-BE49-F238E27FC236}">
                <a16:creationId xmlns:a16="http://schemas.microsoft.com/office/drawing/2014/main" id="{8AC65C2A-6265-45F6-B836-796A7DDC2067}"/>
              </a:ext>
            </a:extLst>
          </p:cNvPr>
          <p:cNvSpPr>
            <a:spLocks noGrp="1"/>
          </p:cNvSpPr>
          <p:nvPr/>
        </p:nvSpPr>
        <p:spPr>
          <a:xfrm>
            <a:off x="10325100" y="857250"/>
            <a:ext cx="26670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Rounded Rectangle 48">
            <a:extLst>
              <a:ext uri="{FF2B5EF4-FFF2-40B4-BE49-F238E27FC236}">
                <a16:creationId xmlns:a16="http://schemas.microsoft.com/office/drawing/2014/main" id="{5020E94A-B6BC-4B5E-98AD-E2FA510B9AD8}"/>
              </a:ext>
            </a:extLst>
          </p:cNvPr>
          <p:cNvSpPr>
            <a:spLocks noGrp="1"/>
          </p:cNvSpPr>
          <p:nvPr/>
        </p:nvSpPr>
        <p:spPr>
          <a:xfrm>
            <a:off x="10572750" y="781050"/>
            <a:ext cx="3619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Rounded Rectangle 49">
            <a:extLst>
              <a:ext uri="{FF2B5EF4-FFF2-40B4-BE49-F238E27FC236}">
                <a16:creationId xmlns:a16="http://schemas.microsoft.com/office/drawing/2014/main" id="{51AD34AD-AF67-4981-A028-6B5E013877A9}"/>
              </a:ext>
            </a:extLst>
          </p:cNvPr>
          <p:cNvSpPr>
            <a:spLocks noGrp="1"/>
          </p:cNvSpPr>
          <p:nvPr/>
        </p:nvSpPr>
        <p:spPr>
          <a:xfrm>
            <a:off x="6972300" y="1009650"/>
            <a:ext cx="45720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Rounded Rectangle 50">
            <a:extLst>
              <a:ext uri="{FF2B5EF4-FFF2-40B4-BE49-F238E27FC236}">
                <a16:creationId xmlns:a16="http://schemas.microsoft.com/office/drawing/2014/main" id="{D3E56C30-CFF2-4A57-BC35-E86977F868BE}"/>
              </a:ext>
            </a:extLst>
          </p:cNvPr>
          <p:cNvSpPr>
            <a:spLocks noGrp="1"/>
          </p:cNvSpPr>
          <p:nvPr/>
        </p:nvSpPr>
        <p:spPr>
          <a:xfrm>
            <a:off x="7219950" y="1047750"/>
            <a:ext cx="5524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Rounded Rectangle 51">
            <a:extLst>
              <a:ext uri="{FF2B5EF4-FFF2-40B4-BE49-F238E27FC236}">
                <a16:creationId xmlns:a16="http://schemas.microsoft.com/office/drawing/2014/main" id="{52871C91-B2C8-4E69-BEF9-FBEDD8B0403D}"/>
              </a:ext>
            </a:extLst>
          </p:cNvPr>
          <p:cNvSpPr>
            <a:spLocks noGrp="1"/>
          </p:cNvSpPr>
          <p:nvPr/>
        </p:nvSpPr>
        <p:spPr>
          <a:xfrm>
            <a:off x="7467600" y="1085850"/>
            <a:ext cx="1714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Rounded Rectangle 52">
            <a:extLst>
              <a:ext uri="{FF2B5EF4-FFF2-40B4-BE49-F238E27FC236}">
                <a16:creationId xmlns:a16="http://schemas.microsoft.com/office/drawing/2014/main" id="{1615DD8D-C5C1-4467-BA9E-BD7683EE4513}"/>
              </a:ext>
            </a:extLst>
          </p:cNvPr>
          <p:cNvSpPr>
            <a:spLocks noGrp="1"/>
          </p:cNvSpPr>
          <p:nvPr/>
        </p:nvSpPr>
        <p:spPr>
          <a:xfrm>
            <a:off x="7715250" y="1009650"/>
            <a:ext cx="26670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Rounded Rectangle 53">
            <a:extLst>
              <a:ext uri="{FF2B5EF4-FFF2-40B4-BE49-F238E27FC236}">
                <a16:creationId xmlns:a16="http://schemas.microsoft.com/office/drawing/2014/main" id="{AA7052B9-04EB-48D2-A77D-3714AFF2957D}"/>
              </a:ext>
            </a:extLst>
          </p:cNvPr>
          <p:cNvSpPr>
            <a:spLocks noGrp="1"/>
          </p:cNvSpPr>
          <p:nvPr/>
        </p:nvSpPr>
        <p:spPr>
          <a:xfrm>
            <a:off x="7962900" y="1047750"/>
            <a:ext cx="3619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Rounded Rectangle 54">
            <a:extLst>
              <a:ext uri="{FF2B5EF4-FFF2-40B4-BE49-F238E27FC236}">
                <a16:creationId xmlns:a16="http://schemas.microsoft.com/office/drawing/2014/main" id="{1A36EC89-9DB6-4445-A11F-204B148DCFB9}"/>
              </a:ext>
            </a:extLst>
          </p:cNvPr>
          <p:cNvSpPr>
            <a:spLocks noGrp="1"/>
          </p:cNvSpPr>
          <p:nvPr/>
        </p:nvSpPr>
        <p:spPr>
          <a:xfrm>
            <a:off x="8210550" y="1085850"/>
            <a:ext cx="45720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Rounded Rectangle 55">
            <a:extLst>
              <a:ext uri="{FF2B5EF4-FFF2-40B4-BE49-F238E27FC236}">
                <a16:creationId xmlns:a16="http://schemas.microsoft.com/office/drawing/2014/main" id="{089CEC00-64D5-4E03-A591-AD07DA2AD5F1}"/>
              </a:ext>
            </a:extLst>
          </p:cNvPr>
          <p:cNvSpPr>
            <a:spLocks noGrp="1"/>
          </p:cNvSpPr>
          <p:nvPr/>
        </p:nvSpPr>
        <p:spPr>
          <a:xfrm>
            <a:off x="8458200" y="1009650"/>
            <a:ext cx="5524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Rounded Rectangle 56">
            <a:extLst>
              <a:ext uri="{FF2B5EF4-FFF2-40B4-BE49-F238E27FC236}">
                <a16:creationId xmlns:a16="http://schemas.microsoft.com/office/drawing/2014/main" id="{C4236F15-A698-4BDB-92ED-0DD66A18677D}"/>
              </a:ext>
            </a:extLst>
          </p:cNvPr>
          <p:cNvSpPr>
            <a:spLocks noGrp="1"/>
          </p:cNvSpPr>
          <p:nvPr/>
        </p:nvSpPr>
        <p:spPr>
          <a:xfrm>
            <a:off x="8705850" y="1047750"/>
            <a:ext cx="1714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Rounded Rectangle 57">
            <a:extLst>
              <a:ext uri="{FF2B5EF4-FFF2-40B4-BE49-F238E27FC236}">
                <a16:creationId xmlns:a16="http://schemas.microsoft.com/office/drawing/2014/main" id="{8EBA7A4A-5807-4004-9627-60F19CF57177}"/>
              </a:ext>
            </a:extLst>
          </p:cNvPr>
          <p:cNvSpPr>
            <a:spLocks noGrp="1"/>
          </p:cNvSpPr>
          <p:nvPr/>
        </p:nvSpPr>
        <p:spPr>
          <a:xfrm>
            <a:off x="8953500" y="1085850"/>
            <a:ext cx="26670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Rounded Rectangle 58">
            <a:extLst>
              <a:ext uri="{FF2B5EF4-FFF2-40B4-BE49-F238E27FC236}">
                <a16:creationId xmlns:a16="http://schemas.microsoft.com/office/drawing/2014/main" id="{13668283-0992-4FFC-AE25-BE0672E6A0D0}"/>
              </a:ext>
            </a:extLst>
          </p:cNvPr>
          <p:cNvSpPr>
            <a:spLocks noGrp="1"/>
          </p:cNvSpPr>
          <p:nvPr/>
        </p:nvSpPr>
        <p:spPr>
          <a:xfrm>
            <a:off x="9201150" y="1009650"/>
            <a:ext cx="3619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129F086D-5C6E-44BB-8830-E41D52A5068C}"/>
              </a:ext>
            </a:extLst>
          </p:cNvPr>
          <p:cNvSpPr>
            <a:spLocks noGrp="1"/>
          </p:cNvSpPr>
          <p:nvPr/>
        </p:nvSpPr>
        <p:spPr>
          <a:xfrm>
            <a:off x="342900" y="76200"/>
            <a:ext cx="342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 i="0">
                <a:solidFill>
                  <a:srgbClr val="8A8580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8A8580"/>
                </a:solidFill>
                <a:latin typeface="Aptos"/>
                <a:ea typeface="Aptos"/>
                <a:cs typeface="Aptos"/>
              </a:rPr>
              <a:t>Confidential - Oracle Restricted (Employees Only)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04862099-EADE-4019-B2D2-3C42A3DDBC6E}"/>
              </a:ext>
            </a:extLst>
          </p:cNvPr>
          <p:cNvSpPr>
            <a:spLocks noGrp="1"/>
          </p:cNvSpPr>
          <p:nvPr/>
        </p:nvSpPr>
        <p:spPr>
          <a:xfrm>
            <a:off x="342900" y="6572250"/>
            <a:ext cx="2476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 i="0">
                <a:solidFill>
                  <a:srgbClr val="807A76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807A76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727AF5E5-D928-4C42-9E3E-706A6881961A}"/>
              </a:ext>
            </a:extLst>
          </p:cNvPr>
          <p:cNvSpPr>
            <a:spLocks noGrp="1"/>
          </p:cNvSpPr>
          <p:nvPr/>
        </p:nvSpPr>
        <p:spPr>
          <a:xfrm>
            <a:off x="723900" y="6572250"/>
            <a:ext cx="4381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 i="0">
                <a:solidFill>
                  <a:srgbClr val="807A76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807A76"/>
                </a:solidFill>
                <a:latin typeface="Aptos"/>
                <a:ea typeface="Aptos"/>
                <a:cs typeface="Aptos"/>
              </a:rPr>
              <a:t>Problem and Value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6B056CB9-0B7A-4B22-BE74-6DE20376BE46}"/>
              </a:ext>
            </a:extLst>
          </p:cNvPr>
          <p:cNvSpPr>
            <a:spLocks noGrp="1"/>
          </p:cNvSpPr>
          <p:nvPr/>
        </p:nvSpPr>
        <p:spPr>
          <a:xfrm>
            <a:off x="11334750" y="6419850"/>
            <a:ext cx="419100" cy="419100"/>
          </a:xfrm>
          <a:prstGeom prst="rect">
            <a:avLst/>
          </a:prstGeom>
          <a:solidFill>
            <a:srgbClr val="C7463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Rounded Rectangle 63">
            <a:extLst>
              <a:ext uri="{FF2B5EF4-FFF2-40B4-BE49-F238E27FC236}">
                <a16:creationId xmlns:a16="http://schemas.microsoft.com/office/drawing/2014/main" id="{AE660DF6-AA8F-4E90-90A2-CD78A17C0207}"/>
              </a:ext>
            </a:extLst>
          </p:cNvPr>
          <p:cNvSpPr>
            <a:spLocks noGrp="1"/>
          </p:cNvSpPr>
          <p:nvPr/>
        </p:nvSpPr>
        <p:spPr>
          <a:xfrm>
            <a:off x="11430000" y="6562725"/>
            <a:ext cx="228600" cy="114300"/>
          </a:xfrm>
          <a:prstGeom prst="roundRect">
            <a:avLst>
              <a:gd name="adj" fmla="val 50000"/>
            </a:avLst>
          </a:prstGeom>
          <a:solidFill>
            <a:srgbClr val="000000">
              <a:alpha val="0"/>
            </a:srgbClr>
          </a:solidFill>
          <a:ln w="2286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97A25BD9-640F-4AF6-BD26-6DAA2872FCD2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99060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 i="0">
                <a:solidFill>
                  <a:srgbClr val="2B2B2B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 i="0">
                <a:solidFill>
                  <a:srgbClr val="2B2B2B"/>
                </a:solidFill>
                <a:latin typeface="Aptos Display"/>
                <a:ea typeface="Aptos Display"/>
                <a:cs typeface="Aptos Display"/>
              </a:rPr>
              <a:t>Teams need governed AI delivery, not only faster code generation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2D0AA742-CB86-4E20-9E8E-F644B60ECF93}"/>
              </a:ext>
            </a:extLst>
          </p:cNvPr>
          <p:cNvSpPr>
            <a:spLocks noGrp="1"/>
          </p:cNvSpPr>
          <p:nvPr/>
        </p:nvSpPr>
        <p:spPr>
          <a:xfrm>
            <a:off x="609600" y="1219200"/>
            <a:ext cx="99060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 i="0">
                <a:solidFill>
                  <a:srgbClr val="333333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333333"/>
                </a:solidFill>
                <a:latin typeface="Aptos"/>
                <a:ea typeface="Aptos"/>
                <a:cs typeface="Aptos"/>
              </a:rPr>
              <a:t>AI can write code, but enterprise SDLC still needs requirement clarity, standards, approvals, evidence, and PR readiness.</a:t>
            </a:r>
          </a:p>
        </p:txBody>
      </p:sp>
      <p:sp>
        <p:nvSpPr>
          <p:cNvPr id="67" name="Rounded Rectangle 66">
            <a:extLst>
              <a:ext uri="{FF2B5EF4-FFF2-40B4-BE49-F238E27FC236}">
                <a16:creationId xmlns:a16="http://schemas.microsoft.com/office/drawing/2014/main" id="{196E8E70-BCB5-4392-B31F-D4AEF0039DB7}"/>
              </a:ext>
            </a:extLst>
          </p:cNvPr>
          <p:cNvSpPr>
            <a:spLocks noGrp="1"/>
          </p:cNvSpPr>
          <p:nvPr/>
        </p:nvSpPr>
        <p:spPr>
          <a:xfrm>
            <a:off x="552450" y="1695450"/>
            <a:ext cx="5086350" cy="186690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1430">
            <a:solidFill>
              <a:srgbClr val="DED8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DB6CB991-55AF-483F-BE8C-315AE1B49577}"/>
              </a:ext>
            </a:extLst>
          </p:cNvPr>
          <p:cNvSpPr>
            <a:spLocks noGrp="1"/>
          </p:cNvSpPr>
          <p:nvPr/>
        </p:nvSpPr>
        <p:spPr>
          <a:xfrm>
            <a:off x="552450" y="1695450"/>
            <a:ext cx="76200" cy="1866900"/>
          </a:xfrm>
          <a:prstGeom prst="rect">
            <a:avLst/>
          </a:prstGeom>
          <a:solidFill>
            <a:srgbClr val="C7463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0AE5C523-AB33-4313-9E39-B54C21DB4C6D}"/>
              </a:ext>
            </a:extLst>
          </p:cNvPr>
          <p:cNvSpPr>
            <a:spLocks noGrp="1"/>
          </p:cNvSpPr>
          <p:nvPr/>
        </p:nvSpPr>
        <p:spPr>
          <a:xfrm>
            <a:off x="762000" y="1866900"/>
            <a:ext cx="468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 i="0">
                <a:solidFill>
                  <a:srgbClr val="8C1D18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8C1D18"/>
                </a:solidFill>
                <a:latin typeface="Aptos"/>
                <a:ea typeface="Aptos"/>
                <a:cs typeface="Aptos"/>
              </a:rPr>
              <a:t>Problem statement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4503D214-3CED-4C5F-9D27-247157991E5D}"/>
              </a:ext>
            </a:extLst>
          </p:cNvPr>
          <p:cNvSpPr>
            <a:spLocks noGrp="1"/>
          </p:cNvSpPr>
          <p:nvPr/>
        </p:nvSpPr>
        <p:spPr>
          <a:xfrm>
            <a:off x="762000" y="2171700"/>
            <a:ext cx="4686300" cy="1276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 i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500" b="0" i="0" dirty="0">
                <a:solidFill>
                  <a:srgbClr val="2B2B2B"/>
                </a:solidFill>
                <a:latin typeface="Aptos"/>
                <a:ea typeface="Aptos"/>
                <a:cs typeface="Aptos"/>
              </a:rPr>
              <a:t>Developers spend significant time translating tickets into engineering action: understanding requirements, finding impacted files, planning changes, standards rules, </a:t>
            </a:r>
            <a:r>
              <a:rPr lang="en-US" sz="1500" b="0" i="0" dirty="0">
                <a:solidFill>
                  <a:srgbClr val="2B2B2B"/>
                </a:solidFill>
                <a:latin typeface="Aptos"/>
                <a:ea typeface="Aptos"/>
                <a:cs typeface="Aptos"/>
              </a:rPr>
              <a:t>WCAG </a:t>
            </a:r>
            <a:r>
              <a:rPr lang="en-US" sz="1500" dirty="0">
                <a:solidFill>
                  <a:srgbClr val="2B2B2B"/>
                </a:solidFill>
                <a:latin typeface="Aptos"/>
                <a:ea typeface="Aptos"/>
                <a:cs typeface="Aptos"/>
              </a:rPr>
              <a:t>and VPAT, Theme, standards as per company policy </a:t>
            </a:r>
            <a:r>
              <a:rPr sz="1500" b="0" i="0" dirty="0">
                <a:solidFill>
                  <a:srgbClr val="2B2B2B"/>
                </a:solidFill>
                <a:latin typeface="Aptos"/>
                <a:ea typeface="Aptos"/>
                <a:cs typeface="Aptos"/>
              </a:rPr>
              <a:t>and coding-assistant prompts.</a:t>
            </a:r>
          </a:p>
        </p:txBody>
      </p:sp>
      <p:sp>
        <p:nvSpPr>
          <p:cNvPr id="71" name="Rounded Rectangle 70">
            <a:extLst>
              <a:ext uri="{FF2B5EF4-FFF2-40B4-BE49-F238E27FC236}">
                <a16:creationId xmlns:a16="http://schemas.microsoft.com/office/drawing/2014/main" id="{43F99857-F3BB-4828-96F9-2CD2A09C8D39}"/>
              </a:ext>
            </a:extLst>
          </p:cNvPr>
          <p:cNvSpPr>
            <a:spLocks noGrp="1"/>
          </p:cNvSpPr>
          <p:nvPr/>
        </p:nvSpPr>
        <p:spPr>
          <a:xfrm>
            <a:off x="5867400" y="1695450"/>
            <a:ext cx="5562600" cy="186690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1430">
            <a:solidFill>
              <a:srgbClr val="DED8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1E2D57E5-6FAB-4C58-8344-E895C1A1B2AE}"/>
              </a:ext>
            </a:extLst>
          </p:cNvPr>
          <p:cNvSpPr>
            <a:spLocks noGrp="1"/>
          </p:cNvSpPr>
          <p:nvPr/>
        </p:nvSpPr>
        <p:spPr>
          <a:xfrm>
            <a:off x="5867400" y="1695450"/>
            <a:ext cx="76200" cy="1866900"/>
          </a:xfrm>
          <a:prstGeom prst="rect">
            <a:avLst/>
          </a:prstGeom>
          <a:solidFill>
            <a:srgbClr val="2E5F8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CF6F5F65-E8D0-4F90-94E6-E54A8BFB08F6}"/>
              </a:ext>
            </a:extLst>
          </p:cNvPr>
          <p:cNvSpPr>
            <a:spLocks noGrp="1"/>
          </p:cNvSpPr>
          <p:nvPr/>
        </p:nvSpPr>
        <p:spPr>
          <a:xfrm>
            <a:off x="6076950" y="1866900"/>
            <a:ext cx="5162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 i="0">
                <a:solidFill>
                  <a:srgbClr val="8C1D18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8C1D18"/>
                </a:solidFill>
                <a:latin typeface="Aptos"/>
                <a:ea typeface="Aptos"/>
                <a:cs typeface="Aptos"/>
              </a:rPr>
              <a:t>Who faces this problem?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020865F8-EF7C-4104-BECF-A0E78B659933}"/>
              </a:ext>
            </a:extLst>
          </p:cNvPr>
          <p:cNvSpPr>
            <a:spLocks noGrp="1"/>
          </p:cNvSpPr>
          <p:nvPr/>
        </p:nvSpPr>
        <p:spPr>
          <a:xfrm>
            <a:off x="6076950" y="2171700"/>
            <a:ext cx="5162550" cy="1276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0" i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575" b="0" i="0">
                <a:solidFill>
                  <a:srgbClr val="2B2B2B"/>
                </a:solidFill>
                <a:latin typeface="Aptos"/>
                <a:ea typeface="Aptos"/>
                <a:cs typeface="Aptos"/>
              </a:rPr>
              <a:t>Developers, tech leads, reviewers, delivery managers, platform owners, and teams adopting AI-assisted software delivery across governed enterprise repositories.</a:t>
            </a:r>
          </a:p>
        </p:txBody>
      </p:sp>
      <p:sp>
        <p:nvSpPr>
          <p:cNvPr id="75" name="Rounded Rectangle 74">
            <a:extLst>
              <a:ext uri="{FF2B5EF4-FFF2-40B4-BE49-F238E27FC236}">
                <a16:creationId xmlns:a16="http://schemas.microsoft.com/office/drawing/2014/main" id="{7D84F49E-3A51-4194-8823-7CC0F3AD18B6}"/>
              </a:ext>
            </a:extLst>
          </p:cNvPr>
          <p:cNvSpPr>
            <a:spLocks noGrp="1"/>
          </p:cNvSpPr>
          <p:nvPr/>
        </p:nvSpPr>
        <p:spPr>
          <a:xfrm>
            <a:off x="552450" y="3810000"/>
            <a:ext cx="5086350" cy="1676400"/>
          </a:xfrm>
          <a:prstGeom prst="roundRect">
            <a:avLst>
              <a:gd name="adj" fmla="val 4545"/>
            </a:avLst>
          </a:prstGeom>
          <a:solidFill>
            <a:srgbClr val="FFFDFC"/>
          </a:solidFill>
          <a:ln w="11430">
            <a:solidFill>
              <a:srgbClr val="DED8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0BC1925A-E2CD-42F9-9906-DA689E742BE7}"/>
              </a:ext>
            </a:extLst>
          </p:cNvPr>
          <p:cNvSpPr>
            <a:spLocks noGrp="1"/>
          </p:cNvSpPr>
          <p:nvPr/>
        </p:nvSpPr>
        <p:spPr>
          <a:xfrm>
            <a:off x="552450" y="3810000"/>
            <a:ext cx="76200" cy="1676400"/>
          </a:xfrm>
          <a:prstGeom prst="rect">
            <a:avLst/>
          </a:prstGeom>
          <a:solidFill>
            <a:srgbClr val="2F7D4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27649B97-97B3-403C-B5FB-68BE8D28562D}"/>
              </a:ext>
            </a:extLst>
          </p:cNvPr>
          <p:cNvSpPr>
            <a:spLocks noGrp="1"/>
          </p:cNvSpPr>
          <p:nvPr/>
        </p:nvSpPr>
        <p:spPr>
          <a:xfrm>
            <a:off x="762000" y="3981450"/>
            <a:ext cx="468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 i="0">
                <a:solidFill>
                  <a:srgbClr val="8C1D18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8C1D18"/>
                </a:solidFill>
                <a:latin typeface="Aptos"/>
                <a:ea typeface="Aptos"/>
                <a:cs typeface="Aptos"/>
              </a:rPr>
              <a:t>ODT answer</a:t>
            </a: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373E4BDE-F328-4E71-8DB0-0AD9E7C238A9}"/>
              </a:ext>
            </a:extLst>
          </p:cNvPr>
          <p:cNvSpPr>
            <a:spLocks noGrp="1"/>
          </p:cNvSpPr>
          <p:nvPr/>
        </p:nvSpPr>
        <p:spPr>
          <a:xfrm>
            <a:off x="762000" y="4286250"/>
            <a:ext cx="4686300" cy="1085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 i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2B2B2B"/>
                </a:solidFill>
                <a:latin typeface="Aptos"/>
                <a:ea typeface="Aptos"/>
                <a:cs typeface="Aptos"/>
              </a:rPr>
              <a:t>ODT turns hidden preparation work into a visible SDLC workflow: intake, analysis, design, standards, approval, delegation, review, build verification, and PR readiness.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3B0EC658-7A0A-4619-BB6C-0703A9DE4CB7}"/>
              </a:ext>
            </a:extLst>
          </p:cNvPr>
          <p:cNvSpPr>
            <a:spLocks noGrp="1"/>
          </p:cNvSpPr>
          <p:nvPr/>
        </p:nvSpPr>
        <p:spPr>
          <a:xfrm>
            <a:off x="5867400" y="3810000"/>
            <a:ext cx="2000250" cy="342900"/>
          </a:xfrm>
          <a:prstGeom prst="rect">
            <a:avLst/>
          </a:prstGeom>
          <a:solidFill>
            <a:srgbClr val="EEE8E1"/>
          </a:solidFill>
          <a:ln w="9525">
            <a:solidFill>
              <a:srgbClr val="DED8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36E45F85-C8F7-4676-804C-9BF9E25DBEB7}"/>
              </a:ext>
            </a:extLst>
          </p:cNvPr>
          <p:cNvSpPr>
            <a:spLocks noGrp="1"/>
          </p:cNvSpPr>
          <p:nvPr/>
        </p:nvSpPr>
        <p:spPr>
          <a:xfrm>
            <a:off x="5962650" y="3924300"/>
            <a:ext cx="1809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1" i="0">
                <a:solidFill>
                  <a:srgbClr val="8C1D18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8C1D18"/>
                </a:solidFill>
                <a:latin typeface="Aptos"/>
                <a:ea typeface="Aptos"/>
                <a:cs typeface="Aptos"/>
              </a:rPr>
              <a:t>Improvement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3E78B100-C469-4BD5-9E74-536A2DEDBB26}"/>
              </a:ext>
            </a:extLst>
          </p:cNvPr>
          <p:cNvSpPr>
            <a:spLocks noGrp="1"/>
          </p:cNvSpPr>
          <p:nvPr/>
        </p:nvSpPr>
        <p:spPr>
          <a:xfrm>
            <a:off x="7867650" y="3810000"/>
            <a:ext cx="3562350" cy="342900"/>
          </a:xfrm>
          <a:prstGeom prst="rect">
            <a:avLst/>
          </a:prstGeom>
          <a:solidFill>
            <a:srgbClr val="EEE8E1"/>
          </a:solidFill>
          <a:ln w="9525">
            <a:solidFill>
              <a:srgbClr val="DED8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279684BB-C77A-4032-B059-306EE1E20BB2}"/>
              </a:ext>
            </a:extLst>
          </p:cNvPr>
          <p:cNvSpPr>
            <a:spLocks noGrp="1"/>
          </p:cNvSpPr>
          <p:nvPr/>
        </p:nvSpPr>
        <p:spPr>
          <a:xfrm>
            <a:off x="7962900" y="3924300"/>
            <a:ext cx="33718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1" i="0">
                <a:solidFill>
                  <a:srgbClr val="8C1D18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8C1D18"/>
                </a:solidFill>
                <a:latin typeface="Aptos"/>
                <a:ea typeface="Aptos"/>
                <a:cs typeface="Aptos"/>
              </a:rPr>
              <a:t>ODT contribution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C04DAB49-8850-48FC-89A1-DEEA433E8332}"/>
              </a:ext>
            </a:extLst>
          </p:cNvPr>
          <p:cNvSpPr>
            <a:spLocks noGrp="1"/>
          </p:cNvSpPr>
          <p:nvPr/>
        </p:nvSpPr>
        <p:spPr>
          <a:xfrm>
            <a:off x="5867400" y="4152900"/>
            <a:ext cx="2000250" cy="342900"/>
          </a:xfrm>
          <a:prstGeom prst="rect">
            <a:avLst/>
          </a:prstGeom>
          <a:solidFill>
            <a:srgbClr val="FFFFFF"/>
          </a:solidFill>
          <a:ln w="9525">
            <a:solidFill>
              <a:srgbClr val="DED8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961A648E-39EB-4C0E-9C17-5B8D88D94666}"/>
              </a:ext>
            </a:extLst>
          </p:cNvPr>
          <p:cNvSpPr>
            <a:spLocks noGrp="1"/>
          </p:cNvSpPr>
          <p:nvPr/>
        </p:nvSpPr>
        <p:spPr>
          <a:xfrm>
            <a:off x="5962650" y="4238625"/>
            <a:ext cx="1809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 i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2B2B2B"/>
                </a:solidFill>
                <a:latin typeface="Aptos"/>
                <a:ea typeface="Aptos"/>
                <a:cs typeface="Aptos"/>
              </a:rPr>
              <a:t>Less repeated prep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7688B9A3-DA7E-4996-806A-5472D5ED70EC}"/>
              </a:ext>
            </a:extLst>
          </p:cNvPr>
          <p:cNvSpPr>
            <a:spLocks noGrp="1"/>
          </p:cNvSpPr>
          <p:nvPr/>
        </p:nvSpPr>
        <p:spPr>
          <a:xfrm>
            <a:off x="7867650" y="4152900"/>
            <a:ext cx="3562350" cy="342900"/>
          </a:xfrm>
          <a:prstGeom prst="rect">
            <a:avLst/>
          </a:prstGeom>
          <a:solidFill>
            <a:srgbClr val="FFFFFF"/>
          </a:solidFill>
          <a:ln w="9525">
            <a:solidFill>
              <a:srgbClr val="DED8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B513312F-9CD0-44AA-A05E-C1DA956CA269}"/>
              </a:ext>
            </a:extLst>
          </p:cNvPr>
          <p:cNvSpPr>
            <a:spLocks noGrp="1"/>
          </p:cNvSpPr>
          <p:nvPr/>
        </p:nvSpPr>
        <p:spPr>
          <a:xfrm>
            <a:off x="7962900" y="4238625"/>
            <a:ext cx="33718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 i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2B2B2B"/>
                </a:solidFill>
                <a:latin typeface="Aptos"/>
                <a:ea typeface="Aptos"/>
                <a:cs typeface="Aptos"/>
              </a:rPr>
              <a:t>Local evidence + scoped prompts</a:t>
            </a: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468B17EC-5F89-4D3C-BB73-490AA31C85B9}"/>
              </a:ext>
            </a:extLst>
          </p:cNvPr>
          <p:cNvSpPr>
            <a:spLocks noGrp="1"/>
          </p:cNvSpPr>
          <p:nvPr/>
        </p:nvSpPr>
        <p:spPr>
          <a:xfrm>
            <a:off x="5867400" y="4495800"/>
            <a:ext cx="2000250" cy="342900"/>
          </a:xfrm>
          <a:prstGeom prst="rect">
            <a:avLst/>
          </a:prstGeom>
          <a:solidFill>
            <a:srgbClr val="FFFFFF"/>
          </a:solidFill>
          <a:ln w="9525">
            <a:solidFill>
              <a:srgbClr val="DED8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523C723E-01C8-4868-926F-47A3768C827F}"/>
              </a:ext>
            </a:extLst>
          </p:cNvPr>
          <p:cNvSpPr>
            <a:spLocks noGrp="1"/>
          </p:cNvSpPr>
          <p:nvPr/>
        </p:nvSpPr>
        <p:spPr>
          <a:xfrm>
            <a:off x="5962650" y="4581525"/>
            <a:ext cx="1809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 i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2B2B2B"/>
                </a:solidFill>
                <a:latin typeface="Aptos"/>
                <a:ea typeface="Aptos"/>
                <a:cs typeface="Aptos"/>
              </a:rPr>
              <a:t>Better quality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8CA2D504-288C-4CF8-B11E-5D0550227377}"/>
              </a:ext>
            </a:extLst>
          </p:cNvPr>
          <p:cNvSpPr>
            <a:spLocks noGrp="1"/>
          </p:cNvSpPr>
          <p:nvPr/>
        </p:nvSpPr>
        <p:spPr>
          <a:xfrm>
            <a:off x="7867650" y="4495800"/>
            <a:ext cx="3562350" cy="342900"/>
          </a:xfrm>
          <a:prstGeom prst="rect">
            <a:avLst/>
          </a:prstGeom>
          <a:solidFill>
            <a:srgbClr val="FFFFFF"/>
          </a:solidFill>
          <a:ln w="9525">
            <a:solidFill>
              <a:srgbClr val="DED8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E2CF14F8-7ED6-4A5E-AB93-82D63363BD5D}"/>
              </a:ext>
            </a:extLst>
          </p:cNvPr>
          <p:cNvSpPr>
            <a:spLocks noGrp="1"/>
          </p:cNvSpPr>
          <p:nvPr/>
        </p:nvSpPr>
        <p:spPr>
          <a:xfrm>
            <a:off x="7962900" y="4581525"/>
            <a:ext cx="33718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 i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2B2B2B"/>
                </a:solidFill>
                <a:latin typeface="Aptos"/>
                <a:ea typeface="Aptos"/>
                <a:cs typeface="Aptos"/>
              </a:rPr>
              <a:t>Standards and review gates</a:t>
            </a: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3918B7E9-527C-4A4A-86E6-BE672C1A5343}"/>
              </a:ext>
            </a:extLst>
          </p:cNvPr>
          <p:cNvSpPr>
            <a:spLocks noGrp="1"/>
          </p:cNvSpPr>
          <p:nvPr/>
        </p:nvSpPr>
        <p:spPr>
          <a:xfrm>
            <a:off x="5867400" y="4838700"/>
            <a:ext cx="2000250" cy="342900"/>
          </a:xfrm>
          <a:prstGeom prst="rect">
            <a:avLst/>
          </a:prstGeom>
          <a:solidFill>
            <a:srgbClr val="FFFFFF"/>
          </a:solidFill>
          <a:ln w="9525">
            <a:solidFill>
              <a:srgbClr val="DED8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249B9CF3-889C-4092-B5AA-EDA56DAA2A9E}"/>
              </a:ext>
            </a:extLst>
          </p:cNvPr>
          <p:cNvSpPr>
            <a:spLocks noGrp="1"/>
          </p:cNvSpPr>
          <p:nvPr/>
        </p:nvSpPr>
        <p:spPr>
          <a:xfrm>
            <a:off x="5962650" y="4924425"/>
            <a:ext cx="1809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 i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2B2B2B"/>
                </a:solidFill>
                <a:latin typeface="Aptos"/>
                <a:ea typeface="Aptos"/>
                <a:cs typeface="Aptos"/>
              </a:rPr>
              <a:t>Safer AI use</a:t>
            </a: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46D738FB-EF03-4DC2-A5F0-17E70ADA6628}"/>
              </a:ext>
            </a:extLst>
          </p:cNvPr>
          <p:cNvSpPr>
            <a:spLocks noGrp="1"/>
          </p:cNvSpPr>
          <p:nvPr/>
        </p:nvSpPr>
        <p:spPr>
          <a:xfrm>
            <a:off x="7867650" y="4838700"/>
            <a:ext cx="3562350" cy="342900"/>
          </a:xfrm>
          <a:prstGeom prst="rect">
            <a:avLst/>
          </a:prstGeom>
          <a:solidFill>
            <a:srgbClr val="FFFFFF"/>
          </a:solidFill>
          <a:ln w="9525">
            <a:solidFill>
              <a:srgbClr val="DED8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1150EFAA-CBD3-441D-BFDA-EAD5FE891EBF}"/>
              </a:ext>
            </a:extLst>
          </p:cNvPr>
          <p:cNvSpPr>
            <a:spLocks noGrp="1"/>
          </p:cNvSpPr>
          <p:nvPr/>
        </p:nvSpPr>
        <p:spPr>
          <a:xfrm>
            <a:off x="7962900" y="4924425"/>
            <a:ext cx="33718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 i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2B2B2B"/>
                </a:solidFill>
                <a:latin typeface="Aptos"/>
                <a:ea typeface="Aptos"/>
                <a:cs typeface="Aptos"/>
              </a:rPr>
              <a:t>Human approval before writes</a:t>
            </a: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198A5689-D47D-4DBD-B7D8-048FF6519678}"/>
              </a:ext>
            </a:extLst>
          </p:cNvPr>
          <p:cNvSpPr>
            <a:spLocks noGrp="1"/>
          </p:cNvSpPr>
          <p:nvPr/>
        </p:nvSpPr>
        <p:spPr>
          <a:xfrm>
            <a:off x="5867400" y="5181600"/>
            <a:ext cx="2000250" cy="342900"/>
          </a:xfrm>
          <a:prstGeom prst="rect">
            <a:avLst/>
          </a:prstGeom>
          <a:solidFill>
            <a:srgbClr val="FFFFFF"/>
          </a:solidFill>
          <a:ln w="9525">
            <a:solidFill>
              <a:srgbClr val="DED8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E080A243-13A0-4DF7-9608-A1236A75BF79}"/>
              </a:ext>
            </a:extLst>
          </p:cNvPr>
          <p:cNvSpPr>
            <a:spLocks noGrp="1"/>
          </p:cNvSpPr>
          <p:nvPr/>
        </p:nvSpPr>
        <p:spPr>
          <a:xfrm>
            <a:off x="5962650" y="5267325"/>
            <a:ext cx="1809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 i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2B2B2B"/>
                </a:solidFill>
                <a:latin typeface="Aptos"/>
                <a:ea typeface="Aptos"/>
                <a:cs typeface="Aptos"/>
              </a:rPr>
              <a:t>Clearer PRs</a:t>
            </a: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ECF66031-FA5D-48E5-B735-61084833488D}"/>
              </a:ext>
            </a:extLst>
          </p:cNvPr>
          <p:cNvSpPr>
            <a:spLocks noGrp="1"/>
          </p:cNvSpPr>
          <p:nvPr/>
        </p:nvSpPr>
        <p:spPr>
          <a:xfrm>
            <a:off x="7867650" y="5181600"/>
            <a:ext cx="3562350" cy="342900"/>
          </a:xfrm>
          <a:prstGeom prst="rect">
            <a:avLst/>
          </a:prstGeom>
          <a:solidFill>
            <a:srgbClr val="FFFFFF"/>
          </a:solidFill>
          <a:ln w="9525">
            <a:solidFill>
              <a:srgbClr val="DED8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DC6AA4BB-4D3B-4AF0-A71B-BF970B11F404}"/>
              </a:ext>
            </a:extLst>
          </p:cNvPr>
          <p:cNvSpPr>
            <a:spLocks noGrp="1"/>
          </p:cNvSpPr>
          <p:nvPr/>
        </p:nvSpPr>
        <p:spPr>
          <a:xfrm>
            <a:off x="7962900" y="5267325"/>
            <a:ext cx="33718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 i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2B2B2B"/>
                </a:solidFill>
                <a:latin typeface="Aptos"/>
                <a:ea typeface="Aptos"/>
                <a:cs typeface="Aptos"/>
              </a:rPr>
              <a:t>Evidence-backed closeout</a:t>
            </a: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26D6FA1C-C77A-4EED-AE17-8B708B759642}"/>
              </a:ext>
            </a:extLst>
          </p:cNvPr>
          <p:cNvSpPr>
            <a:spLocks noGrp="1"/>
          </p:cNvSpPr>
          <p:nvPr/>
        </p:nvSpPr>
        <p:spPr>
          <a:xfrm>
            <a:off x="552450" y="5857875"/>
            <a:ext cx="10858500" cy="400050"/>
          </a:xfrm>
          <a:prstGeom prst="rect">
            <a:avLst/>
          </a:prstGeom>
          <a:solidFill>
            <a:srgbClr val="FFF4D6"/>
          </a:solidFill>
          <a:ln w="9525">
            <a:solidFill>
              <a:srgbClr val="E9C8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997CF55F-C8F7-485F-B38F-3A166AA436A2}"/>
              </a:ext>
            </a:extLst>
          </p:cNvPr>
          <p:cNvSpPr>
            <a:spLocks noGrp="1"/>
          </p:cNvSpPr>
          <p:nvPr/>
        </p:nvSpPr>
        <p:spPr>
          <a:xfrm>
            <a:off x="723900" y="5953125"/>
            <a:ext cx="10515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575" b="0" i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575" b="0" i="0">
                <a:solidFill>
                  <a:srgbClr val="2B2B2B"/>
                </a:solidFill>
                <a:latin typeface="Aptos"/>
                <a:ea typeface="Aptos"/>
                <a:cs typeface="Aptos"/>
              </a:rPr>
              <a:t>ODT helps teams stay closer to the requirement while keeping execution governed and review-ready.</a:t>
            </a:r>
          </a:p>
        </p:txBody>
      </p:sp>
    </p:spTree>
    <p:extLst>
      <p:ext uri="{BB962C8B-B14F-4D97-AF65-F5344CB8AC3E}">
        <p14:creationId xmlns:p14="http://schemas.microsoft.com/office/powerpoint/2010/main" val="5610552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Rectangle 83">
            <a:extLst>
              <a:ext uri="{FF2B5EF4-FFF2-40B4-BE49-F238E27FC236}">
                <a16:creationId xmlns:a16="http://schemas.microsoft.com/office/drawing/2014/main" id="{70A26661-EB6A-4965-BCE7-F51FE3079CD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E665422A-CB2F-4B11-B7B7-1771DA5B35AB}"/>
              </a:ext>
            </a:extLst>
          </p:cNvPr>
          <p:cNvSpPr>
            <a:spLocks noGrp="1"/>
          </p:cNvSpPr>
          <p:nvPr/>
        </p:nvSpPr>
        <p:spPr>
          <a:xfrm>
            <a:off x="6858000" y="323850"/>
            <a:ext cx="1714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1A565E7A-A122-4E57-9034-221805B29579}"/>
              </a:ext>
            </a:extLst>
          </p:cNvPr>
          <p:cNvSpPr>
            <a:spLocks noGrp="1"/>
          </p:cNvSpPr>
          <p:nvPr/>
        </p:nvSpPr>
        <p:spPr>
          <a:xfrm>
            <a:off x="7105650" y="361950"/>
            <a:ext cx="26670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76CFFA3B-E63B-446C-8747-3E8FFA884134}"/>
              </a:ext>
            </a:extLst>
          </p:cNvPr>
          <p:cNvSpPr>
            <a:spLocks noGrp="1"/>
          </p:cNvSpPr>
          <p:nvPr/>
        </p:nvSpPr>
        <p:spPr>
          <a:xfrm>
            <a:off x="7353300" y="400050"/>
            <a:ext cx="3619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5ADBEBAB-4E57-4B3D-AC89-D59B4A39AB93}"/>
              </a:ext>
            </a:extLst>
          </p:cNvPr>
          <p:cNvSpPr>
            <a:spLocks noGrp="1"/>
          </p:cNvSpPr>
          <p:nvPr/>
        </p:nvSpPr>
        <p:spPr>
          <a:xfrm>
            <a:off x="7600950" y="323850"/>
            <a:ext cx="45720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301B9870-3829-4FD0-B610-AED4537A656A}"/>
              </a:ext>
            </a:extLst>
          </p:cNvPr>
          <p:cNvSpPr>
            <a:spLocks noGrp="1"/>
          </p:cNvSpPr>
          <p:nvPr/>
        </p:nvSpPr>
        <p:spPr>
          <a:xfrm>
            <a:off x="7848600" y="361950"/>
            <a:ext cx="5524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CE197437-8322-4FE0-9134-E3A944AD6595}"/>
              </a:ext>
            </a:extLst>
          </p:cNvPr>
          <p:cNvSpPr>
            <a:spLocks noGrp="1"/>
          </p:cNvSpPr>
          <p:nvPr/>
        </p:nvSpPr>
        <p:spPr>
          <a:xfrm>
            <a:off x="8096250" y="400050"/>
            <a:ext cx="1714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89279F97-0A31-4CE5-8577-560B9A315532}"/>
              </a:ext>
            </a:extLst>
          </p:cNvPr>
          <p:cNvSpPr>
            <a:spLocks noGrp="1"/>
          </p:cNvSpPr>
          <p:nvPr/>
        </p:nvSpPr>
        <p:spPr>
          <a:xfrm>
            <a:off x="8343900" y="323850"/>
            <a:ext cx="26670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5D164F6D-6025-421C-8F95-53D66401DBBC}"/>
              </a:ext>
            </a:extLst>
          </p:cNvPr>
          <p:cNvSpPr>
            <a:spLocks noGrp="1"/>
          </p:cNvSpPr>
          <p:nvPr/>
        </p:nvSpPr>
        <p:spPr>
          <a:xfrm>
            <a:off x="8591550" y="361950"/>
            <a:ext cx="3619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E5706193-41B2-49E5-90C8-6E3F2EC35B95}"/>
              </a:ext>
            </a:extLst>
          </p:cNvPr>
          <p:cNvSpPr>
            <a:spLocks noGrp="1"/>
          </p:cNvSpPr>
          <p:nvPr/>
        </p:nvSpPr>
        <p:spPr>
          <a:xfrm>
            <a:off x="8839200" y="400050"/>
            <a:ext cx="45720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04905A8E-8228-4A9D-B224-F469435C6D8B}"/>
              </a:ext>
            </a:extLst>
          </p:cNvPr>
          <p:cNvSpPr>
            <a:spLocks noGrp="1"/>
          </p:cNvSpPr>
          <p:nvPr/>
        </p:nvSpPr>
        <p:spPr>
          <a:xfrm>
            <a:off x="9086850" y="323850"/>
            <a:ext cx="5524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8A62D6FC-DB1F-4CB1-B73B-7273876F6750}"/>
              </a:ext>
            </a:extLst>
          </p:cNvPr>
          <p:cNvSpPr>
            <a:spLocks noGrp="1"/>
          </p:cNvSpPr>
          <p:nvPr/>
        </p:nvSpPr>
        <p:spPr>
          <a:xfrm>
            <a:off x="9334500" y="361950"/>
            <a:ext cx="1714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08573626-0F87-4C38-A445-C74902F9F77A}"/>
              </a:ext>
            </a:extLst>
          </p:cNvPr>
          <p:cNvSpPr>
            <a:spLocks noGrp="1"/>
          </p:cNvSpPr>
          <p:nvPr/>
        </p:nvSpPr>
        <p:spPr>
          <a:xfrm>
            <a:off x="9582150" y="400050"/>
            <a:ext cx="26670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F4C5F793-25D1-41DC-BE90-4D46DED2431E}"/>
              </a:ext>
            </a:extLst>
          </p:cNvPr>
          <p:cNvSpPr>
            <a:spLocks noGrp="1"/>
          </p:cNvSpPr>
          <p:nvPr/>
        </p:nvSpPr>
        <p:spPr>
          <a:xfrm>
            <a:off x="9829800" y="323850"/>
            <a:ext cx="3619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EA42C9B1-2701-458B-968B-E4F5B1AF4A5A}"/>
              </a:ext>
            </a:extLst>
          </p:cNvPr>
          <p:cNvSpPr>
            <a:spLocks noGrp="1"/>
          </p:cNvSpPr>
          <p:nvPr/>
        </p:nvSpPr>
        <p:spPr>
          <a:xfrm>
            <a:off x="10077450" y="361950"/>
            <a:ext cx="45720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7E550BB3-9104-481B-86D2-605EEE5BAC91}"/>
              </a:ext>
            </a:extLst>
          </p:cNvPr>
          <p:cNvSpPr>
            <a:spLocks noGrp="1"/>
          </p:cNvSpPr>
          <p:nvPr/>
        </p:nvSpPr>
        <p:spPr>
          <a:xfrm>
            <a:off x="10325100" y="400050"/>
            <a:ext cx="5524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1E6CE4E5-74F8-44B9-8B66-3BFA9EFCF153}"/>
              </a:ext>
            </a:extLst>
          </p:cNvPr>
          <p:cNvSpPr>
            <a:spLocks noGrp="1"/>
          </p:cNvSpPr>
          <p:nvPr/>
        </p:nvSpPr>
        <p:spPr>
          <a:xfrm>
            <a:off x="10572750" y="323850"/>
            <a:ext cx="1714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4E741F96-7216-449D-B15C-763D853E4D6F}"/>
              </a:ext>
            </a:extLst>
          </p:cNvPr>
          <p:cNvSpPr>
            <a:spLocks noGrp="1"/>
          </p:cNvSpPr>
          <p:nvPr/>
        </p:nvSpPr>
        <p:spPr>
          <a:xfrm>
            <a:off x="6972300" y="552450"/>
            <a:ext cx="26670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08918E7F-D576-459B-8620-0580437F00BC}"/>
              </a:ext>
            </a:extLst>
          </p:cNvPr>
          <p:cNvSpPr>
            <a:spLocks noGrp="1"/>
          </p:cNvSpPr>
          <p:nvPr/>
        </p:nvSpPr>
        <p:spPr>
          <a:xfrm>
            <a:off x="7219950" y="590550"/>
            <a:ext cx="3619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2EA42A92-0051-4268-B9F3-4F174A86F44D}"/>
              </a:ext>
            </a:extLst>
          </p:cNvPr>
          <p:cNvSpPr>
            <a:spLocks noGrp="1"/>
          </p:cNvSpPr>
          <p:nvPr/>
        </p:nvSpPr>
        <p:spPr>
          <a:xfrm>
            <a:off x="7467600" y="628650"/>
            <a:ext cx="45720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E2F587C0-D6F5-4D92-A14E-F161FF04F532}"/>
              </a:ext>
            </a:extLst>
          </p:cNvPr>
          <p:cNvSpPr>
            <a:spLocks noGrp="1"/>
          </p:cNvSpPr>
          <p:nvPr/>
        </p:nvSpPr>
        <p:spPr>
          <a:xfrm>
            <a:off x="7715250" y="552450"/>
            <a:ext cx="5524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7E76CEA1-0670-4384-84E1-B51679411A09}"/>
              </a:ext>
            </a:extLst>
          </p:cNvPr>
          <p:cNvSpPr>
            <a:spLocks noGrp="1"/>
          </p:cNvSpPr>
          <p:nvPr/>
        </p:nvSpPr>
        <p:spPr>
          <a:xfrm>
            <a:off x="7962900" y="590550"/>
            <a:ext cx="1714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58C384E6-B37A-437A-B89A-D7E1ADE34C47}"/>
              </a:ext>
            </a:extLst>
          </p:cNvPr>
          <p:cNvSpPr>
            <a:spLocks noGrp="1"/>
          </p:cNvSpPr>
          <p:nvPr/>
        </p:nvSpPr>
        <p:spPr>
          <a:xfrm>
            <a:off x="8210550" y="628650"/>
            <a:ext cx="26670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EFE25285-6F33-4D4B-B0A5-A214F28F8D82}"/>
              </a:ext>
            </a:extLst>
          </p:cNvPr>
          <p:cNvSpPr>
            <a:spLocks noGrp="1"/>
          </p:cNvSpPr>
          <p:nvPr/>
        </p:nvSpPr>
        <p:spPr>
          <a:xfrm>
            <a:off x="8458200" y="552450"/>
            <a:ext cx="3619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7EED9C47-976B-47A6-AD84-D4FADF77AC25}"/>
              </a:ext>
            </a:extLst>
          </p:cNvPr>
          <p:cNvSpPr>
            <a:spLocks noGrp="1"/>
          </p:cNvSpPr>
          <p:nvPr/>
        </p:nvSpPr>
        <p:spPr>
          <a:xfrm>
            <a:off x="8705850" y="590550"/>
            <a:ext cx="45720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6DD5ACB0-B955-4973-914F-E381D109F9BB}"/>
              </a:ext>
            </a:extLst>
          </p:cNvPr>
          <p:cNvSpPr>
            <a:spLocks noGrp="1"/>
          </p:cNvSpPr>
          <p:nvPr/>
        </p:nvSpPr>
        <p:spPr>
          <a:xfrm>
            <a:off x="8953500" y="628650"/>
            <a:ext cx="5524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ECA1EBC6-E766-4316-A373-AFC1E1F1F903}"/>
              </a:ext>
            </a:extLst>
          </p:cNvPr>
          <p:cNvSpPr>
            <a:spLocks noGrp="1"/>
          </p:cNvSpPr>
          <p:nvPr/>
        </p:nvSpPr>
        <p:spPr>
          <a:xfrm>
            <a:off x="9201150" y="552450"/>
            <a:ext cx="1714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D286E62A-B89B-4EFD-8E8E-1EAAA285848F}"/>
              </a:ext>
            </a:extLst>
          </p:cNvPr>
          <p:cNvSpPr>
            <a:spLocks noGrp="1"/>
          </p:cNvSpPr>
          <p:nvPr/>
        </p:nvSpPr>
        <p:spPr>
          <a:xfrm>
            <a:off x="9448800" y="590550"/>
            <a:ext cx="26670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CC1C7EF2-1E9A-48CD-B341-1A8BF3C0205A}"/>
              </a:ext>
            </a:extLst>
          </p:cNvPr>
          <p:cNvSpPr>
            <a:spLocks noGrp="1"/>
          </p:cNvSpPr>
          <p:nvPr/>
        </p:nvSpPr>
        <p:spPr>
          <a:xfrm>
            <a:off x="9696450" y="628650"/>
            <a:ext cx="3619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37FCCC4C-30B7-465B-9B2E-52EE836170DE}"/>
              </a:ext>
            </a:extLst>
          </p:cNvPr>
          <p:cNvSpPr>
            <a:spLocks noGrp="1"/>
          </p:cNvSpPr>
          <p:nvPr/>
        </p:nvSpPr>
        <p:spPr>
          <a:xfrm>
            <a:off x="9944100" y="552450"/>
            <a:ext cx="45720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421E8B25-034C-4416-9B27-3639CF6F5951}"/>
              </a:ext>
            </a:extLst>
          </p:cNvPr>
          <p:cNvSpPr>
            <a:spLocks noGrp="1"/>
          </p:cNvSpPr>
          <p:nvPr/>
        </p:nvSpPr>
        <p:spPr>
          <a:xfrm>
            <a:off x="10191750" y="590550"/>
            <a:ext cx="5524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D0BD3FEC-DE64-4104-AFB7-C760B2485261}"/>
              </a:ext>
            </a:extLst>
          </p:cNvPr>
          <p:cNvSpPr>
            <a:spLocks noGrp="1"/>
          </p:cNvSpPr>
          <p:nvPr/>
        </p:nvSpPr>
        <p:spPr>
          <a:xfrm>
            <a:off x="10439400" y="628650"/>
            <a:ext cx="1714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DBF24BED-19E3-48C6-A82F-8ECFA8703BF1}"/>
              </a:ext>
            </a:extLst>
          </p:cNvPr>
          <p:cNvSpPr>
            <a:spLocks noGrp="1"/>
          </p:cNvSpPr>
          <p:nvPr/>
        </p:nvSpPr>
        <p:spPr>
          <a:xfrm>
            <a:off x="10687050" y="552450"/>
            <a:ext cx="26670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40F9C4B6-E6D6-4BFD-A8F7-2F0E66879166}"/>
              </a:ext>
            </a:extLst>
          </p:cNvPr>
          <p:cNvSpPr>
            <a:spLocks noGrp="1"/>
          </p:cNvSpPr>
          <p:nvPr/>
        </p:nvSpPr>
        <p:spPr>
          <a:xfrm>
            <a:off x="6858000" y="781050"/>
            <a:ext cx="3619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B633C59E-3E15-4F8E-B61A-2D070DF27497}"/>
              </a:ext>
            </a:extLst>
          </p:cNvPr>
          <p:cNvSpPr>
            <a:spLocks noGrp="1"/>
          </p:cNvSpPr>
          <p:nvPr/>
        </p:nvSpPr>
        <p:spPr>
          <a:xfrm>
            <a:off x="7105650" y="819150"/>
            <a:ext cx="45720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A9375252-F449-46FB-BCB3-C065131E7F5B}"/>
              </a:ext>
            </a:extLst>
          </p:cNvPr>
          <p:cNvSpPr>
            <a:spLocks noGrp="1"/>
          </p:cNvSpPr>
          <p:nvPr/>
        </p:nvSpPr>
        <p:spPr>
          <a:xfrm>
            <a:off x="7353300" y="857250"/>
            <a:ext cx="5524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39862DB7-982D-4A50-9AC3-79E4010C98F7}"/>
              </a:ext>
            </a:extLst>
          </p:cNvPr>
          <p:cNvSpPr>
            <a:spLocks noGrp="1"/>
          </p:cNvSpPr>
          <p:nvPr/>
        </p:nvSpPr>
        <p:spPr>
          <a:xfrm>
            <a:off x="7600950" y="781050"/>
            <a:ext cx="1714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D1C2391E-1268-43BE-9B94-A0AF26C91F2A}"/>
              </a:ext>
            </a:extLst>
          </p:cNvPr>
          <p:cNvSpPr>
            <a:spLocks noGrp="1"/>
          </p:cNvSpPr>
          <p:nvPr/>
        </p:nvSpPr>
        <p:spPr>
          <a:xfrm>
            <a:off x="7848600" y="819150"/>
            <a:ext cx="26670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E1C2A068-BF5E-4B4D-AAAB-DB98788F6C91}"/>
              </a:ext>
            </a:extLst>
          </p:cNvPr>
          <p:cNvSpPr>
            <a:spLocks noGrp="1"/>
          </p:cNvSpPr>
          <p:nvPr/>
        </p:nvSpPr>
        <p:spPr>
          <a:xfrm>
            <a:off x="8096250" y="857250"/>
            <a:ext cx="3619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0FB81E8B-A239-4E73-A5C5-B14EA5D0B5C6}"/>
              </a:ext>
            </a:extLst>
          </p:cNvPr>
          <p:cNvSpPr>
            <a:spLocks noGrp="1"/>
          </p:cNvSpPr>
          <p:nvPr/>
        </p:nvSpPr>
        <p:spPr>
          <a:xfrm>
            <a:off x="8343900" y="781050"/>
            <a:ext cx="45720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8B009503-AA4A-4741-8F0F-F4FD321938AD}"/>
              </a:ext>
            </a:extLst>
          </p:cNvPr>
          <p:cNvSpPr>
            <a:spLocks noGrp="1"/>
          </p:cNvSpPr>
          <p:nvPr/>
        </p:nvSpPr>
        <p:spPr>
          <a:xfrm>
            <a:off x="8591550" y="819150"/>
            <a:ext cx="5524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876804B0-0152-4CAE-886F-5B4860809A7A}"/>
              </a:ext>
            </a:extLst>
          </p:cNvPr>
          <p:cNvSpPr>
            <a:spLocks noGrp="1"/>
          </p:cNvSpPr>
          <p:nvPr/>
        </p:nvSpPr>
        <p:spPr>
          <a:xfrm>
            <a:off x="8839200" y="857250"/>
            <a:ext cx="1714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B5BFFC70-B415-46C6-BDDB-F7504ED82119}"/>
              </a:ext>
            </a:extLst>
          </p:cNvPr>
          <p:cNvSpPr>
            <a:spLocks noGrp="1"/>
          </p:cNvSpPr>
          <p:nvPr/>
        </p:nvSpPr>
        <p:spPr>
          <a:xfrm>
            <a:off x="9086850" y="781050"/>
            <a:ext cx="26670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5A2FAF6B-67A6-49A9-839F-12187818B274}"/>
              </a:ext>
            </a:extLst>
          </p:cNvPr>
          <p:cNvSpPr>
            <a:spLocks noGrp="1"/>
          </p:cNvSpPr>
          <p:nvPr/>
        </p:nvSpPr>
        <p:spPr>
          <a:xfrm>
            <a:off x="9334500" y="819150"/>
            <a:ext cx="3619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Rounded Rectangle 44">
            <a:extLst>
              <a:ext uri="{FF2B5EF4-FFF2-40B4-BE49-F238E27FC236}">
                <a16:creationId xmlns:a16="http://schemas.microsoft.com/office/drawing/2014/main" id="{ADD07098-B8C1-4309-8353-81227B30B82C}"/>
              </a:ext>
            </a:extLst>
          </p:cNvPr>
          <p:cNvSpPr>
            <a:spLocks noGrp="1"/>
          </p:cNvSpPr>
          <p:nvPr/>
        </p:nvSpPr>
        <p:spPr>
          <a:xfrm>
            <a:off x="9582150" y="857250"/>
            <a:ext cx="45720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Rounded Rectangle 45">
            <a:extLst>
              <a:ext uri="{FF2B5EF4-FFF2-40B4-BE49-F238E27FC236}">
                <a16:creationId xmlns:a16="http://schemas.microsoft.com/office/drawing/2014/main" id="{5706A521-DC52-4C6F-BC11-0BE53DAD173E}"/>
              </a:ext>
            </a:extLst>
          </p:cNvPr>
          <p:cNvSpPr>
            <a:spLocks noGrp="1"/>
          </p:cNvSpPr>
          <p:nvPr/>
        </p:nvSpPr>
        <p:spPr>
          <a:xfrm>
            <a:off x="9829800" y="781050"/>
            <a:ext cx="5524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Rounded Rectangle 46">
            <a:extLst>
              <a:ext uri="{FF2B5EF4-FFF2-40B4-BE49-F238E27FC236}">
                <a16:creationId xmlns:a16="http://schemas.microsoft.com/office/drawing/2014/main" id="{0EB4E842-1C65-48DB-84D1-7016B655C527}"/>
              </a:ext>
            </a:extLst>
          </p:cNvPr>
          <p:cNvSpPr>
            <a:spLocks noGrp="1"/>
          </p:cNvSpPr>
          <p:nvPr/>
        </p:nvSpPr>
        <p:spPr>
          <a:xfrm>
            <a:off x="10077450" y="819150"/>
            <a:ext cx="1714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Rounded Rectangle 47">
            <a:extLst>
              <a:ext uri="{FF2B5EF4-FFF2-40B4-BE49-F238E27FC236}">
                <a16:creationId xmlns:a16="http://schemas.microsoft.com/office/drawing/2014/main" id="{ACD283F3-669F-4EAB-9273-5F3A2EBA07A9}"/>
              </a:ext>
            </a:extLst>
          </p:cNvPr>
          <p:cNvSpPr>
            <a:spLocks noGrp="1"/>
          </p:cNvSpPr>
          <p:nvPr/>
        </p:nvSpPr>
        <p:spPr>
          <a:xfrm>
            <a:off x="10325100" y="857250"/>
            <a:ext cx="26670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Rounded Rectangle 48">
            <a:extLst>
              <a:ext uri="{FF2B5EF4-FFF2-40B4-BE49-F238E27FC236}">
                <a16:creationId xmlns:a16="http://schemas.microsoft.com/office/drawing/2014/main" id="{70CE22A0-04F7-49E3-82CC-67944D8AB746}"/>
              </a:ext>
            </a:extLst>
          </p:cNvPr>
          <p:cNvSpPr>
            <a:spLocks noGrp="1"/>
          </p:cNvSpPr>
          <p:nvPr/>
        </p:nvSpPr>
        <p:spPr>
          <a:xfrm>
            <a:off x="10572750" y="781050"/>
            <a:ext cx="3619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Rounded Rectangle 49">
            <a:extLst>
              <a:ext uri="{FF2B5EF4-FFF2-40B4-BE49-F238E27FC236}">
                <a16:creationId xmlns:a16="http://schemas.microsoft.com/office/drawing/2014/main" id="{5D423C39-B69B-4205-95D4-77B45213E00C}"/>
              </a:ext>
            </a:extLst>
          </p:cNvPr>
          <p:cNvSpPr>
            <a:spLocks noGrp="1"/>
          </p:cNvSpPr>
          <p:nvPr/>
        </p:nvSpPr>
        <p:spPr>
          <a:xfrm>
            <a:off x="6972300" y="1009650"/>
            <a:ext cx="45720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Rounded Rectangle 50">
            <a:extLst>
              <a:ext uri="{FF2B5EF4-FFF2-40B4-BE49-F238E27FC236}">
                <a16:creationId xmlns:a16="http://schemas.microsoft.com/office/drawing/2014/main" id="{596BFBE8-E24A-4CF2-AA08-A5F9CA360BBE}"/>
              </a:ext>
            </a:extLst>
          </p:cNvPr>
          <p:cNvSpPr>
            <a:spLocks noGrp="1"/>
          </p:cNvSpPr>
          <p:nvPr/>
        </p:nvSpPr>
        <p:spPr>
          <a:xfrm>
            <a:off x="7219950" y="1047750"/>
            <a:ext cx="5524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Rounded Rectangle 51">
            <a:extLst>
              <a:ext uri="{FF2B5EF4-FFF2-40B4-BE49-F238E27FC236}">
                <a16:creationId xmlns:a16="http://schemas.microsoft.com/office/drawing/2014/main" id="{E14333A1-72AE-4D65-93AB-043AE918807D}"/>
              </a:ext>
            </a:extLst>
          </p:cNvPr>
          <p:cNvSpPr>
            <a:spLocks noGrp="1"/>
          </p:cNvSpPr>
          <p:nvPr/>
        </p:nvSpPr>
        <p:spPr>
          <a:xfrm>
            <a:off x="7467600" y="1085850"/>
            <a:ext cx="1714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Rounded Rectangle 52">
            <a:extLst>
              <a:ext uri="{FF2B5EF4-FFF2-40B4-BE49-F238E27FC236}">
                <a16:creationId xmlns:a16="http://schemas.microsoft.com/office/drawing/2014/main" id="{EEF27AA8-1C79-46A8-BA78-2A44BD6239AD}"/>
              </a:ext>
            </a:extLst>
          </p:cNvPr>
          <p:cNvSpPr>
            <a:spLocks noGrp="1"/>
          </p:cNvSpPr>
          <p:nvPr/>
        </p:nvSpPr>
        <p:spPr>
          <a:xfrm>
            <a:off x="7715250" y="1009650"/>
            <a:ext cx="26670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Rounded Rectangle 53">
            <a:extLst>
              <a:ext uri="{FF2B5EF4-FFF2-40B4-BE49-F238E27FC236}">
                <a16:creationId xmlns:a16="http://schemas.microsoft.com/office/drawing/2014/main" id="{751EC9DE-6EA2-49A8-8F9F-8F028CB7288C}"/>
              </a:ext>
            </a:extLst>
          </p:cNvPr>
          <p:cNvSpPr>
            <a:spLocks noGrp="1"/>
          </p:cNvSpPr>
          <p:nvPr/>
        </p:nvSpPr>
        <p:spPr>
          <a:xfrm>
            <a:off x="7962900" y="1047750"/>
            <a:ext cx="3619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Rounded Rectangle 54">
            <a:extLst>
              <a:ext uri="{FF2B5EF4-FFF2-40B4-BE49-F238E27FC236}">
                <a16:creationId xmlns:a16="http://schemas.microsoft.com/office/drawing/2014/main" id="{3FEF9705-89FC-4209-AA3F-5327D7BD94E9}"/>
              </a:ext>
            </a:extLst>
          </p:cNvPr>
          <p:cNvSpPr>
            <a:spLocks noGrp="1"/>
          </p:cNvSpPr>
          <p:nvPr/>
        </p:nvSpPr>
        <p:spPr>
          <a:xfrm>
            <a:off x="8210550" y="1085850"/>
            <a:ext cx="45720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Rounded Rectangle 55">
            <a:extLst>
              <a:ext uri="{FF2B5EF4-FFF2-40B4-BE49-F238E27FC236}">
                <a16:creationId xmlns:a16="http://schemas.microsoft.com/office/drawing/2014/main" id="{931876A7-6C30-4809-9D7E-950A9C672436}"/>
              </a:ext>
            </a:extLst>
          </p:cNvPr>
          <p:cNvSpPr>
            <a:spLocks noGrp="1"/>
          </p:cNvSpPr>
          <p:nvPr/>
        </p:nvSpPr>
        <p:spPr>
          <a:xfrm>
            <a:off x="8458200" y="1009650"/>
            <a:ext cx="5524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Rounded Rectangle 56">
            <a:extLst>
              <a:ext uri="{FF2B5EF4-FFF2-40B4-BE49-F238E27FC236}">
                <a16:creationId xmlns:a16="http://schemas.microsoft.com/office/drawing/2014/main" id="{510D03CB-FDA4-4C5A-A651-DB9AAE42D368}"/>
              </a:ext>
            </a:extLst>
          </p:cNvPr>
          <p:cNvSpPr>
            <a:spLocks noGrp="1"/>
          </p:cNvSpPr>
          <p:nvPr/>
        </p:nvSpPr>
        <p:spPr>
          <a:xfrm>
            <a:off x="8705850" y="1047750"/>
            <a:ext cx="1714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Rounded Rectangle 57">
            <a:extLst>
              <a:ext uri="{FF2B5EF4-FFF2-40B4-BE49-F238E27FC236}">
                <a16:creationId xmlns:a16="http://schemas.microsoft.com/office/drawing/2014/main" id="{5F7A4283-2103-474B-A838-D7ABCDF94313}"/>
              </a:ext>
            </a:extLst>
          </p:cNvPr>
          <p:cNvSpPr>
            <a:spLocks noGrp="1"/>
          </p:cNvSpPr>
          <p:nvPr/>
        </p:nvSpPr>
        <p:spPr>
          <a:xfrm>
            <a:off x="8953500" y="1085850"/>
            <a:ext cx="26670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Rounded Rectangle 58">
            <a:extLst>
              <a:ext uri="{FF2B5EF4-FFF2-40B4-BE49-F238E27FC236}">
                <a16:creationId xmlns:a16="http://schemas.microsoft.com/office/drawing/2014/main" id="{65F1F74E-4228-4314-8F7E-BB9E17C6719F}"/>
              </a:ext>
            </a:extLst>
          </p:cNvPr>
          <p:cNvSpPr>
            <a:spLocks noGrp="1"/>
          </p:cNvSpPr>
          <p:nvPr/>
        </p:nvSpPr>
        <p:spPr>
          <a:xfrm>
            <a:off x="9201150" y="1009650"/>
            <a:ext cx="3619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E6A63332-E6BB-49AC-B262-5C115196AE87}"/>
              </a:ext>
            </a:extLst>
          </p:cNvPr>
          <p:cNvSpPr>
            <a:spLocks noGrp="1"/>
          </p:cNvSpPr>
          <p:nvPr/>
        </p:nvSpPr>
        <p:spPr>
          <a:xfrm>
            <a:off x="342900" y="76200"/>
            <a:ext cx="342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 i="0">
                <a:solidFill>
                  <a:srgbClr val="8A8580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8A8580"/>
                </a:solidFill>
                <a:latin typeface="Aptos"/>
                <a:ea typeface="Aptos"/>
                <a:cs typeface="Aptos"/>
              </a:rPr>
              <a:t>Confidential - Oracle Restricted (Employees Only)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D440AB0E-3887-458A-BD1C-6B1AB2D46B13}"/>
              </a:ext>
            </a:extLst>
          </p:cNvPr>
          <p:cNvSpPr>
            <a:spLocks noGrp="1"/>
          </p:cNvSpPr>
          <p:nvPr/>
        </p:nvSpPr>
        <p:spPr>
          <a:xfrm>
            <a:off x="342900" y="6572250"/>
            <a:ext cx="2476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 i="0">
                <a:solidFill>
                  <a:srgbClr val="807A76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807A76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1064AB75-AEEC-48BD-BF95-478EDF15975E}"/>
              </a:ext>
            </a:extLst>
          </p:cNvPr>
          <p:cNvSpPr>
            <a:spLocks noGrp="1"/>
          </p:cNvSpPr>
          <p:nvPr/>
        </p:nvSpPr>
        <p:spPr>
          <a:xfrm>
            <a:off x="723900" y="6572250"/>
            <a:ext cx="4381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 i="0">
                <a:solidFill>
                  <a:srgbClr val="807A76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807A76"/>
                </a:solidFill>
                <a:latin typeface="Aptos"/>
                <a:ea typeface="Aptos"/>
                <a:cs typeface="Aptos"/>
              </a:rPr>
              <a:t>Positioning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295E071E-B957-4661-84CA-21CACF4522D0}"/>
              </a:ext>
            </a:extLst>
          </p:cNvPr>
          <p:cNvSpPr>
            <a:spLocks noGrp="1"/>
          </p:cNvSpPr>
          <p:nvPr/>
        </p:nvSpPr>
        <p:spPr>
          <a:xfrm>
            <a:off x="11334750" y="6419850"/>
            <a:ext cx="419100" cy="419100"/>
          </a:xfrm>
          <a:prstGeom prst="rect">
            <a:avLst/>
          </a:prstGeom>
          <a:solidFill>
            <a:srgbClr val="C7463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Rounded Rectangle 63">
            <a:extLst>
              <a:ext uri="{FF2B5EF4-FFF2-40B4-BE49-F238E27FC236}">
                <a16:creationId xmlns:a16="http://schemas.microsoft.com/office/drawing/2014/main" id="{CE00566F-06A1-496D-8101-030F3861FE48}"/>
              </a:ext>
            </a:extLst>
          </p:cNvPr>
          <p:cNvSpPr>
            <a:spLocks noGrp="1"/>
          </p:cNvSpPr>
          <p:nvPr/>
        </p:nvSpPr>
        <p:spPr>
          <a:xfrm>
            <a:off x="11430000" y="6562725"/>
            <a:ext cx="228600" cy="114300"/>
          </a:xfrm>
          <a:prstGeom prst="roundRect">
            <a:avLst>
              <a:gd name="adj" fmla="val 50000"/>
            </a:avLst>
          </a:prstGeom>
          <a:solidFill>
            <a:srgbClr val="000000">
              <a:alpha val="0"/>
            </a:srgbClr>
          </a:solidFill>
          <a:ln w="2286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18C7FC98-F30D-4D6A-BEC8-A6F2530EFCD3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99060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 i="0">
                <a:solidFill>
                  <a:srgbClr val="2B2B2B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 i="0">
                <a:solidFill>
                  <a:srgbClr val="2B2B2B"/>
                </a:solidFill>
                <a:latin typeface="Aptos Display"/>
                <a:ea typeface="Aptos Display"/>
                <a:cs typeface="Aptos Display"/>
              </a:rPr>
              <a:t>ODT complements Codex and Cline by governing the full SDLC path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29793B00-1143-4C88-AEC9-3C0D271789ED}"/>
              </a:ext>
            </a:extLst>
          </p:cNvPr>
          <p:cNvSpPr>
            <a:spLocks noGrp="1"/>
          </p:cNvSpPr>
          <p:nvPr/>
        </p:nvSpPr>
        <p:spPr>
          <a:xfrm>
            <a:off x="609600" y="1219200"/>
            <a:ext cx="99060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 i="0">
                <a:solidFill>
                  <a:srgbClr val="333333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333333"/>
                </a:solidFill>
                <a:latin typeface="Aptos"/>
                <a:ea typeface="Aptos"/>
                <a:cs typeface="Aptos"/>
              </a:rPr>
              <a:t>Worker engines are powerful. ODT decides what context they get, when they run, and what evidence is required.</a:t>
            </a:r>
          </a:p>
        </p:txBody>
      </p:sp>
      <p:sp>
        <p:nvSpPr>
          <p:cNvPr id="67" name="Rounded Rectangle 66">
            <a:extLst>
              <a:ext uri="{FF2B5EF4-FFF2-40B4-BE49-F238E27FC236}">
                <a16:creationId xmlns:a16="http://schemas.microsoft.com/office/drawing/2014/main" id="{F7D1D193-1654-4FED-BD60-7E828E7EEC0A}"/>
              </a:ext>
            </a:extLst>
          </p:cNvPr>
          <p:cNvSpPr>
            <a:spLocks noGrp="1"/>
          </p:cNvSpPr>
          <p:nvPr/>
        </p:nvSpPr>
        <p:spPr>
          <a:xfrm>
            <a:off x="723900" y="1666875"/>
            <a:ext cx="2781300" cy="3143250"/>
          </a:xfrm>
          <a:prstGeom prst="roundRect">
            <a:avLst>
              <a:gd name="adj" fmla="val 2740"/>
            </a:avLst>
          </a:prstGeom>
          <a:solidFill>
            <a:srgbClr val="FFFFFF"/>
          </a:solidFill>
          <a:ln w="11430">
            <a:solidFill>
              <a:srgbClr val="DED8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2CF7F720-9914-4AED-8EB0-038CFC600868}"/>
              </a:ext>
            </a:extLst>
          </p:cNvPr>
          <p:cNvSpPr>
            <a:spLocks noGrp="1"/>
          </p:cNvSpPr>
          <p:nvPr/>
        </p:nvSpPr>
        <p:spPr>
          <a:xfrm>
            <a:off x="723900" y="1666875"/>
            <a:ext cx="76200" cy="3143250"/>
          </a:xfrm>
          <a:prstGeom prst="rect">
            <a:avLst/>
          </a:prstGeom>
          <a:solidFill>
            <a:srgbClr val="2E5F8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68A186D6-13BB-474A-8DBD-AC112D9CA1FA}"/>
              </a:ext>
            </a:extLst>
          </p:cNvPr>
          <p:cNvSpPr>
            <a:spLocks noGrp="1"/>
          </p:cNvSpPr>
          <p:nvPr/>
        </p:nvSpPr>
        <p:spPr>
          <a:xfrm>
            <a:off x="933450" y="1838325"/>
            <a:ext cx="238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 i="0">
                <a:solidFill>
                  <a:srgbClr val="2E5F8A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2E5F8A"/>
                </a:solidFill>
                <a:latin typeface="Aptos"/>
                <a:ea typeface="Aptos"/>
                <a:cs typeface="Aptos"/>
              </a:rPr>
              <a:t>Codex / Cline / Cursor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A5C34A61-F2BE-4A21-BDC5-92884D4FE8F1}"/>
              </a:ext>
            </a:extLst>
          </p:cNvPr>
          <p:cNvSpPr>
            <a:spLocks noGrp="1"/>
          </p:cNvSpPr>
          <p:nvPr/>
        </p:nvSpPr>
        <p:spPr>
          <a:xfrm>
            <a:off x="933450" y="2143125"/>
            <a:ext cx="2381250" cy="2552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 i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2B2B2B"/>
                </a:solidFill>
                <a:latin typeface="Aptos"/>
                <a:ea typeface="Aptos"/>
                <a:cs typeface="Aptos"/>
              </a:rPr>
              <a:t>Excellent coding and technical execution assistants.</a:t>
            </a:r>
          </a:p>
          <a:p>
            <a:endParaRPr sz="1350" b="0" i="0">
              <a:solidFill>
                <a:srgbClr val="2B2B2B"/>
              </a:solidFill>
              <a:latin typeface="Aptos"/>
              <a:ea typeface="Aptos"/>
              <a:cs typeface="Aptos"/>
            </a:endParaRPr>
          </a:p>
          <a:p>
            <a:pPr algn="l">
              <a:defRPr sz="1350" b="0" i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2B2B2B"/>
                </a:solidFill>
                <a:latin typeface="Aptos"/>
                <a:ea typeface="Aptos"/>
                <a:cs typeface="Aptos"/>
              </a:rPr>
              <a:t>Weakness if used alone:</a:t>
            </a:r>
          </a:p>
          <a:p>
            <a:pPr algn="l">
              <a:defRPr sz="1350" b="0" i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2B2B2B"/>
                </a:solidFill>
                <a:latin typeface="Aptos"/>
                <a:ea typeface="Aptos"/>
                <a:cs typeface="Aptos"/>
              </a:rPr>
              <a:t>- prompt/session dependent</a:t>
            </a:r>
          </a:p>
          <a:p>
            <a:pPr algn="l">
              <a:defRPr sz="1350" b="0" i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2B2B2B"/>
                </a:solidFill>
                <a:latin typeface="Aptos"/>
                <a:ea typeface="Aptos"/>
                <a:cs typeface="Aptos"/>
              </a:rPr>
              <a:t>- standards depend on user memory</a:t>
            </a:r>
          </a:p>
          <a:p>
            <a:pPr algn="l">
              <a:defRPr sz="1350" b="0" i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2B2B2B"/>
                </a:solidFill>
                <a:latin typeface="Aptos"/>
                <a:ea typeface="Aptos"/>
                <a:cs typeface="Aptos"/>
              </a:rPr>
              <a:t>- evidence is scattered</a:t>
            </a:r>
          </a:p>
          <a:p>
            <a:pPr algn="l">
              <a:defRPr sz="1350" b="0" i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2B2B2B"/>
                </a:solidFill>
                <a:latin typeface="Aptos"/>
                <a:ea typeface="Aptos"/>
                <a:cs typeface="Aptos"/>
              </a:rPr>
              <a:t>- approval is manual</a:t>
            </a:r>
          </a:p>
        </p:txBody>
      </p:sp>
      <p:sp>
        <p:nvSpPr>
          <p:cNvPr id="71" name="Right Arrow 70">
            <a:extLst>
              <a:ext uri="{FF2B5EF4-FFF2-40B4-BE49-F238E27FC236}">
                <a16:creationId xmlns:a16="http://schemas.microsoft.com/office/drawing/2014/main" id="{6D74A3E7-9460-4DBF-ADF4-A371B2BF55F3}"/>
              </a:ext>
            </a:extLst>
          </p:cNvPr>
          <p:cNvSpPr>
            <a:spLocks noGrp="1"/>
          </p:cNvSpPr>
          <p:nvPr/>
        </p:nvSpPr>
        <p:spPr>
          <a:xfrm>
            <a:off x="3714750" y="2914650"/>
            <a:ext cx="590550" cy="247650"/>
          </a:xfrm>
          <a:prstGeom prst="rightArrow">
            <a:avLst/>
          </a:prstGeom>
          <a:solidFill>
            <a:srgbClr val="C74634"/>
          </a:solidFill>
          <a:ln w="9525">
            <a:solidFill>
              <a:srgbClr val="C746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Rounded Rectangle 71">
            <a:extLst>
              <a:ext uri="{FF2B5EF4-FFF2-40B4-BE49-F238E27FC236}">
                <a16:creationId xmlns:a16="http://schemas.microsoft.com/office/drawing/2014/main" id="{43D852C9-F62D-45C9-B6F8-41EF0B7431DF}"/>
              </a:ext>
            </a:extLst>
          </p:cNvPr>
          <p:cNvSpPr>
            <a:spLocks noGrp="1"/>
          </p:cNvSpPr>
          <p:nvPr/>
        </p:nvSpPr>
        <p:spPr>
          <a:xfrm>
            <a:off x="4514850" y="1428750"/>
            <a:ext cx="3143250" cy="3657600"/>
          </a:xfrm>
          <a:prstGeom prst="roundRect">
            <a:avLst>
              <a:gd name="adj" fmla="val 2424"/>
            </a:avLst>
          </a:prstGeom>
          <a:solidFill>
            <a:srgbClr val="FBE5E1"/>
          </a:solidFill>
          <a:ln w="11430">
            <a:solidFill>
              <a:srgbClr val="DED8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939A04D3-74E4-44F6-A42A-A796F728543E}"/>
              </a:ext>
            </a:extLst>
          </p:cNvPr>
          <p:cNvSpPr>
            <a:spLocks noGrp="1"/>
          </p:cNvSpPr>
          <p:nvPr/>
        </p:nvSpPr>
        <p:spPr>
          <a:xfrm>
            <a:off x="4514850" y="1428750"/>
            <a:ext cx="76200" cy="3657600"/>
          </a:xfrm>
          <a:prstGeom prst="rect">
            <a:avLst/>
          </a:prstGeom>
          <a:solidFill>
            <a:srgbClr val="C7463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0BA3B743-A483-4A3C-BF1F-7DE88DBD28CE}"/>
              </a:ext>
            </a:extLst>
          </p:cNvPr>
          <p:cNvSpPr>
            <a:spLocks noGrp="1"/>
          </p:cNvSpPr>
          <p:nvPr/>
        </p:nvSpPr>
        <p:spPr>
          <a:xfrm>
            <a:off x="4724400" y="1600200"/>
            <a:ext cx="27432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 i="0">
                <a:solidFill>
                  <a:srgbClr val="8C1D18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8C1D18"/>
                </a:solidFill>
                <a:latin typeface="Aptos"/>
                <a:ea typeface="Aptos"/>
                <a:cs typeface="Aptos"/>
              </a:rPr>
              <a:t>ODT 2.0 Control Plane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BD66D6E3-FB6C-4325-B934-6900F02C0D37}"/>
              </a:ext>
            </a:extLst>
          </p:cNvPr>
          <p:cNvSpPr>
            <a:spLocks noGrp="1"/>
          </p:cNvSpPr>
          <p:nvPr/>
        </p:nvSpPr>
        <p:spPr>
          <a:xfrm>
            <a:off x="4724400" y="1905000"/>
            <a:ext cx="2743200" cy="3067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 i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350" b="0" i="0" dirty="0">
                <a:solidFill>
                  <a:srgbClr val="2B2B2B"/>
                </a:solidFill>
                <a:latin typeface="Aptos"/>
                <a:ea typeface="Aptos"/>
                <a:cs typeface="Aptos"/>
              </a:rPr>
              <a:t>Owns SDLC workflow:</a:t>
            </a:r>
          </a:p>
          <a:p>
            <a:pPr algn="l">
              <a:defRPr sz="1350" b="0" i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350" b="0" i="0" dirty="0">
                <a:solidFill>
                  <a:srgbClr val="2B2B2B"/>
                </a:solidFill>
                <a:latin typeface="Aptos"/>
                <a:ea typeface="Aptos"/>
                <a:cs typeface="Aptos"/>
              </a:rPr>
              <a:t>- requirement intake</a:t>
            </a:r>
          </a:p>
          <a:p>
            <a:pPr algn="l">
              <a:defRPr sz="1350" b="0" i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350" b="0" i="0" dirty="0">
                <a:solidFill>
                  <a:srgbClr val="2B2B2B"/>
                </a:solidFill>
                <a:latin typeface="Aptos"/>
                <a:ea typeface="Aptos"/>
                <a:cs typeface="Aptos"/>
              </a:rPr>
              <a:t>- repo/Jira evidence</a:t>
            </a:r>
          </a:p>
          <a:p>
            <a:pPr algn="l">
              <a:defRPr sz="1350" b="0" i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350" b="0" i="0" dirty="0">
                <a:solidFill>
                  <a:srgbClr val="2B2B2B"/>
                </a:solidFill>
                <a:latin typeface="Aptos"/>
                <a:ea typeface="Aptos"/>
                <a:cs typeface="Aptos"/>
              </a:rPr>
              <a:t>- standards gate</a:t>
            </a:r>
          </a:p>
          <a:p>
            <a:pPr algn="l">
              <a:defRPr sz="1350" b="0" i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350" b="0" i="0" dirty="0">
                <a:solidFill>
                  <a:srgbClr val="2B2B2B"/>
                </a:solidFill>
                <a:latin typeface="Aptos"/>
                <a:ea typeface="Aptos"/>
                <a:cs typeface="Aptos"/>
              </a:rPr>
              <a:t>- human approval</a:t>
            </a:r>
          </a:p>
          <a:p>
            <a:pPr algn="l">
              <a:defRPr sz="1350" b="0" i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350" b="0" i="0" dirty="0">
                <a:solidFill>
                  <a:srgbClr val="2B2B2B"/>
                </a:solidFill>
                <a:latin typeface="Aptos"/>
                <a:ea typeface="Aptos"/>
                <a:cs typeface="Aptos"/>
              </a:rPr>
              <a:t>- worker handoff</a:t>
            </a:r>
          </a:p>
          <a:p>
            <a:pPr algn="l">
              <a:defRPr sz="1350" b="0" i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350" b="0" i="0" dirty="0">
                <a:solidFill>
                  <a:srgbClr val="2B2B2B"/>
                </a:solidFill>
                <a:latin typeface="Aptos"/>
                <a:ea typeface="Aptos"/>
                <a:cs typeface="Aptos"/>
              </a:rPr>
              <a:t>- relay context</a:t>
            </a:r>
          </a:p>
          <a:p>
            <a:pPr algn="l">
              <a:defRPr sz="1350" b="0" i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350" b="0" i="0" dirty="0">
                <a:solidFill>
                  <a:srgbClr val="2B2B2B"/>
                </a:solidFill>
                <a:latin typeface="Aptos"/>
                <a:ea typeface="Aptos"/>
                <a:cs typeface="Aptos"/>
              </a:rPr>
              <a:t>- review/rework</a:t>
            </a:r>
          </a:p>
          <a:p>
            <a:pPr algn="l">
              <a:defRPr sz="1350" b="0" i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350" b="0" i="0" dirty="0">
                <a:solidFill>
                  <a:srgbClr val="2B2B2B"/>
                </a:solidFill>
                <a:latin typeface="Aptos"/>
                <a:ea typeface="Aptos"/>
                <a:cs typeface="Aptos"/>
              </a:rPr>
              <a:t>- build proof</a:t>
            </a:r>
          </a:p>
          <a:p>
            <a:pPr algn="l">
              <a:defRPr sz="1350" b="0" i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350" b="0" i="0" dirty="0">
                <a:solidFill>
                  <a:srgbClr val="2B2B2B"/>
                </a:solidFill>
                <a:latin typeface="Aptos"/>
                <a:ea typeface="Aptos"/>
                <a:cs typeface="Aptos"/>
              </a:rPr>
              <a:t>- PR readiness</a:t>
            </a:r>
            <a:endParaRPr lang="en-US" sz="1350" b="0" i="0" dirty="0">
              <a:solidFill>
                <a:srgbClr val="2B2B2B"/>
              </a:solidFill>
              <a:latin typeface="Aptos"/>
              <a:ea typeface="Aptos"/>
              <a:cs typeface="Aptos"/>
            </a:endParaRPr>
          </a:p>
          <a:p>
            <a:pPr algn="l">
              <a:defRPr sz="1350" b="0" i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lang="en-US" sz="1350" dirty="0">
                <a:solidFill>
                  <a:srgbClr val="2B2B2B"/>
                </a:solidFill>
                <a:latin typeface="Aptos"/>
                <a:ea typeface="Aptos"/>
                <a:cs typeface="Aptos"/>
              </a:rPr>
              <a:t>- audit</a:t>
            </a:r>
            <a:endParaRPr sz="1350" b="0" i="0" dirty="0">
              <a:solidFill>
                <a:srgbClr val="2B2B2B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6" name="Right Arrow 75">
            <a:extLst>
              <a:ext uri="{FF2B5EF4-FFF2-40B4-BE49-F238E27FC236}">
                <a16:creationId xmlns:a16="http://schemas.microsoft.com/office/drawing/2014/main" id="{86EF8833-0C1F-405B-8B25-556900DF9D96}"/>
              </a:ext>
            </a:extLst>
          </p:cNvPr>
          <p:cNvSpPr>
            <a:spLocks noGrp="1"/>
          </p:cNvSpPr>
          <p:nvPr/>
        </p:nvSpPr>
        <p:spPr>
          <a:xfrm>
            <a:off x="7867650" y="2914650"/>
            <a:ext cx="590550" cy="247650"/>
          </a:xfrm>
          <a:prstGeom prst="rightArrow">
            <a:avLst/>
          </a:prstGeom>
          <a:solidFill>
            <a:srgbClr val="C74634"/>
          </a:solidFill>
          <a:ln w="9525">
            <a:solidFill>
              <a:srgbClr val="C746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Rounded Rectangle 76">
            <a:extLst>
              <a:ext uri="{FF2B5EF4-FFF2-40B4-BE49-F238E27FC236}">
                <a16:creationId xmlns:a16="http://schemas.microsoft.com/office/drawing/2014/main" id="{57069EAC-9432-493A-9069-1A2513A2E157}"/>
              </a:ext>
            </a:extLst>
          </p:cNvPr>
          <p:cNvSpPr>
            <a:spLocks noGrp="1"/>
          </p:cNvSpPr>
          <p:nvPr/>
        </p:nvSpPr>
        <p:spPr>
          <a:xfrm>
            <a:off x="8667750" y="1666875"/>
            <a:ext cx="2781300" cy="3143250"/>
          </a:xfrm>
          <a:prstGeom prst="roundRect">
            <a:avLst>
              <a:gd name="adj" fmla="val 2740"/>
            </a:avLst>
          </a:prstGeom>
          <a:solidFill>
            <a:srgbClr val="FFFFFF"/>
          </a:solidFill>
          <a:ln w="11430">
            <a:solidFill>
              <a:srgbClr val="DED8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036A6EF5-D154-43DE-8774-C184EB4497FA}"/>
              </a:ext>
            </a:extLst>
          </p:cNvPr>
          <p:cNvSpPr>
            <a:spLocks noGrp="1"/>
          </p:cNvSpPr>
          <p:nvPr/>
        </p:nvSpPr>
        <p:spPr>
          <a:xfrm>
            <a:off x="8667750" y="1666875"/>
            <a:ext cx="76200" cy="3143250"/>
          </a:xfrm>
          <a:prstGeom prst="rect">
            <a:avLst/>
          </a:prstGeom>
          <a:solidFill>
            <a:srgbClr val="2F7D4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E05D6DCF-BA94-4F0E-B11E-77D41AE25D87}"/>
              </a:ext>
            </a:extLst>
          </p:cNvPr>
          <p:cNvSpPr>
            <a:spLocks noGrp="1"/>
          </p:cNvSpPr>
          <p:nvPr/>
        </p:nvSpPr>
        <p:spPr>
          <a:xfrm>
            <a:off x="8877300" y="1838325"/>
            <a:ext cx="238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 i="0">
                <a:solidFill>
                  <a:srgbClr val="2F7D4B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2F7D4B"/>
                </a:solidFill>
                <a:latin typeface="Aptos"/>
                <a:ea typeface="Aptos"/>
                <a:cs typeface="Aptos"/>
              </a:rPr>
              <a:t>Enterprise outcome</a:t>
            </a: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A693946C-2E29-46E2-8A22-E2CDFF8E63A3}"/>
              </a:ext>
            </a:extLst>
          </p:cNvPr>
          <p:cNvSpPr>
            <a:spLocks noGrp="1"/>
          </p:cNvSpPr>
          <p:nvPr/>
        </p:nvSpPr>
        <p:spPr>
          <a:xfrm>
            <a:off x="8877300" y="2143125"/>
            <a:ext cx="2381250" cy="2552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 i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2B2B2B"/>
                </a:solidFill>
                <a:latin typeface="Aptos"/>
                <a:ea typeface="Aptos"/>
                <a:cs typeface="Aptos"/>
              </a:rPr>
              <a:t>Teams get AI speed without losing control of:</a:t>
            </a:r>
          </a:p>
          <a:p>
            <a:pPr algn="l">
              <a:defRPr sz="1350" b="0" i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2B2B2B"/>
                </a:solidFill>
                <a:latin typeface="Aptos"/>
                <a:ea typeface="Aptos"/>
                <a:cs typeface="Aptos"/>
              </a:rPr>
              <a:t>- governance</a:t>
            </a:r>
          </a:p>
          <a:p>
            <a:pPr algn="l">
              <a:defRPr sz="1350" b="0" i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2B2B2B"/>
                </a:solidFill>
                <a:latin typeface="Aptos"/>
                <a:ea typeface="Aptos"/>
                <a:cs typeface="Aptos"/>
              </a:rPr>
              <a:t>- privacy</a:t>
            </a:r>
          </a:p>
          <a:p>
            <a:pPr algn="l">
              <a:defRPr sz="1350" b="0" i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2B2B2B"/>
                </a:solidFill>
                <a:latin typeface="Aptos"/>
                <a:ea typeface="Aptos"/>
                <a:cs typeface="Aptos"/>
              </a:rPr>
              <a:t>- quality gates</a:t>
            </a:r>
          </a:p>
          <a:p>
            <a:pPr algn="l">
              <a:defRPr sz="1350" b="0" i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2B2B2B"/>
                </a:solidFill>
                <a:latin typeface="Aptos"/>
                <a:ea typeface="Aptos"/>
                <a:cs typeface="Aptos"/>
              </a:rPr>
              <a:t>- cost visibility</a:t>
            </a:r>
          </a:p>
          <a:p>
            <a:pPr algn="l">
              <a:defRPr sz="1350" b="0" i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2B2B2B"/>
                </a:solidFill>
                <a:latin typeface="Aptos"/>
                <a:ea typeface="Aptos"/>
                <a:cs typeface="Aptos"/>
              </a:rPr>
              <a:t>- repeatability</a:t>
            </a:r>
          </a:p>
          <a:p>
            <a:pPr algn="l">
              <a:defRPr sz="1350" b="0" i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2B2B2B"/>
                </a:solidFill>
                <a:latin typeface="Aptos"/>
                <a:ea typeface="Aptos"/>
                <a:cs typeface="Aptos"/>
              </a:rPr>
              <a:t>- auditability</a:t>
            </a:r>
          </a:p>
          <a:p>
            <a:pPr algn="l">
              <a:defRPr sz="1350" b="0" i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2B2B2B"/>
                </a:solidFill>
                <a:latin typeface="Aptos"/>
                <a:ea typeface="Aptos"/>
                <a:cs typeface="Aptos"/>
              </a:rPr>
              <a:t>- leadership reporting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531DD123-E797-4443-8565-5A67A5AEF04A}"/>
              </a:ext>
            </a:extLst>
          </p:cNvPr>
          <p:cNvSpPr>
            <a:spLocks noGrp="1"/>
          </p:cNvSpPr>
          <p:nvPr/>
        </p:nvSpPr>
        <p:spPr>
          <a:xfrm>
            <a:off x="742950" y="5429250"/>
            <a:ext cx="10687050" cy="14288"/>
          </a:xfrm>
          <a:prstGeom prst="rect">
            <a:avLst/>
          </a:prstGeom>
          <a:solidFill>
            <a:srgbClr val="DED8D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FFD469AA-2821-4052-B67C-869B37A2C341}"/>
              </a:ext>
            </a:extLst>
          </p:cNvPr>
          <p:cNvSpPr>
            <a:spLocks noGrp="1"/>
          </p:cNvSpPr>
          <p:nvPr/>
        </p:nvSpPr>
        <p:spPr>
          <a:xfrm>
            <a:off x="762000" y="5619750"/>
            <a:ext cx="1428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 i="0">
                <a:solidFill>
                  <a:srgbClr val="8C1D18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8C1D18"/>
                </a:solidFill>
                <a:latin typeface="Aptos"/>
                <a:ea typeface="Aptos"/>
                <a:cs typeface="Aptos"/>
              </a:rPr>
              <a:t>Simple framing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D520454D-94D2-438A-A441-D595C75746EE}"/>
              </a:ext>
            </a:extLst>
          </p:cNvPr>
          <p:cNvSpPr>
            <a:spLocks noGrp="1"/>
          </p:cNvSpPr>
          <p:nvPr/>
        </p:nvSpPr>
        <p:spPr>
          <a:xfrm>
            <a:off x="2238375" y="5619750"/>
            <a:ext cx="85725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 i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2B2B2B"/>
                </a:solidFill>
                <a:latin typeface="Aptos"/>
                <a:ea typeface="Aptos"/>
                <a:cs typeface="Aptos"/>
              </a:rPr>
              <a:t>ODT is the orchestration, evidence, and policy layer. Codex/Cline/OCI/Ollama/OpenAI-compatible models are pluggable workers/providers.</a:t>
            </a:r>
          </a:p>
        </p:txBody>
      </p:sp>
    </p:spTree>
    <p:extLst>
      <p:ext uri="{BB962C8B-B14F-4D97-AF65-F5344CB8AC3E}">
        <p14:creationId xmlns:p14="http://schemas.microsoft.com/office/powerpoint/2010/main" val="20854203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Rectangle 93">
            <a:extLst>
              <a:ext uri="{FF2B5EF4-FFF2-40B4-BE49-F238E27FC236}">
                <a16:creationId xmlns:a16="http://schemas.microsoft.com/office/drawing/2014/main" id="{0C216F60-5A1B-4ABA-B16F-92BFEFDFD0DB}"/>
              </a:ext>
            </a:extLst>
          </p:cNvPr>
          <p:cNvSpPr>
            <a:spLocks noGrp="1"/>
          </p:cNvSpPr>
          <p:nvPr/>
        </p:nvSpPr>
        <p:spPr>
          <a:xfrm>
            <a:off x="4618" y="0"/>
            <a:ext cx="12192000" cy="6858000"/>
          </a:xfrm>
          <a:prstGeom prst="rect">
            <a:avLst/>
          </a:prstGeom>
          <a:solidFill>
            <a:srgbClr val="F7F4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E32B3CC4-7185-4BC8-9930-748878FD1405}"/>
              </a:ext>
            </a:extLst>
          </p:cNvPr>
          <p:cNvSpPr>
            <a:spLocks noGrp="1"/>
          </p:cNvSpPr>
          <p:nvPr/>
        </p:nvSpPr>
        <p:spPr>
          <a:xfrm>
            <a:off x="6858000" y="323850"/>
            <a:ext cx="1714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EF71A9A2-2974-47F4-BAA3-C4BA4645EEE1}"/>
              </a:ext>
            </a:extLst>
          </p:cNvPr>
          <p:cNvSpPr>
            <a:spLocks noGrp="1"/>
          </p:cNvSpPr>
          <p:nvPr/>
        </p:nvSpPr>
        <p:spPr>
          <a:xfrm>
            <a:off x="7105650" y="361950"/>
            <a:ext cx="26670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24B4BD05-5D6F-4EB9-BFB7-D428440868FD}"/>
              </a:ext>
            </a:extLst>
          </p:cNvPr>
          <p:cNvSpPr>
            <a:spLocks noGrp="1"/>
          </p:cNvSpPr>
          <p:nvPr/>
        </p:nvSpPr>
        <p:spPr>
          <a:xfrm>
            <a:off x="7353300" y="400050"/>
            <a:ext cx="3619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267D6AFA-4732-421C-BDFF-1CBBE53FA9F3}"/>
              </a:ext>
            </a:extLst>
          </p:cNvPr>
          <p:cNvSpPr>
            <a:spLocks noGrp="1"/>
          </p:cNvSpPr>
          <p:nvPr/>
        </p:nvSpPr>
        <p:spPr>
          <a:xfrm>
            <a:off x="7600950" y="323850"/>
            <a:ext cx="45720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857BAC24-EC4C-4F7A-BFEB-2243F6714382}"/>
              </a:ext>
            </a:extLst>
          </p:cNvPr>
          <p:cNvSpPr>
            <a:spLocks noGrp="1"/>
          </p:cNvSpPr>
          <p:nvPr/>
        </p:nvSpPr>
        <p:spPr>
          <a:xfrm>
            <a:off x="7848600" y="361950"/>
            <a:ext cx="5524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432C098A-CFF8-4AF4-9B8F-C5C6AB010312}"/>
              </a:ext>
            </a:extLst>
          </p:cNvPr>
          <p:cNvSpPr>
            <a:spLocks noGrp="1"/>
          </p:cNvSpPr>
          <p:nvPr/>
        </p:nvSpPr>
        <p:spPr>
          <a:xfrm>
            <a:off x="8096250" y="400050"/>
            <a:ext cx="1714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672B420F-7A1D-426F-93D5-F8AAB4EF65AA}"/>
              </a:ext>
            </a:extLst>
          </p:cNvPr>
          <p:cNvSpPr>
            <a:spLocks noGrp="1"/>
          </p:cNvSpPr>
          <p:nvPr/>
        </p:nvSpPr>
        <p:spPr>
          <a:xfrm>
            <a:off x="8343900" y="323850"/>
            <a:ext cx="26670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E494A6EC-8B22-41DE-8501-4935AFAC0504}"/>
              </a:ext>
            </a:extLst>
          </p:cNvPr>
          <p:cNvSpPr>
            <a:spLocks noGrp="1"/>
          </p:cNvSpPr>
          <p:nvPr/>
        </p:nvSpPr>
        <p:spPr>
          <a:xfrm>
            <a:off x="8591550" y="361950"/>
            <a:ext cx="3619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177C313E-4D8B-4899-80A8-043B130ECFCB}"/>
              </a:ext>
            </a:extLst>
          </p:cNvPr>
          <p:cNvSpPr>
            <a:spLocks noGrp="1"/>
          </p:cNvSpPr>
          <p:nvPr/>
        </p:nvSpPr>
        <p:spPr>
          <a:xfrm>
            <a:off x="8839200" y="400050"/>
            <a:ext cx="45720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4823D5DF-D346-4E0B-ABC5-876C4D408C51}"/>
              </a:ext>
            </a:extLst>
          </p:cNvPr>
          <p:cNvSpPr>
            <a:spLocks noGrp="1"/>
          </p:cNvSpPr>
          <p:nvPr/>
        </p:nvSpPr>
        <p:spPr>
          <a:xfrm>
            <a:off x="9086850" y="323850"/>
            <a:ext cx="5524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319B01E9-94A1-4630-BC8B-95A66E51BA69}"/>
              </a:ext>
            </a:extLst>
          </p:cNvPr>
          <p:cNvSpPr>
            <a:spLocks noGrp="1"/>
          </p:cNvSpPr>
          <p:nvPr/>
        </p:nvSpPr>
        <p:spPr>
          <a:xfrm>
            <a:off x="9334500" y="361950"/>
            <a:ext cx="1714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571C5BE7-480D-4FE7-83D5-94729282FA1A}"/>
              </a:ext>
            </a:extLst>
          </p:cNvPr>
          <p:cNvSpPr>
            <a:spLocks noGrp="1"/>
          </p:cNvSpPr>
          <p:nvPr/>
        </p:nvSpPr>
        <p:spPr>
          <a:xfrm>
            <a:off x="9582150" y="400050"/>
            <a:ext cx="26670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495EB6FB-F38D-48B2-A879-B316B84D4074}"/>
              </a:ext>
            </a:extLst>
          </p:cNvPr>
          <p:cNvSpPr>
            <a:spLocks noGrp="1"/>
          </p:cNvSpPr>
          <p:nvPr/>
        </p:nvSpPr>
        <p:spPr>
          <a:xfrm>
            <a:off x="9829800" y="323850"/>
            <a:ext cx="3619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D148E307-AFC8-411C-BD0C-5F3BD3673ECD}"/>
              </a:ext>
            </a:extLst>
          </p:cNvPr>
          <p:cNvSpPr>
            <a:spLocks noGrp="1"/>
          </p:cNvSpPr>
          <p:nvPr/>
        </p:nvSpPr>
        <p:spPr>
          <a:xfrm>
            <a:off x="10077450" y="361950"/>
            <a:ext cx="45720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D261408F-F89F-48E2-8C6B-5263E0EAADE3}"/>
              </a:ext>
            </a:extLst>
          </p:cNvPr>
          <p:cNvSpPr>
            <a:spLocks noGrp="1"/>
          </p:cNvSpPr>
          <p:nvPr/>
        </p:nvSpPr>
        <p:spPr>
          <a:xfrm>
            <a:off x="10325100" y="400050"/>
            <a:ext cx="5524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6CBBC2DE-29CF-4F3B-B7F4-C02AF452170B}"/>
              </a:ext>
            </a:extLst>
          </p:cNvPr>
          <p:cNvSpPr>
            <a:spLocks noGrp="1"/>
          </p:cNvSpPr>
          <p:nvPr/>
        </p:nvSpPr>
        <p:spPr>
          <a:xfrm>
            <a:off x="10572750" y="323850"/>
            <a:ext cx="1714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8B223FA0-C0B3-4289-AD41-5CD555F974CA}"/>
              </a:ext>
            </a:extLst>
          </p:cNvPr>
          <p:cNvSpPr>
            <a:spLocks noGrp="1"/>
          </p:cNvSpPr>
          <p:nvPr/>
        </p:nvSpPr>
        <p:spPr>
          <a:xfrm>
            <a:off x="6972300" y="552450"/>
            <a:ext cx="26670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F113E6F4-FA3E-424B-AB32-F00118E17C78}"/>
              </a:ext>
            </a:extLst>
          </p:cNvPr>
          <p:cNvSpPr>
            <a:spLocks noGrp="1"/>
          </p:cNvSpPr>
          <p:nvPr/>
        </p:nvSpPr>
        <p:spPr>
          <a:xfrm>
            <a:off x="7219950" y="590550"/>
            <a:ext cx="3619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112B3120-E294-4277-85C8-D66341134C52}"/>
              </a:ext>
            </a:extLst>
          </p:cNvPr>
          <p:cNvSpPr>
            <a:spLocks noGrp="1"/>
          </p:cNvSpPr>
          <p:nvPr/>
        </p:nvSpPr>
        <p:spPr>
          <a:xfrm>
            <a:off x="7467600" y="628650"/>
            <a:ext cx="45720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F06CAAB7-3426-4637-90C0-25C065CE366B}"/>
              </a:ext>
            </a:extLst>
          </p:cNvPr>
          <p:cNvSpPr>
            <a:spLocks noGrp="1"/>
          </p:cNvSpPr>
          <p:nvPr/>
        </p:nvSpPr>
        <p:spPr>
          <a:xfrm>
            <a:off x="7715250" y="552450"/>
            <a:ext cx="5524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6D7E1F94-28EE-40F2-92A0-C6485D32947F}"/>
              </a:ext>
            </a:extLst>
          </p:cNvPr>
          <p:cNvSpPr>
            <a:spLocks noGrp="1"/>
          </p:cNvSpPr>
          <p:nvPr/>
        </p:nvSpPr>
        <p:spPr>
          <a:xfrm>
            <a:off x="7962900" y="590550"/>
            <a:ext cx="1714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ED5AD6C9-5840-4FC5-BF39-045647044DA5}"/>
              </a:ext>
            </a:extLst>
          </p:cNvPr>
          <p:cNvSpPr>
            <a:spLocks noGrp="1"/>
          </p:cNvSpPr>
          <p:nvPr/>
        </p:nvSpPr>
        <p:spPr>
          <a:xfrm>
            <a:off x="8210550" y="628650"/>
            <a:ext cx="26670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B36DAC49-291D-4D9F-9820-D24275E41855}"/>
              </a:ext>
            </a:extLst>
          </p:cNvPr>
          <p:cNvSpPr>
            <a:spLocks noGrp="1"/>
          </p:cNvSpPr>
          <p:nvPr/>
        </p:nvSpPr>
        <p:spPr>
          <a:xfrm>
            <a:off x="8458200" y="552450"/>
            <a:ext cx="3619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D7B24D17-B913-4F43-A7AD-C30CBED3C40B}"/>
              </a:ext>
            </a:extLst>
          </p:cNvPr>
          <p:cNvSpPr>
            <a:spLocks noGrp="1"/>
          </p:cNvSpPr>
          <p:nvPr/>
        </p:nvSpPr>
        <p:spPr>
          <a:xfrm>
            <a:off x="8705850" y="590550"/>
            <a:ext cx="45720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65E797D4-F639-4973-B0B7-0A251A21ACF1}"/>
              </a:ext>
            </a:extLst>
          </p:cNvPr>
          <p:cNvSpPr>
            <a:spLocks noGrp="1"/>
          </p:cNvSpPr>
          <p:nvPr/>
        </p:nvSpPr>
        <p:spPr>
          <a:xfrm>
            <a:off x="8953500" y="628650"/>
            <a:ext cx="5524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A93A5975-8121-4EDE-9061-DFC56B1820DB}"/>
              </a:ext>
            </a:extLst>
          </p:cNvPr>
          <p:cNvSpPr>
            <a:spLocks noGrp="1"/>
          </p:cNvSpPr>
          <p:nvPr/>
        </p:nvSpPr>
        <p:spPr>
          <a:xfrm>
            <a:off x="9201150" y="552450"/>
            <a:ext cx="1714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74948CFA-9B14-4028-9371-82F1A558EF9D}"/>
              </a:ext>
            </a:extLst>
          </p:cNvPr>
          <p:cNvSpPr>
            <a:spLocks noGrp="1"/>
          </p:cNvSpPr>
          <p:nvPr/>
        </p:nvSpPr>
        <p:spPr>
          <a:xfrm>
            <a:off x="9448800" y="590550"/>
            <a:ext cx="26670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B77CE52F-FB35-466C-93F7-C19A745CF4EA}"/>
              </a:ext>
            </a:extLst>
          </p:cNvPr>
          <p:cNvSpPr>
            <a:spLocks noGrp="1"/>
          </p:cNvSpPr>
          <p:nvPr/>
        </p:nvSpPr>
        <p:spPr>
          <a:xfrm>
            <a:off x="9696450" y="628650"/>
            <a:ext cx="3619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470DBC21-3AA7-4686-AD24-7AF32564D085}"/>
              </a:ext>
            </a:extLst>
          </p:cNvPr>
          <p:cNvSpPr>
            <a:spLocks noGrp="1"/>
          </p:cNvSpPr>
          <p:nvPr/>
        </p:nvSpPr>
        <p:spPr>
          <a:xfrm>
            <a:off x="9944100" y="552450"/>
            <a:ext cx="45720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33A899FA-EEA4-4251-BAFF-C7A1C89EC11F}"/>
              </a:ext>
            </a:extLst>
          </p:cNvPr>
          <p:cNvSpPr>
            <a:spLocks noGrp="1"/>
          </p:cNvSpPr>
          <p:nvPr/>
        </p:nvSpPr>
        <p:spPr>
          <a:xfrm>
            <a:off x="10191750" y="590550"/>
            <a:ext cx="5524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0257D7C0-C403-41AD-B66E-E526D378BE56}"/>
              </a:ext>
            </a:extLst>
          </p:cNvPr>
          <p:cNvSpPr>
            <a:spLocks noGrp="1"/>
          </p:cNvSpPr>
          <p:nvPr/>
        </p:nvSpPr>
        <p:spPr>
          <a:xfrm>
            <a:off x="10439400" y="628650"/>
            <a:ext cx="1714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BDCA1238-AA63-4F27-835D-87EF41464022}"/>
              </a:ext>
            </a:extLst>
          </p:cNvPr>
          <p:cNvSpPr>
            <a:spLocks noGrp="1"/>
          </p:cNvSpPr>
          <p:nvPr/>
        </p:nvSpPr>
        <p:spPr>
          <a:xfrm>
            <a:off x="10687050" y="552450"/>
            <a:ext cx="26670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109CB019-B897-4EA2-BF1E-085C317217D9}"/>
              </a:ext>
            </a:extLst>
          </p:cNvPr>
          <p:cNvSpPr>
            <a:spLocks noGrp="1"/>
          </p:cNvSpPr>
          <p:nvPr/>
        </p:nvSpPr>
        <p:spPr>
          <a:xfrm>
            <a:off x="6858000" y="781050"/>
            <a:ext cx="3619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E4A723F5-BA80-4FFE-851F-9DB484528771}"/>
              </a:ext>
            </a:extLst>
          </p:cNvPr>
          <p:cNvSpPr>
            <a:spLocks noGrp="1"/>
          </p:cNvSpPr>
          <p:nvPr/>
        </p:nvSpPr>
        <p:spPr>
          <a:xfrm>
            <a:off x="7105650" y="819150"/>
            <a:ext cx="45720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AB89E64C-AAAB-4520-A8B2-64F6A45BE278}"/>
              </a:ext>
            </a:extLst>
          </p:cNvPr>
          <p:cNvSpPr>
            <a:spLocks noGrp="1"/>
          </p:cNvSpPr>
          <p:nvPr/>
        </p:nvSpPr>
        <p:spPr>
          <a:xfrm>
            <a:off x="7353300" y="857250"/>
            <a:ext cx="5524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A67556BA-A47C-4812-B17D-0417E2E220A8}"/>
              </a:ext>
            </a:extLst>
          </p:cNvPr>
          <p:cNvSpPr>
            <a:spLocks noGrp="1"/>
          </p:cNvSpPr>
          <p:nvPr/>
        </p:nvSpPr>
        <p:spPr>
          <a:xfrm>
            <a:off x="7600950" y="781050"/>
            <a:ext cx="1714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55B9A56D-2F25-49EA-9A5C-ABA856C114FA}"/>
              </a:ext>
            </a:extLst>
          </p:cNvPr>
          <p:cNvSpPr>
            <a:spLocks noGrp="1"/>
          </p:cNvSpPr>
          <p:nvPr/>
        </p:nvSpPr>
        <p:spPr>
          <a:xfrm>
            <a:off x="7848600" y="819150"/>
            <a:ext cx="26670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1744F736-15A4-43D0-AD77-009B331D7487}"/>
              </a:ext>
            </a:extLst>
          </p:cNvPr>
          <p:cNvSpPr>
            <a:spLocks noGrp="1"/>
          </p:cNvSpPr>
          <p:nvPr/>
        </p:nvSpPr>
        <p:spPr>
          <a:xfrm>
            <a:off x="8096250" y="857250"/>
            <a:ext cx="3619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C6837076-9862-42B7-9F95-9B172EE2739D}"/>
              </a:ext>
            </a:extLst>
          </p:cNvPr>
          <p:cNvSpPr>
            <a:spLocks noGrp="1"/>
          </p:cNvSpPr>
          <p:nvPr/>
        </p:nvSpPr>
        <p:spPr>
          <a:xfrm>
            <a:off x="8343900" y="781050"/>
            <a:ext cx="45720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39D85C28-B47A-4403-8E30-15F0B4882D74}"/>
              </a:ext>
            </a:extLst>
          </p:cNvPr>
          <p:cNvSpPr>
            <a:spLocks noGrp="1"/>
          </p:cNvSpPr>
          <p:nvPr/>
        </p:nvSpPr>
        <p:spPr>
          <a:xfrm>
            <a:off x="8591550" y="819150"/>
            <a:ext cx="5524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D7B4FD9F-A8F2-457C-93F3-C65CEBD5CF0D}"/>
              </a:ext>
            </a:extLst>
          </p:cNvPr>
          <p:cNvSpPr>
            <a:spLocks noGrp="1"/>
          </p:cNvSpPr>
          <p:nvPr/>
        </p:nvSpPr>
        <p:spPr>
          <a:xfrm>
            <a:off x="8839200" y="857250"/>
            <a:ext cx="1714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62B0C065-2CD6-4010-8102-C7B8338F436A}"/>
              </a:ext>
            </a:extLst>
          </p:cNvPr>
          <p:cNvSpPr>
            <a:spLocks noGrp="1"/>
          </p:cNvSpPr>
          <p:nvPr/>
        </p:nvSpPr>
        <p:spPr>
          <a:xfrm>
            <a:off x="9086850" y="781050"/>
            <a:ext cx="26670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9AFECD9B-9978-41DD-A2EE-B9C8C39373D0}"/>
              </a:ext>
            </a:extLst>
          </p:cNvPr>
          <p:cNvSpPr>
            <a:spLocks noGrp="1"/>
          </p:cNvSpPr>
          <p:nvPr/>
        </p:nvSpPr>
        <p:spPr>
          <a:xfrm>
            <a:off x="9334500" y="819150"/>
            <a:ext cx="3619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Rounded Rectangle 44">
            <a:extLst>
              <a:ext uri="{FF2B5EF4-FFF2-40B4-BE49-F238E27FC236}">
                <a16:creationId xmlns:a16="http://schemas.microsoft.com/office/drawing/2014/main" id="{46FA860C-C35A-4D10-8B9F-F9258204C3A4}"/>
              </a:ext>
            </a:extLst>
          </p:cNvPr>
          <p:cNvSpPr>
            <a:spLocks noGrp="1"/>
          </p:cNvSpPr>
          <p:nvPr/>
        </p:nvSpPr>
        <p:spPr>
          <a:xfrm>
            <a:off x="9582150" y="857250"/>
            <a:ext cx="45720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Rounded Rectangle 45">
            <a:extLst>
              <a:ext uri="{FF2B5EF4-FFF2-40B4-BE49-F238E27FC236}">
                <a16:creationId xmlns:a16="http://schemas.microsoft.com/office/drawing/2014/main" id="{C3BBE733-34CD-4E77-B8F1-8446A1254D0A}"/>
              </a:ext>
            </a:extLst>
          </p:cNvPr>
          <p:cNvSpPr>
            <a:spLocks noGrp="1"/>
          </p:cNvSpPr>
          <p:nvPr/>
        </p:nvSpPr>
        <p:spPr>
          <a:xfrm>
            <a:off x="9829800" y="781050"/>
            <a:ext cx="5524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Rounded Rectangle 46">
            <a:extLst>
              <a:ext uri="{FF2B5EF4-FFF2-40B4-BE49-F238E27FC236}">
                <a16:creationId xmlns:a16="http://schemas.microsoft.com/office/drawing/2014/main" id="{764B4B04-7EF1-4D45-948E-2ED557CCFB11}"/>
              </a:ext>
            </a:extLst>
          </p:cNvPr>
          <p:cNvSpPr>
            <a:spLocks noGrp="1"/>
          </p:cNvSpPr>
          <p:nvPr/>
        </p:nvSpPr>
        <p:spPr>
          <a:xfrm>
            <a:off x="10077450" y="819150"/>
            <a:ext cx="1714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Rounded Rectangle 47">
            <a:extLst>
              <a:ext uri="{FF2B5EF4-FFF2-40B4-BE49-F238E27FC236}">
                <a16:creationId xmlns:a16="http://schemas.microsoft.com/office/drawing/2014/main" id="{47388E47-F8E7-42AE-96AF-42096E0B3A95}"/>
              </a:ext>
            </a:extLst>
          </p:cNvPr>
          <p:cNvSpPr>
            <a:spLocks noGrp="1"/>
          </p:cNvSpPr>
          <p:nvPr/>
        </p:nvSpPr>
        <p:spPr>
          <a:xfrm>
            <a:off x="10325100" y="857250"/>
            <a:ext cx="26670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Rounded Rectangle 48">
            <a:extLst>
              <a:ext uri="{FF2B5EF4-FFF2-40B4-BE49-F238E27FC236}">
                <a16:creationId xmlns:a16="http://schemas.microsoft.com/office/drawing/2014/main" id="{727CF45A-5634-436F-B910-A82BB0D42953}"/>
              </a:ext>
            </a:extLst>
          </p:cNvPr>
          <p:cNvSpPr>
            <a:spLocks noGrp="1"/>
          </p:cNvSpPr>
          <p:nvPr/>
        </p:nvSpPr>
        <p:spPr>
          <a:xfrm>
            <a:off x="10572750" y="781050"/>
            <a:ext cx="3619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Rounded Rectangle 49">
            <a:extLst>
              <a:ext uri="{FF2B5EF4-FFF2-40B4-BE49-F238E27FC236}">
                <a16:creationId xmlns:a16="http://schemas.microsoft.com/office/drawing/2014/main" id="{68355825-66E3-498F-839E-D012B85F2CA8}"/>
              </a:ext>
            </a:extLst>
          </p:cNvPr>
          <p:cNvSpPr>
            <a:spLocks noGrp="1"/>
          </p:cNvSpPr>
          <p:nvPr/>
        </p:nvSpPr>
        <p:spPr>
          <a:xfrm>
            <a:off x="6972300" y="1009650"/>
            <a:ext cx="45720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Rounded Rectangle 50">
            <a:extLst>
              <a:ext uri="{FF2B5EF4-FFF2-40B4-BE49-F238E27FC236}">
                <a16:creationId xmlns:a16="http://schemas.microsoft.com/office/drawing/2014/main" id="{08871D4B-8DD6-4848-BF29-0AC88718A44E}"/>
              </a:ext>
            </a:extLst>
          </p:cNvPr>
          <p:cNvSpPr>
            <a:spLocks noGrp="1"/>
          </p:cNvSpPr>
          <p:nvPr/>
        </p:nvSpPr>
        <p:spPr>
          <a:xfrm>
            <a:off x="7219950" y="1047750"/>
            <a:ext cx="5524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Rounded Rectangle 51">
            <a:extLst>
              <a:ext uri="{FF2B5EF4-FFF2-40B4-BE49-F238E27FC236}">
                <a16:creationId xmlns:a16="http://schemas.microsoft.com/office/drawing/2014/main" id="{7F3B9CB1-AE09-4175-B39A-C7C1DFCBA947}"/>
              </a:ext>
            </a:extLst>
          </p:cNvPr>
          <p:cNvSpPr>
            <a:spLocks noGrp="1"/>
          </p:cNvSpPr>
          <p:nvPr/>
        </p:nvSpPr>
        <p:spPr>
          <a:xfrm>
            <a:off x="7467600" y="1085850"/>
            <a:ext cx="1714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Rounded Rectangle 52">
            <a:extLst>
              <a:ext uri="{FF2B5EF4-FFF2-40B4-BE49-F238E27FC236}">
                <a16:creationId xmlns:a16="http://schemas.microsoft.com/office/drawing/2014/main" id="{95898424-84C6-4FD8-9E6F-A774C2B27A50}"/>
              </a:ext>
            </a:extLst>
          </p:cNvPr>
          <p:cNvSpPr>
            <a:spLocks noGrp="1"/>
          </p:cNvSpPr>
          <p:nvPr/>
        </p:nvSpPr>
        <p:spPr>
          <a:xfrm>
            <a:off x="7715250" y="1009650"/>
            <a:ext cx="26670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Rounded Rectangle 53">
            <a:extLst>
              <a:ext uri="{FF2B5EF4-FFF2-40B4-BE49-F238E27FC236}">
                <a16:creationId xmlns:a16="http://schemas.microsoft.com/office/drawing/2014/main" id="{D2E1566D-FE83-4FDB-805A-75B3E265DE9C}"/>
              </a:ext>
            </a:extLst>
          </p:cNvPr>
          <p:cNvSpPr>
            <a:spLocks noGrp="1"/>
          </p:cNvSpPr>
          <p:nvPr/>
        </p:nvSpPr>
        <p:spPr>
          <a:xfrm>
            <a:off x="7962900" y="1047750"/>
            <a:ext cx="3619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Rounded Rectangle 54">
            <a:extLst>
              <a:ext uri="{FF2B5EF4-FFF2-40B4-BE49-F238E27FC236}">
                <a16:creationId xmlns:a16="http://schemas.microsoft.com/office/drawing/2014/main" id="{8713BF4E-CDA1-4AAB-B5B0-02015711DFFD}"/>
              </a:ext>
            </a:extLst>
          </p:cNvPr>
          <p:cNvSpPr>
            <a:spLocks noGrp="1"/>
          </p:cNvSpPr>
          <p:nvPr/>
        </p:nvSpPr>
        <p:spPr>
          <a:xfrm>
            <a:off x="8210550" y="1085850"/>
            <a:ext cx="45720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Rounded Rectangle 55">
            <a:extLst>
              <a:ext uri="{FF2B5EF4-FFF2-40B4-BE49-F238E27FC236}">
                <a16:creationId xmlns:a16="http://schemas.microsoft.com/office/drawing/2014/main" id="{A22893F7-0668-48D6-BAFF-AA0421519D40}"/>
              </a:ext>
            </a:extLst>
          </p:cNvPr>
          <p:cNvSpPr>
            <a:spLocks noGrp="1"/>
          </p:cNvSpPr>
          <p:nvPr/>
        </p:nvSpPr>
        <p:spPr>
          <a:xfrm>
            <a:off x="8458200" y="1009650"/>
            <a:ext cx="5524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Rounded Rectangle 56">
            <a:extLst>
              <a:ext uri="{FF2B5EF4-FFF2-40B4-BE49-F238E27FC236}">
                <a16:creationId xmlns:a16="http://schemas.microsoft.com/office/drawing/2014/main" id="{6BE49408-17B7-42BB-B2A2-3C1BC8AEA813}"/>
              </a:ext>
            </a:extLst>
          </p:cNvPr>
          <p:cNvSpPr>
            <a:spLocks noGrp="1"/>
          </p:cNvSpPr>
          <p:nvPr/>
        </p:nvSpPr>
        <p:spPr>
          <a:xfrm>
            <a:off x="8705850" y="1047750"/>
            <a:ext cx="1714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Rounded Rectangle 57">
            <a:extLst>
              <a:ext uri="{FF2B5EF4-FFF2-40B4-BE49-F238E27FC236}">
                <a16:creationId xmlns:a16="http://schemas.microsoft.com/office/drawing/2014/main" id="{DB38FDC6-C858-4EFA-B5BE-45BB57233E25}"/>
              </a:ext>
            </a:extLst>
          </p:cNvPr>
          <p:cNvSpPr>
            <a:spLocks noGrp="1"/>
          </p:cNvSpPr>
          <p:nvPr/>
        </p:nvSpPr>
        <p:spPr>
          <a:xfrm>
            <a:off x="8953500" y="1085850"/>
            <a:ext cx="26670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Rounded Rectangle 58">
            <a:extLst>
              <a:ext uri="{FF2B5EF4-FFF2-40B4-BE49-F238E27FC236}">
                <a16:creationId xmlns:a16="http://schemas.microsoft.com/office/drawing/2014/main" id="{AB8777F1-1E9A-487C-BC36-5B6CC87A94A6}"/>
              </a:ext>
            </a:extLst>
          </p:cNvPr>
          <p:cNvSpPr>
            <a:spLocks noGrp="1"/>
          </p:cNvSpPr>
          <p:nvPr/>
        </p:nvSpPr>
        <p:spPr>
          <a:xfrm>
            <a:off x="9201150" y="1009650"/>
            <a:ext cx="3619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2B4F7DAA-DF58-48E4-AFBF-6B4F76B46254}"/>
              </a:ext>
            </a:extLst>
          </p:cNvPr>
          <p:cNvSpPr>
            <a:spLocks noGrp="1"/>
          </p:cNvSpPr>
          <p:nvPr/>
        </p:nvSpPr>
        <p:spPr>
          <a:xfrm>
            <a:off x="342900" y="76200"/>
            <a:ext cx="342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 i="0">
                <a:solidFill>
                  <a:srgbClr val="8A8580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8A8580"/>
                </a:solidFill>
                <a:latin typeface="Aptos"/>
                <a:ea typeface="Aptos"/>
                <a:cs typeface="Aptos"/>
              </a:rPr>
              <a:t>Confidential - Oracle Restricted (Employees Only)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46C8597D-DF73-41F4-8C26-7A16E353E396}"/>
              </a:ext>
            </a:extLst>
          </p:cNvPr>
          <p:cNvSpPr>
            <a:spLocks noGrp="1"/>
          </p:cNvSpPr>
          <p:nvPr/>
        </p:nvSpPr>
        <p:spPr>
          <a:xfrm>
            <a:off x="342900" y="6572250"/>
            <a:ext cx="2476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 i="0">
                <a:solidFill>
                  <a:srgbClr val="807A76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807A76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C1F61560-9D2C-43C0-B5B2-675A84353381}"/>
              </a:ext>
            </a:extLst>
          </p:cNvPr>
          <p:cNvSpPr>
            <a:spLocks noGrp="1"/>
          </p:cNvSpPr>
          <p:nvPr/>
        </p:nvSpPr>
        <p:spPr>
          <a:xfrm>
            <a:off x="723900" y="6572250"/>
            <a:ext cx="4381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 i="0">
                <a:solidFill>
                  <a:srgbClr val="807A76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807A76"/>
                </a:solidFill>
                <a:latin typeface="Aptos"/>
                <a:ea typeface="Aptos"/>
                <a:cs typeface="Aptos"/>
              </a:rPr>
              <a:t>Current Build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3E52EF57-D298-4BC7-9EB0-048800C8DDE1}"/>
              </a:ext>
            </a:extLst>
          </p:cNvPr>
          <p:cNvSpPr>
            <a:spLocks noGrp="1"/>
          </p:cNvSpPr>
          <p:nvPr/>
        </p:nvSpPr>
        <p:spPr>
          <a:xfrm>
            <a:off x="11334750" y="6419850"/>
            <a:ext cx="419100" cy="419100"/>
          </a:xfrm>
          <a:prstGeom prst="rect">
            <a:avLst/>
          </a:prstGeom>
          <a:solidFill>
            <a:srgbClr val="C7463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Rounded Rectangle 63">
            <a:extLst>
              <a:ext uri="{FF2B5EF4-FFF2-40B4-BE49-F238E27FC236}">
                <a16:creationId xmlns:a16="http://schemas.microsoft.com/office/drawing/2014/main" id="{759E643D-B651-4A21-AB30-D8FC29C664A5}"/>
              </a:ext>
            </a:extLst>
          </p:cNvPr>
          <p:cNvSpPr>
            <a:spLocks noGrp="1"/>
          </p:cNvSpPr>
          <p:nvPr/>
        </p:nvSpPr>
        <p:spPr>
          <a:xfrm>
            <a:off x="11430000" y="6562725"/>
            <a:ext cx="228600" cy="114300"/>
          </a:xfrm>
          <a:prstGeom prst="roundRect">
            <a:avLst>
              <a:gd name="adj" fmla="val 50000"/>
            </a:avLst>
          </a:prstGeom>
          <a:solidFill>
            <a:srgbClr val="000000">
              <a:alpha val="0"/>
            </a:srgbClr>
          </a:solidFill>
          <a:ln w="2286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70A62BF3-FB40-4A7C-BEDF-34D65F3DE29A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99060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 i="0">
                <a:solidFill>
                  <a:srgbClr val="2B2B2B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 i="0">
                <a:solidFill>
                  <a:srgbClr val="2B2B2B"/>
                </a:solidFill>
                <a:latin typeface="Aptos Display"/>
                <a:ea typeface="Aptos Display"/>
                <a:cs typeface="Aptos Display"/>
              </a:rPr>
              <a:t>ODT 2.0 already behaves like a workbench, not a static dashboard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09560354-CFAD-47A1-ADA4-58C4DD22A212}"/>
              </a:ext>
            </a:extLst>
          </p:cNvPr>
          <p:cNvSpPr>
            <a:spLocks noGrp="1"/>
          </p:cNvSpPr>
          <p:nvPr/>
        </p:nvSpPr>
        <p:spPr>
          <a:xfrm>
            <a:off x="638175" y="1085850"/>
            <a:ext cx="99060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 i="0">
                <a:solidFill>
                  <a:srgbClr val="333333"/>
                </a:solidFill>
                <a:latin typeface="Aptos"/>
                <a:ea typeface="Aptos"/>
                <a:cs typeface="Aptos"/>
              </a:defRPr>
            </a:pPr>
            <a:r>
              <a:rPr sz="1425" b="0" i="0" dirty="0">
                <a:solidFill>
                  <a:srgbClr val="333333"/>
                </a:solidFill>
                <a:latin typeface="Aptos"/>
                <a:ea typeface="Aptos"/>
                <a:cs typeface="Aptos"/>
              </a:rPr>
              <a:t>The current product surface combines intake, planning, standards, agent execution, review, PR readiness, artifacts, guide, runs, monitoring, and settings.</a:t>
            </a:r>
          </a:p>
        </p:txBody>
      </p:sp>
      <p:sp>
        <p:nvSpPr>
          <p:cNvPr id="67" name="Rounded Rectangle 66">
            <a:extLst>
              <a:ext uri="{FF2B5EF4-FFF2-40B4-BE49-F238E27FC236}">
                <a16:creationId xmlns:a16="http://schemas.microsoft.com/office/drawing/2014/main" id="{3ED7B299-56FD-4BCE-8B8D-3ADFBB1A5621}"/>
              </a:ext>
            </a:extLst>
          </p:cNvPr>
          <p:cNvSpPr>
            <a:spLocks noGrp="1"/>
          </p:cNvSpPr>
          <p:nvPr/>
        </p:nvSpPr>
        <p:spPr>
          <a:xfrm>
            <a:off x="647700" y="1619250"/>
            <a:ext cx="3276600" cy="121920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1430">
            <a:solidFill>
              <a:srgbClr val="DED8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4555DDA3-F3D4-4063-978C-2477241E0A4D}"/>
              </a:ext>
            </a:extLst>
          </p:cNvPr>
          <p:cNvSpPr>
            <a:spLocks noGrp="1"/>
          </p:cNvSpPr>
          <p:nvPr/>
        </p:nvSpPr>
        <p:spPr>
          <a:xfrm>
            <a:off x="647700" y="1619250"/>
            <a:ext cx="76200" cy="1219200"/>
          </a:xfrm>
          <a:prstGeom prst="rect">
            <a:avLst/>
          </a:prstGeom>
          <a:solidFill>
            <a:srgbClr val="C7463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923CFCD5-C888-4C3D-B1A5-781F6A9A00C7}"/>
              </a:ext>
            </a:extLst>
          </p:cNvPr>
          <p:cNvSpPr>
            <a:spLocks noGrp="1"/>
          </p:cNvSpPr>
          <p:nvPr/>
        </p:nvSpPr>
        <p:spPr>
          <a:xfrm>
            <a:off x="857250" y="1790700"/>
            <a:ext cx="2876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 i="0">
                <a:solidFill>
                  <a:srgbClr val="C74634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C74634"/>
                </a:solidFill>
                <a:latin typeface="Aptos"/>
                <a:ea typeface="Aptos"/>
                <a:cs typeface="Aptos"/>
              </a:rPr>
              <a:t>Intake + Jira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32D8B5CC-FA8C-4CB3-B483-D086DCF08E99}"/>
              </a:ext>
            </a:extLst>
          </p:cNvPr>
          <p:cNvSpPr>
            <a:spLocks noGrp="1"/>
          </p:cNvSpPr>
          <p:nvPr/>
        </p:nvSpPr>
        <p:spPr>
          <a:xfrm>
            <a:off x="857250" y="2095500"/>
            <a:ext cx="287655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 i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2B2B2B"/>
                </a:solidFill>
                <a:latin typeface="Aptos"/>
                <a:ea typeface="Aptos"/>
                <a:cs typeface="Aptos"/>
              </a:rPr>
              <a:t>Requirement capture, Jira2 read path, repo folder analysis, uploads and supporting assets.</a:t>
            </a:r>
          </a:p>
        </p:txBody>
      </p:sp>
      <p:sp>
        <p:nvSpPr>
          <p:cNvPr id="71" name="Rounded Rectangle 70">
            <a:extLst>
              <a:ext uri="{FF2B5EF4-FFF2-40B4-BE49-F238E27FC236}">
                <a16:creationId xmlns:a16="http://schemas.microsoft.com/office/drawing/2014/main" id="{0EC113E5-E171-4B38-9B7B-BE75DC9CF1A8}"/>
              </a:ext>
            </a:extLst>
          </p:cNvPr>
          <p:cNvSpPr>
            <a:spLocks noGrp="1"/>
          </p:cNvSpPr>
          <p:nvPr/>
        </p:nvSpPr>
        <p:spPr>
          <a:xfrm>
            <a:off x="4286250" y="1619250"/>
            <a:ext cx="3276600" cy="121920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1430">
            <a:solidFill>
              <a:srgbClr val="DED8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2B6DE34E-87EF-46CE-8F44-0B6C592E8241}"/>
              </a:ext>
            </a:extLst>
          </p:cNvPr>
          <p:cNvSpPr>
            <a:spLocks noGrp="1"/>
          </p:cNvSpPr>
          <p:nvPr/>
        </p:nvSpPr>
        <p:spPr>
          <a:xfrm>
            <a:off x="4286250" y="1619250"/>
            <a:ext cx="76200" cy="1219200"/>
          </a:xfrm>
          <a:prstGeom prst="rect">
            <a:avLst/>
          </a:prstGeom>
          <a:solidFill>
            <a:srgbClr val="2E5F8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AC766126-5512-4D7B-9FE4-87693C5B7504}"/>
              </a:ext>
            </a:extLst>
          </p:cNvPr>
          <p:cNvSpPr>
            <a:spLocks noGrp="1"/>
          </p:cNvSpPr>
          <p:nvPr/>
        </p:nvSpPr>
        <p:spPr>
          <a:xfrm>
            <a:off x="4495800" y="1790700"/>
            <a:ext cx="2876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 i="0">
                <a:solidFill>
                  <a:srgbClr val="2E5F8A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2E5F8A"/>
                </a:solidFill>
                <a:latin typeface="Aptos"/>
                <a:ea typeface="Aptos"/>
                <a:cs typeface="Aptos"/>
              </a:rPr>
              <a:t>Planner + Standards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128FDF0E-2830-40F4-B125-1DAA68C22CA6}"/>
              </a:ext>
            </a:extLst>
          </p:cNvPr>
          <p:cNvSpPr>
            <a:spLocks noGrp="1"/>
          </p:cNvSpPr>
          <p:nvPr/>
        </p:nvSpPr>
        <p:spPr>
          <a:xfrm>
            <a:off x="4495800" y="2095500"/>
            <a:ext cx="287655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 i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275" b="0" i="0" dirty="0">
                <a:solidFill>
                  <a:srgbClr val="2B2B2B"/>
                </a:solidFill>
                <a:latin typeface="Aptos"/>
                <a:ea typeface="Aptos"/>
                <a:cs typeface="Aptos"/>
              </a:rPr>
              <a:t>Plan summary, implementation strategy, policy/standards gate, accessibility/security/testing concerns.</a:t>
            </a:r>
          </a:p>
        </p:txBody>
      </p:sp>
      <p:sp>
        <p:nvSpPr>
          <p:cNvPr id="75" name="Rounded Rectangle 74">
            <a:extLst>
              <a:ext uri="{FF2B5EF4-FFF2-40B4-BE49-F238E27FC236}">
                <a16:creationId xmlns:a16="http://schemas.microsoft.com/office/drawing/2014/main" id="{7F542301-CCBD-43C4-A6D1-1197951B5D82}"/>
              </a:ext>
            </a:extLst>
          </p:cNvPr>
          <p:cNvSpPr>
            <a:spLocks noGrp="1"/>
          </p:cNvSpPr>
          <p:nvPr/>
        </p:nvSpPr>
        <p:spPr>
          <a:xfrm>
            <a:off x="7924800" y="1619250"/>
            <a:ext cx="3276600" cy="121920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1430">
            <a:solidFill>
              <a:srgbClr val="DED8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9B95F17F-AB5F-4221-974D-A1A43840A670}"/>
              </a:ext>
            </a:extLst>
          </p:cNvPr>
          <p:cNvSpPr>
            <a:spLocks noGrp="1"/>
          </p:cNvSpPr>
          <p:nvPr/>
        </p:nvSpPr>
        <p:spPr>
          <a:xfrm>
            <a:off x="7924800" y="1619250"/>
            <a:ext cx="76200" cy="1219200"/>
          </a:xfrm>
          <a:prstGeom prst="rect">
            <a:avLst/>
          </a:prstGeom>
          <a:solidFill>
            <a:srgbClr val="2F7D4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C565B4DA-84CC-4F8C-B305-1CCF9278B11A}"/>
              </a:ext>
            </a:extLst>
          </p:cNvPr>
          <p:cNvSpPr>
            <a:spLocks noGrp="1"/>
          </p:cNvSpPr>
          <p:nvPr/>
        </p:nvSpPr>
        <p:spPr>
          <a:xfrm>
            <a:off x="8134350" y="1790700"/>
            <a:ext cx="2876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 i="0">
                <a:solidFill>
                  <a:srgbClr val="2F7D4B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2F7D4B"/>
                </a:solidFill>
                <a:latin typeface="Aptos"/>
                <a:ea typeface="Aptos"/>
                <a:cs typeface="Aptos"/>
              </a:rPr>
              <a:t>Agent Team</a:t>
            </a: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61F6D7E0-1630-4360-9220-784ABA0B0166}"/>
              </a:ext>
            </a:extLst>
          </p:cNvPr>
          <p:cNvSpPr>
            <a:spLocks noGrp="1"/>
          </p:cNvSpPr>
          <p:nvPr/>
        </p:nvSpPr>
        <p:spPr>
          <a:xfrm>
            <a:off x="8134350" y="2095500"/>
            <a:ext cx="287655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 i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2B2B2B"/>
                </a:solidFill>
                <a:latin typeface="Aptos"/>
                <a:ea typeface="Aptos"/>
                <a:cs typeface="Aptos"/>
              </a:rPr>
              <a:t>Lead Planner, Senior Full Stack Dev, Reviewer, Build Verifier, worker launch/refresh/stop/ingest.</a:t>
            </a:r>
          </a:p>
        </p:txBody>
      </p:sp>
      <p:sp>
        <p:nvSpPr>
          <p:cNvPr id="79" name="Rounded Rectangle 78">
            <a:extLst>
              <a:ext uri="{FF2B5EF4-FFF2-40B4-BE49-F238E27FC236}">
                <a16:creationId xmlns:a16="http://schemas.microsoft.com/office/drawing/2014/main" id="{EFF37091-F467-4F73-AE4B-9C7A1ED16A1A}"/>
              </a:ext>
            </a:extLst>
          </p:cNvPr>
          <p:cNvSpPr>
            <a:spLocks noGrp="1"/>
          </p:cNvSpPr>
          <p:nvPr/>
        </p:nvSpPr>
        <p:spPr>
          <a:xfrm>
            <a:off x="647700" y="3143250"/>
            <a:ext cx="3276600" cy="121920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1430">
            <a:solidFill>
              <a:srgbClr val="DED8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416A3C97-9F5A-4A55-91C9-03984495D65E}"/>
              </a:ext>
            </a:extLst>
          </p:cNvPr>
          <p:cNvSpPr>
            <a:spLocks noGrp="1"/>
          </p:cNvSpPr>
          <p:nvPr/>
        </p:nvSpPr>
        <p:spPr>
          <a:xfrm>
            <a:off x="647700" y="3143250"/>
            <a:ext cx="76200" cy="1219200"/>
          </a:xfrm>
          <a:prstGeom prst="rect">
            <a:avLst/>
          </a:prstGeom>
          <a:solidFill>
            <a:srgbClr val="D99B2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715E61ED-C772-4C39-B09B-5AF01D6AB611}"/>
              </a:ext>
            </a:extLst>
          </p:cNvPr>
          <p:cNvSpPr>
            <a:spLocks noGrp="1"/>
          </p:cNvSpPr>
          <p:nvPr/>
        </p:nvSpPr>
        <p:spPr>
          <a:xfrm>
            <a:off x="857250" y="3314700"/>
            <a:ext cx="2876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 i="0">
                <a:solidFill>
                  <a:srgbClr val="D99B2B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D99B2B"/>
                </a:solidFill>
                <a:latin typeface="Aptos"/>
                <a:ea typeface="Aptos"/>
                <a:cs typeface="Aptos"/>
              </a:rPr>
              <a:t>Review + PR Ready</a:t>
            </a: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84D3B6AB-8EBC-43CE-B431-4793A2006F53}"/>
              </a:ext>
            </a:extLst>
          </p:cNvPr>
          <p:cNvSpPr>
            <a:spLocks noGrp="1"/>
          </p:cNvSpPr>
          <p:nvPr/>
        </p:nvSpPr>
        <p:spPr>
          <a:xfrm>
            <a:off x="857250" y="3619500"/>
            <a:ext cx="287655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 i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2B2B2B"/>
                </a:solidFill>
                <a:latin typeface="Aptos"/>
                <a:ea typeface="Aptos"/>
                <a:cs typeface="Aptos"/>
              </a:rPr>
              <a:t>Reviewer closeout, rework routing, accepted risk, build proof, evidence-backed PR package.</a:t>
            </a:r>
          </a:p>
        </p:txBody>
      </p:sp>
      <p:sp>
        <p:nvSpPr>
          <p:cNvPr id="83" name="Rounded Rectangle 82">
            <a:extLst>
              <a:ext uri="{FF2B5EF4-FFF2-40B4-BE49-F238E27FC236}">
                <a16:creationId xmlns:a16="http://schemas.microsoft.com/office/drawing/2014/main" id="{9BB896F4-D646-487A-9101-ED740A8B2E91}"/>
              </a:ext>
            </a:extLst>
          </p:cNvPr>
          <p:cNvSpPr>
            <a:spLocks noGrp="1"/>
          </p:cNvSpPr>
          <p:nvPr/>
        </p:nvSpPr>
        <p:spPr>
          <a:xfrm>
            <a:off x="4286250" y="3143250"/>
            <a:ext cx="3276600" cy="121920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1430">
            <a:solidFill>
              <a:srgbClr val="DED8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95BE28FF-D5E1-4889-87A3-02791C6FAAF6}"/>
              </a:ext>
            </a:extLst>
          </p:cNvPr>
          <p:cNvSpPr>
            <a:spLocks noGrp="1"/>
          </p:cNvSpPr>
          <p:nvPr/>
        </p:nvSpPr>
        <p:spPr>
          <a:xfrm>
            <a:off x="4286250" y="3143250"/>
            <a:ext cx="76200" cy="1219200"/>
          </a:xfrm>
          <a:prstGeom prst="rect">
            <a:avLst/>
          </a:prstGeom>
          <a:solidFill>
            <a:srgbClr val="7A5AC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D008F2D1-183B-4A03-AB9C-F7DEA823481A}"/>
              </a:ext>
            </a:extLst>
          </p:cNvPr>
          <p:cNvSpPr>
            <a:spLocks noGrp="1"/>
          </p:cNvSpPr>
          <p:nvPr/>
        </p:nvSpPr>
        <p:spPr>
          <a:xfrm>
            <a:off x="4495800" y="3314700"/>
            <a:ext cx="2876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 i="0">
                <a:solidFill>
                  <a:srgbClr val="7A5AC8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7A5AC8"/>
                </a:solidFill>
                <a:latin typeface="Aptos"/>
                <a:ea typeface="Aptos"/>
                <a:cs typeface="Aptos"/>
              </a:rPr>
              <a:t>Artifacts + Runs</a:t>
            </a: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3B4261CA-7D73-4644-B66D-EAF057AAEEA7}"/>
              </a:ext>
            </a:extLst>
          </p:cNvPr>
          <p:cNvSpPr>
            <a:spLocks noGrp="1"/>
          </p:cNvSpPr>
          <p:nvPr/>
        </p:nvSpPr>
        <p:spPr>
          <a:xfrm>
            <a:off x="4495800" y="3619500"/>
            <a:ext cx="287655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 i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2B2B2B"/>
                </a:solidFill>
                <a:latin typeface="Aptos"/>
                <a:ea typeface="Aptos"/>
                <a:cs typeface="Aptos"/>
              </a:rPr>
              <a:t>Structured evidence, generated outputs, worker logs, relay context, run history.</a:t>
            </a:r>
          </a:p>
        </p:txBody>
      </p:sp>
      <p:sp>
        <p:nvSpPr>
          <p:cNvPr id="87" name="Rounded Rectangle 86">
            <a:extLst>
              <a:ext uri="{FF2B5EF4-FFF2-40B4-BE49-F238E27FC236}">
                <a16:creationId xmlns:a16="http://schemas.microsoft.com/office/drawing/2014/main" id="{63242AE2-F46A-49AF-8336-6627FFC9C187}"/>
              </a:ext>
            </a:extLst>
          </p:cNvPr>
          <p:cNvSpPr>
            <a:spLocks noGrp="1"/>
          </p:cNvSpPr>
          <p:nvPr/>
        </p:nvSpPr>
        <p:spPr>
          <a:xfrm>
            <a:off x="7924800" y="3143250"/>
            <a:ext cx="3276600" cy="121920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1430">
            <a:solidFill>
              <a:srgbClr val="DED8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94132A11-1DEC-4CA3-AF5A-66D3D18F6806}"/>
              </a:ext>
            </a:extLst>
          </p:cNvPr>
          <p:cNvSpPr>
            <a:spLocks noGrp="1"/>
          </p:cNvSpPr>
          <p:nvPr/>
        </p:nvSpPr>
        <p:spPr>
          <a:xfrm>
            <a:off x="7924800" y="3143250"/>
            <a:ext cx="76200" cy="1219200"/>
          </a:xfrm>
          <a:prstGeom prst="rect">
            <a:avLst/>
          </a:prstGeom>
          <a:solidFill>
            <a:srgbClr val="8C1D1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CF6BE18D-A474-4CA2-B2A9-6A9A56F2E1A8}"/>
              </a:ext>
            </a:extLst>
          </p:cNvPr>
          <p:cNvSpPr>
            <a:spLocks noGrp="1"/>
          </p:cNvSpPr>
          <p:nvPr/>
        </p:nvSpPr>
        <p:spPr>
          <a:xfrm>
            <a:off x="8134350" y="3314700"/>
            <a:ext cx="2876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 i="0">
                <a:solidFill>
                  <a:srgbClr val="8C1D18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8C1D18"/>
                </a:solidFill>
                <a:latin typeface="Aptos"/>
                <a:ea typeface="Aptos"/>
                <a:cs typeface="Aptos"/>
              </a:rPr>
              <a:t>Monitoring + Settings</a:t>
            </a: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E2D32275-6512-4AA6-92A8-9A02E2A98089}"/>
              </a:ext>
            </a:extLst>
          </p:cNvPr>
          <p:cNvSpPr>
            <a:spLocks noGrp="1"/>
          </p:cNvSpPr>
          <p:nvPr/>
        </p:nvSpPr>
        <p:spPr>
          <a:xfrm>
            <a:off x="8134350" y="3619500"/>
            <a:ext cx="287655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 i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2B2B2B"/>
                </a:solidFill>
                <a:latin typeface="Aptos"/>
                <a:ea typeface="Aptos"/>
                <a:cs typeface="Aptos"/>
              </a:rPr>
              <a:t>Connector readiness, health log, UI smoke validation, provider and MCP readiness.</a:t>
            </a: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004B4346-61D4-4430-B23B-65540EDD0C97}"/>
              </a:ext>
            </a:extLst>
          </p:cNvPr>
          <p:cNvSpPr>
            <a:spLocks noGrp="1"/>
          </p:cNvSpPr>
          <p:nvPr/>
        </p:nvSpPr>
        <p:spPr>
          <a:xfrm>
            <a:off x="647700" y="5219700"/>
            <a:ext cx="10572750" cy="552450"/>
          </a:xfrm>
          <a:prstGeom prst="rect">
            <a:avLst/>
          </a:prstGeom>
          <a:solidFill>
            <a:srgbClr val="FFF4D6"/>
          </a:solidFill>
          <a:ln w="9525">
            <a:solidFill>
              <a:srgbClr val="E9C8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8FC92AB0-F53F-4E75-9216-EBC122E250B7}"/>
              </a:ext>
            </a:extLst>
          </p:cNvPr>
          <p:cNvSpPr>
            <a:spLocks noGrp="1"/>
          </p:cNvSpPr>
          <p:nvPr/>
        </p:nvSpPr>
        <p:spPr>
          <a:xfrm>
            <a:off x="819150" y="5314950"/>
            <a:ext cx="102298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650" b="0" i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650" b="0" i="0">
                <a:solidFill>
                  <a:srgbClr val="2B2B2B"/>
                </a:solidFill>
                <a:latin typeface="Aptos"/>
                <a:ea typeface="Aptos"/>
                <a:cs typeface="Aptos"/>
              </a:rPr>
              <a:t>Current emphasis: completed-Jira verification now launches Reviewer first, then Build Verifier/test evidence, then PR Ready.</a:t>
            </a: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0B88CDF6-7B85-429F-80FC-55DD9B191D5A}"/>
              </a:ext>
            </a:extLst>
          </p:cNvPr>
          <p:cNvSpPr>
            <a:spLocks noGrp="1"/>
          </p:cNvSpPr>
          <p:nvPr/>
        </p:nvSpPr>
        <p:spPr>
          <a:xfrm>
            <a:off x="666750" y="6000750"/>
            <a:ext cx="9906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 i="0">
                <a:solidFill>
                  <a:srgbClr val="8C1D18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8C1D18"/>
                </a:solidFill>
                <a:latin typeface="Aptos"/>
                <a:ea typeface="Aptos"/>
                <a:cs typeface="Aptos"/>
              </a:rPr>
              <a:t>Production direction: make every button/action evidence-aware, governable, resumable, observable, and explainable.</a:t>
            </a:r>
          </a:p>
        </p:txBody>
      </p:sp>
    </p:spTree>
    <p:extLst>
      <p:ext uri="{BB962C8B-B14F-4D97-AF65-F5344CB8AC3E}">
        <p14:creationId xmlns:p14="http://schemas.microsoft.com/office/powerpoint/2010/main" val="10802212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Rectangle 132">
            <a:extLst>
              <a:ext uri="{FF2B5EF4-FFF2-40B4-BE49-F238E27FC236}">
                <a16:creationId xmlns:a16="http://schemas.microsoft.com/office/drawing/2014/main" id="{CD099A49-FE82-4AAD-BB62-AAD01EC68A4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A7FF7E2C-DA48-47EF-96AD-F893E2E4A4CB}"/>
              </a:ext>
            </a:extLst>
          </p:cNvPr>
          <p:cNvSpPr>
            <a:spLocks noGrp="1"/>
          </p:cNvSpPr>
          <p:nvPr/>
        </p:nvSpPr>
        <p:spPr>
          <a:xfrm>
            <a:off x="6858000" y="323850"/>
            <a:ext cx="1714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DC61F7A4-ABC7-41EF-B0D5-19FEF1AF3065}"/>
              </a:ext>
            </a:extLst>
          </p:cNvPr>
          <p:cNvSpPr>
            <a:spLocks noGrp="1"/>
          </p:cNvSpPr>
          <p:nvPr/>
        </p:nvSpPr>
        <p:spPr>
          <a:xfrm>
            <a:off x="7105650" y="361950"/>
            <a:ext cx="26670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DB392FA3-DFA3-4D2C-AADA-C892A6A73ACE}"/>
              </a:ext>
            </a:extLst>
          </p:cNvPr>
          <p:cNvSpPr>
            <a:spLocks noGrp="1"/>
          </p:cNvSpPr>
          <p:nvPr/>
        </p:nvSpPr>
        <p:spPr>
          <a:xfrm>
            <a:off x="7353300" y="400050"/>
            <a:ext cx="3619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509CF791-4516-4344-B096-708028754D84}"/>
              </a:ext>
            </a:extLst>
          </p:cNvPr>
          <p:cNvSpPr>
            <a:spLocks noGrp="1"/>
          </p:cNvSpPr>
          <p:nvPr/>
        </p:nvSpPr>
        <p:spPr>
          <a:xfrm>
            <a:off x="7600950" y="323850"/>
            <a:ext cx="45720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A11C7FCE-E776-4BAF-916B-965B04560A12}"/>
              </a:ext>
            </a:extLst>
          </p:cNvPr>
          <p:cNvSpPr>
            <a:spLocks noGrp="1"/>
          </p:cNvSpPr>
          <p:nvPr/>
        </p:nvSpPr>
        <p:spPr>
          <a:xfrm>
            <a:off x="7848600" y="361950"/>
            <a:ext cx="5524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35BEF15E-BBB7-468C-9365-26FF3B37C642}"/>
              </a:ext>
            </a:extLst>
          </p:cNvPr>
          <p:cNvSpPr>
            <a:spLocks noGrp="1"/>
          </p:cNvSpPr>
          <p:nvPr/>
        </p:nvSpPr>
        <p:spPr>
          <a:xfrm>
            <a:off x="8096250" y="400050"/>
            <a:ext cx="1714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5634B59F-4E12-44A0-A365-ABDD518346AE}"/>
              </a:ext>
            </a:extLst>
          </p:cNvPr>
          <p:cNvSpPr>
            <a:spLocks noGrp="1"/>
          </p:cNvSpPr>
          <p:nvPr/>
        </p:nvSpPr>
        <p:spPr>
          <a:xfrm>
            <a:off x="8343900" y="323850"/>
            <a:ext cx="26670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12696998-6D68-4B7E-B75E-546D2C3DFEB8}"/>
              </a:ext>
            </a:extLst>
          </p:cNvPr>
          <p:cNvSpPr>
            <a:spLocks noGrp="1"/>
          </p:cNvSpPr>
          <p:nvPr/>
        </p:nvSpPr>
        <p:spPr>
          <a:xfrm>
            <a:off x="8591550" y="361950"/>
            <a:ext cx="3619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A91536C3-8F2D-4552-9D84-33136BB18675}"/>
              </a:ext>
            </a:extLst>
          </p:cNvPr>
          <p:cNvSpPr>
            <a:spLocks noGrp="1"/>
          </p:cNvSpPr>
          <p:nvPr/>
        </p:nvSpPr>
        <p:spPr>
          <a:xfrm>
            <a:off x="8839200" y="400050"/>
            <a:ext cx="45720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B65B4C74-4C91-4B85-BFB3-6CC8DA5AB2EA}"/>
              </a:ext>
            </a:extLst>
          </p:cNvPr>
          <p:cNvSpPr>
            <a:spLocks noGrp="1"/>
          </p:cNvSpPr>
          <p:nvPr/>
        </p:nvSpPr>
        <p:spPr>
          <a:xfrm>
            <a:off x="9086850" y="323850"/>
            <a:ext cx="5524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F0BC3DD2-8FA2-4BCF-B4E7-FB50A84E4FD2}"/>
              </a:ext>
            </a:extLst>
          </p:cNvPr>
          <p:cNvSpPr>
            <a:spLocks noGrp="1"/>
          </p:cNvSpPr>
          <p:nvPr/>
        </p:nvSpPr>
        <p:spPr>
          <a:xfrm>
            <a:off x="9334500" y="361950"/>
            <a:ext cx="1714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7498C4B4-4687-430A-A7C3-A326E61A346D}"/>
              </a:ext>
            </a:extLst>
          </p:cNvPr>
          <p:cNvSpPr>
            <a:spLocks noGrp="1"/>
          </p:cNvSpPr>
          <p:nvPr/>
        </p:nvSpPr>
        <p:spPr>
          <a:xfrm>
            <a:off x="9582150" y="400050"/>
            <a:ext cx="26670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144C17CC-B17D-4FED-A1BD-8D811D9C33B3}"/>
              </a:ext>
            </a:extLst>
          </p:cNvPr>
          <p:cNvSpPr>
            <a:spLocks noGrp="1"/>
          </p:cNvSpPr>
          <p:nvPr/>
        </p:nvSpPr>
        <p:spPr>
          <a:xfrm>
            <a:off x="9829800" y="323850"/>
            <a:ext cx="3619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D811880A-8DD0-4DEF-8257-7F28157DE020}"/>
              </a:ext>
            </a:extLst>
          </p:cNvPr>
          <p:cNvSpPr>
            <a:spLocks noGrp="1"/>
          </p:cNvSpPr>
          <p:nvPr/>
        </p:nvSpPr>
        <p:spPr>
          <a:xfrm>
            <a:off x="10077450" y="361950"/>
            <a:ext cx="45720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103BC611-E08E-4E40-9B24-4975264BA2B5}"/>
              </a:ext>
            </a:extLst>
          </p:cNvPr>
          <p:cNvSpPr>
            <a:spLocks noGrp="1"/>
          </p:cNvSpPr>
          <p:nvPr/>
        </p:nvSpPr>
        <p:spPr>
          <a:xfrm>
            <a:off x="10325100" y="400050"/>
            <a:ext cx="5524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75CC823A-B7AA-4B71-BE1F-8AAED00AB67A}"/>
              </a:ext>
            </a:extLst>
          </p:cNvPr>
          <p:cNvSpPr>
            <a:spLocks noGrp="1"/>
          </p:cNvSpPr>
          <p:nvPr/>
        </p:nvSpPr>
        <p:spPr>
          <a:xfrm>
            <a:off x="10572750" y="323850"/>
            <a:ext cx="1714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D99991D9-464E-4C78-AB73-798FF07CF908}"/>
              </a:ext>
            </a:extLst>
          </p:cNvPr>
          <p:cNvSpPr>
            <a:spLocks noGrp="1"/>
          </p:cNvSpPr>
          <p:nvPr/>
        </p:nvSpPr>
        <p:spPr>
          <a:xfrm>
            <a:off x="6972300" y="552450"/>
            <a:ext cx="26670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FE0940E2-5054-4581-90BE-E4DAAF200012}"/>
              </a:ext>
            </a:extLst>
          </p:cNvPr>
          <p:cNvSpPr>
            <a:spLocks noGrp="1"/>
          </p:cNvSpPr>
          <p:nvPr/>
        </p:nvSpPr>
        <p:spPr>
          <a:xfrm>
            <a:off x="7219950" y="590550"/>
            <a:ext cx="3619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7486FD88-C04F-44A4-B4F2-C6B4AED02C21}"/>
              </a:ext>
            </a:extLst>
          </p:cNvPr>
          <p:cNvSpPr>
            <a:spLocks noGrp="1"/>
          </p:cNvSpPr>
          <p:nvPr/>
        </p:nvSpPr>
        <p:spPr>
          <a:xfrm>
            <a:off x="7467600" y="628650"/>
            <a:ext cx="45720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842208C1-8F20-4CC6-95C6-D11B06CDB0CB}"/>
              </a:ext>
            </a:extLst>
          </p:cNvPr>
          <p:cNvSpPr>
            <a:spLocks noGrp="1"/>
          </p:cNvSpPr>
          <p:nvPr/>
        </p:nvSpPr>
        <p:spPr>
          <a:xfrm>
            <a:off x="7715250" y="552450"/>
            <a:ext cx="5524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93008680-BC70-453D-B3F6-60B6DE548953}"/>
              </a:ext>
            </a:extLst>
          </p:cNvPr>
          <p:cNvSpPr>
            <a:spLocks noGrp="1"/>
          </p:cNvSpPr>
          <p:nvPr/>
        </p:nvSpPr>
        <p:spPr>
          <a:xfrm>
            <a:off x="7962900" y="590550"/>
            <a:ext cx="1714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DDF26BC2-06B2-4696-A72C-0631BE3E80B6}"/>
              </a:ext>
            </a:extLst>
          </p:cNvPr>
          <p:cNvSpPr>
            <a:spLocks noGrp="1"/>
          </p:cNvSpPr>
          <p:nvPr/>
        </p:nvSpPr>
        <p:spPr>
          <a:xfrm>
            <a:off x="8210550" y="628650"/>
            <a:ext cx="26670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A6CBF629-1B51-41EE-B11C-DABE937E400F}"/>
              </a:ext>
            </a:extLst>
          </p:cNvPr>
          <p:cNvSpPr>
            <a:spLocks noGrp="1"/>
          </p:cNvSpPr>
          <p:nvPr/>
        </p:nvSpPr>
        <p:spPr>
          <a:xfrm>
            <a:off x="8458200" y="552450"/>
            <a:ext cx="3619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610DB7B9-259C-420C-98C5-712BF30D5B48}"/>
              </a:ext>
            </a:extLst>
          </p:cNvPr>
          <p:cNvSpPr>
            <a:spLocks noGrp="1"/>
          </p:cNvSpPr>
          <p:nvPr/>
        </p:nvSpPr>
        <p:spPr>
          <a:xfrm>
            <a:off x="8705850" y="590550"/>
            <a:ext cx="45720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882A4317-69B6-42C1-BBDA-CC5D253F580D}"/>
              </a:ext>
            </a:extLst>
          </p:cNvPr>
          <p:cNvSpPr>
            <a:spLocks noGrp="1"/>
          </p:cNvSpPr>
          <p:nvPr/>
        </p:nvSpPr>
        <p:spPr>
          <a:xfrm>
            <a:off x="8953500" y="628650"/>
            <a:ext cx="5524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2D418676-5356-40B7-A5B2-849D6A464CEE}"/>
              </a:ext>
            </a:extLst>
          </p:cNvPr>
          <p:cNvSpPr>
            <a:spLocks noGrp="1"/>
          </p:cNvSpPr>
          <p:nvPr/>
        </p:nvSpPr>
        <p:spPr>
          <a:xfrm>
            <a:off x="9201150" y="552450"/>
            <a:ext cx="1714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CF22B7E3-B076-4592-8E03-32171C382A7B}"/>
              </a:ext>
            </a:extLst>
          </p:cNvPr>
          <p:cNvSpPr>
            <a:spLocks noGrp="1"/>
          </p:cNvSpPr>
          <p:nvPr/>
        </p:nvSpPr>
        <p:spPr>
          <a:xfrm>
            <a:off x="9448800" y="590550"/>
            <a:ext cx="26670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D2BEEA20-69F9-4392-8566-A898291DFB17}"/>
              </a:ext>
            </a:extLst>
          </p:cNvPr>
          <p:cNvSpPr>
            <a:spLocks noGrp="1"/>
          </p:cNvSpPr>
          <p:nvPr/>
        </p:nvSpPr>
        <p:spPr>
          <a:xfrm>
            <a:off x="9696450" y="628650"/>
            <a:ext cx="3619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84DCAA53-11FF-4567-8284-BD1F3888D560}"/>
              </a:ext>
            </a:extLst>
          </p:cNvPr>
          <p:cNvSpPr>
            <a:spLocks noGrp="1"/>
          </p:cNvSpPr>
          <p:nvPr/>
        </p:nvSpPr>
        <p:spPr>
          <a:xfrm>
            <a:off x="9944100" y="552450"/>
            <a:ext cx="45720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476F235F-C63C-4233-80B0-F350D7B3645C}"/>
              </a:ext>
            </a:extLst>
          </p:cNvPr>
          <p:cNvSpPr>
            <a:spLocks noGrp="1"/>
          </p:cNvSpPr>
          <p:nvPr/>
        </p:nvSpPr>
        <p:spPr>
          <a:xfrm>
            <a:off x="10191750" y="590550"/>
            <a:ext cx="5524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D271FEAD-FA9A-49DC-BFFC-B2DEAA18688A}"/>
              </a:ext>
            </a:extLst>
          </p:cNvPr>
          <p:cNvSpPr>
            <a:spLocks noGrp="1"/>
          </p:cNvSpPr>
          <p:nvPr/>
        </p:nvSpPr>
        <p:spPr>
          <a:xfrm>
            <a:off x="10439400" y="628650"/>
            <a:ext cx="1714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740F77A2-EF51-4F96-B521-E0B0A6E679CA}"/>
              </a:ext>
            </a:extLst>
          </p:cNvPr>
          <p:cNvSpPr>
            <a:spLocks noGrp="1"/>
          </p:cNvSpPr>
          <p:nvPr/>
        </p:nvSpPr>
        <p:spPr>
          <a:xfrm>
            <a:off x="10687050" y="552450"/>
            <a:ext cx="26670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C01ABF74-1C5C-4314-BDD1-BCB8898B79AD}"/>
              </a:ext>
            </a:extLst>
          </p:cNvPr>
          <p:cNvSpPr>
            <a:spLocks noGrp="1"/>
          </p:cNvSpPr>
          <p:nvPr/>
        </p:nvSpPr>
        <p:spPr>
          <a:xfrm>
            <a:off x="6858000" y="781050"/>
            <a:ext cx="3619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81B7BE9A-75D0-4D9D-9A73-2D451F586ABC}"/>
              </a:ext>
            </a:extLst>
          </p:cNvPr>
          <p:cNvSpPr>
            <a:spLocks noGrp="1"/>
          </p:cNvSpPr>
          <p:nvPr/>
        </p:nvSpPr>
        <p:spPr>
          <a:xfrm>
            <a:off x="7105650" y="819150"/>
            <a:ext cx="45720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41718E97-D384-4A24-9B06-F2C4C29921C8}"/>
              </a:ext>
            </a:extLst>
          </p:cNvPr>
          <p:cNvSpPr>
            <a:spLocks noGrp="1"/>
          </p:cNvSpPr>
          <p:nvPr/>
        </p:nvSpPr>
        <p:spPr>
          <a:xfrm>
            <a:off x="7353300" y="857250"/>
            <a:ext cx="5524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570389E4-193A-4256-BE5A-C6C9166C7D49}"/>
              </a:ext>
            </a:extLst>
          </p:cNvPr>
          <p:cNvSpPr>
            <a:spLocks noGrp="1"/>
          </p:cNvSpPr>
          <p:nvPr/>
        </p:nvSpPr>
        <p:spPr>
          <a:xfrm>
            <a:off x="7600950" y="781050"/>
            <a:ext cx="1714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0BFDE5FE-6B7B-4551-9295-147BE9A1EC95}"/>
              </a:ext>
            </a:extLst>
          </p:cNvPr>
          <p:cNvSpPr>
            <a:spLocks noGrp="1"/>
          </p:cNvSpPr>
          <p:nvPr/>
        </p:nvSpPr>
        <p:spPr>
          <a:xfrm>
            <a:off x="7848600" y="819150"/>
            <a:ext cx="26670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B3B61958-03C8-44EF-B31F-0E8083607527}"/>
              </a:ext>
            </a:extLst>
          </p:cNvPr>
          <p:cNvSpPr>
            <a:spLocks noGrp="1"/>
          </p:cNvSpPr>
          <p:nvPr/>
        </p:nvSpPr>
        <p:spPr>
          <a:xfrm>
            <a:off x="8096250" y="857250"/>
            <a:ext cx="3619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13EA9F1E-24A5-4F36-9739-CDC97A9AE679}"/>
              </a:ext>
            </a:extLst>
          </p:cNvPr>
          <p:cNvSpPr>
            <a:spLocks noGrp="1"/>
          </p:cNvSpPr>
          <p:nvPr/>
        </p:nvSpPr>
        <p:spPr>
          <a:xfrm>
            <a:off x="8343900" y="781050"/>
            <a:ext cx="45720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6F51F132-FCEE-4155-9EA1-C67A07805CD0}"/>
              </a:ext>
            </a:extLst>
          </p:cNvPr>
          <p:cNvSpPr>
            <a:spLocks noGrp="1"/>
          </p:cNvSpPr>
          <p:nvPr/>
        </p:nvSpPr>
        <p:spPr>
          <a:xfrm>
            <a:off x="8591550" y="819150"/>
            <a:ext cx="5524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50E2268B-B146-463B-A878-7B236AA1B064}"/>
              </a:ext>
            </a:extLst>
          </p:cNvPr>
          <p:cNvSpPr>
            <a:spLocks noGrp="1"/>
          </p:cNvSpPr>
          <p:nvPr/>
        </p:nvSpPr>
        <p:spPr>
          <a:xfrm>
            <a:off x="8839200" y="857250"/>
            <a:ext cx="1714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3B19F4AD-C37E-4DA3-872A-8A2BB6F6E456}"/>
              </a:ext>
            </a:extLst>
          </p:cNvPr>
          <p:cNvSpPr>
            <a:spLocks noGrp="1"/>
          </p:cNvSpPr>
          <p:nvPr/>
        </p:nvSpPr>
        <p:spPr>
          <a:xfrm>
            <a:off x="9086850" y="781050"/>
            <a:ext cx="26670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8BB46506-AA8C-482E-8D52-06B1D03F74DB}"/>
              </a:ext>
            </a:extLst>
          </p:cNvPr>
          <p:cNvSpPr>
            <a:spLocks noGrp="1"/>
          </p:cNvSpPr>
          <p:nvPr/>
        </p:nvSpPr>
        <p:spPr>
          <a:xfrm>
            <a:off x="9334500" y="819150"/>
            <a:ext cx="3619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Rounded Rectangle 44">
            <a:extLst>
              <a:ext uri="{FF2B5EF4-FFF2-40B4-BE49-F238E27FC236}">
                <a16:creationId xmlns:a16="http://schemas.microsoft.com/office/drawing/2014/main" id="{77FCE908-9E0F-429B-94C9-DD1B33E95320}"/>
              </a:ext>
            </a:extLst>
          </p:cNvPr>
          <p:cNvSpPr>
            <a:spLocks noGrp="1"/>
          </p:cNvSpPr>
          <p:nvPr/>
        </p:nvSpPr>
        <p:spPr>
          <a:xfrm>
            <a:off x="9582150" y="857250"/>
            <a:ext cx="45720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Rounded Rectangle 45">
            <a:extLst>
              <a:ext uri="{FF2B5EF4-FFF2-40B4-BE49-F238E27FC236}">
                <a16:creationId xmlns:a16="http://schemas.microsoft.com/office/drawing/2014/main" id="{7643AAE0-1A14-46A5-A885-53E53D3DFABD}"/>
              </a:ext>
            </a:extLst>
          </p:cNvPr>
          <p:cNvSpPr>
            <a:spLocks noGrp="1"/>
          </p:cNvSpPr>
          <p:nvPr/>
        </p:nvSpPr>
        <p:spPr>
          <a:xfrm>
            <a:off x="9829800" y="781050"/>
            <a:ext cx="5524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Rounded Rectangle 46">
            <a:extLst>
              <a:ext uri="{FF2B5EF4-FFF2-40B4-BE49-F238E27FC236}">
                <a16:creationId xmlns:a16="http://schemas.microsoft.com/office/drawing/2014/main" id="{6D0AEAA6-1601-472A-BD64-1412923338DE}"/>
              </a:ext>
            </a:extLst>
          </p:cNvPr>
          <p:cNvSpPr>
            <a:spLocks noGrp="1"/>
          </p:cNvSpPr>
          <p:nvPr/>
        </p:nvSpPr>
        <p:spPr>
          <a:xfrm>
            <a:off x="10077450" y="819150"/>
            <a:ext cx="1714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Rounded Rectangle 47">
            <a:extLst>
              <a:ext uri="{FF2B5EF4-FFF2-40B4-BE49-F238E27FC236}">
                <a16:creationId xmlns:a16="http://schemas.microsoft.com/office/drawing/2014/main" id="{2E410CA2-5740-46B0-A46D-A475DE1F35E1}"/>
              </a:ext>
            </a:extLst>
          </p:cNvPr>
          <p:cNvSpPr>
            <a:spLocks noGrp="1"/>
          </p:cNvSpPr>
          <p:nvPr/>
        </p:nvSpPr>
        <p:spPr>
          <a:xfrm>
            <a:off x="10325100" y="857250"/>
            <a:ext cx="26670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Rounded Rectangle 48">
            <a:extLst>
              <a:ext uri="{FF2B5EF4-FFF2-40B4-BE49-F238E27FC236}">
                <a16:creationId xmlns:a16="http://schemas.microsoft.com/office/drawing/2014/main" id="{41E220C9-3FA7-4286-A5EA-36A8A1F80B8A}"/>
              </a:ext>
            </a:extLst>
          </p:cNvPr>
          <p:cNvSpPr>
            <a:spLocks noGrp="1"/>
          </p:cNvSpPr>
          <p:nvPr/>
        </p:nvSpPr>
        <p:spPr>
          <a:xfrm>
            <a:off x="10572750" y="781050"/>
            <a:ext cx="3619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Rounded Rectangle 49">
            <a:extLst>
              <a:ext uri="{FF2B5EF4-FFF2-40B4-BE49-F238E27FC236}">
                <a16:creationId xmlns:a16="http://schemas.microsoft.com/office/drawing/2014/main" id="{69489595-3A75-46E8-AE86-3AAB40F78366}"/>
              </a:ext>
            </a:extLst>
          </p:cNvPr>
          <p:cNvSpPr>
            <a:spLocks noGrp="1"/>
          </p:cNvSpPr>
          <p:nvPr/>
        </p:nvSpPr>
        <p:spPr>
          <a:xfrm>
            <a:off x="6972300" y="1009650"/>
            <a:ext cx="45720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Rounded Rectangle 50">
            <a:extLst>
              <a:ext uri="{FF2B5EF4-FFF2-40B4-BE49-F238E27FC236}">
                <a16:creationId xmlns:a16="http://schemas.microsoft.com/office/drawing/2014/main" id="{C293C523-79BB-4093-A707-EA3E870B4144}"/>
              </a:ext>
            </a:extLst>
          </p:cNvPr>
          <p:cNvSpPr>
            <a:spLocks noGrp="1"/>
          </p:cNvSpPr>
          <p:nvPr/>
        </p:nvSpPr>
        <p:spPr>
          <a:xfrm>
            <a:off x="7219950" y="1047750"/>
            <a:ext cx="5524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Rounded Rectangle 51">
            <a:extLst>
              <a:ext uri="{FF2B5EF4-FFF2-40B4-BE49-F238E27FC236}">
                <a16:creationId xmlns:a16="http://schemas.microsoft.com/office/drawing/2014/main" id="{880891D4-CE2B-4600-B9C1-4A840A8AF85D}"/>
              </a:ext>
            </a:extLst>
          </p:cNvPr>
          <p:cNvSpPr>
            <a:spLocks noGrp="1"/>
          </p:cNvSpPr>
          <p:nvPr/>
        </p:nvSpPr>
        <p:spPr>
          <a:xfrm>
            <a:off x="7467600" y="1085850"/>
            <a:ext cx="1714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Rounded Rectangle 52">
            <a:extLst>
              <a:ext uri="{FF2B5EF4-FFF2-40B4-BE49-F238E27FC236}">
                <a16:creationId xmlns:a16="http://schemas.microsoft.com/office/drawing/2014/main" id="{DF4F5C88-C6CF-48B0-A3C9-084EAFD2A0FF}"/>
              </a:ext>
            </a:extLst>
          </p:cNvPr>
          <p:cNvSpPr>
            <a:spLocks noGrp="1"/>
          </p:cNvSpPr>
          <p:nvPr/>
        </p:nvSpPr>
        <p:spPr>
          <a:xfrm>
            <a:off x="7715250" y="1009650"/>
            <a:ext cx="26670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Rounded Rectangle 53">
            <a:extLst>
              <a:ext uri="{FF2B5EF4-FFF2-40B4-BE49-F238E27FC236}">
                <a16:creationId xmlns:a16="http://schemas.microsoft.com/office/drawing/2014/main" id="{9C43FEF1-C295-420E-AE85-D2BDC549406A}"/>
              </a:ext>
            </a:extLst>
          </p:cNvPr>
          <p:cNvSpPr>
            <a:spLocks noGrp="1"/>
          </p:cNvSpPr>
          <p:nvPr/>
        </p:nvSpPr>
        <p:spPr>
          <a:xfrm>
            <a:off x="7962900" y="1047750"/>
            <a:ext cx="3619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Rounded Rectangle 54">
            <a:extLst>
              <a:ext uri="{FF2B5EF4-FFF2-40B4-BE49-F238E27FC236}">
                <a16:creationId xmlns:a16="http://schemas.microsoft.com/office/drawing/2014/main" id="{96F785C6-A093-404D-874E-C2E7F255E727}"/>
              </a:ext>
            </a:extLst>
          </p:cNvPr>
          <p:cNvSpPr>
            <a:spLocks noGrp="1"/>
          </p:cNvSpPr>
          <p:nvPr/>
        </p:nvSpPr>
        <p:spPr>
          <a:xfrm>
            <a:off x="8210550" y="1085850"/>
            <a:ext cx="45720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Rounded Rectangle 55">
            <a:extLst>
              <a:ext uri="{FF2B5EF4-FFF2-40B4-BE49-F238E27FC236}">
                <a16:creationId xmlns:a16="http://schemas.microsoft.com/office/drawing/2014/main" id="{E05C7BE5-322E-4B70-9920-8C2DEE608FEF}"/>
              </a:ext>
            </a:extLst>
          </p:cNvPr>
          <p:cNvSpPr>
            <a:spLocks noGrp="1"/>
          </p:cNvSpPr>
          <p:nvPr/>
        </p:nvSpPr>
        <p:spPr>
          <a:xfrm>
            <a:off x="8458200" y="1009650"/>
            <a:ext cx="5524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Rounded Rectangle 56">
            <a:extLst>
              <a:ext uri="{FF2B5EF4-FFF2-40B4-BE49-F238E27FC236}">
                <a16:creationId xmlns:a16="http://schemas.microsoft.com/office/drawing/2014/main" id="{458EF50B-C13E-4A2A-A624-C10EDA702BA9}"/>
              </a:ext>
            </a:extLst>
          </p:cNvPr>
          <p:cNvSpPr>
            <a:spLocks noGrp="1"/>
          </p:cNvSpPr>
          <p:nvPr/>
        </p:nvSpPr>
        <p:spPr>
          <a:xfrm>
            <a:off x="8705850" y="1047750"/>
            <a:ext cx="1714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Rounded Rectangle 57">
            <a:extLst>
              <a:ext uri="{FF2B5EF4-FFF2-40B4-BE49-F238E27FC236}">
                <a16:creationId xmlns:a16="http://schemas.microsoft.com/office/drawing/2014/main" id="{08B7AD2C-E4B5-4AF3-A43E-D3790349E375}"/>
              </a:ext>
            </a:extLst>
          </p:cNvPr>
          <p:cNvSpPr>
            <a:spLocks noGrp="1"/>
          </p:cNvSpPr>
          <p:nvPr/>
        </p:nvSpPr>
        <p:spPr>
          <a:xfrm>
            <a:off x="8953500" y="1085850"/>
            <a:ext cx="26670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Rounded Rectangle 58">
            <a:extLst>
              <a:ext uri="{FF2B5EF4-FFF2-40B4-BE49-F238E27FC236}">
                <a16:creationId xmlns:a16="http://schemas.microsoft.com/office/drawing/2014/main" id="{1BAB59AE-4B7D-4C6B-A56F-E2EDEE44FBE7}"/>
              </a:ext>
            </a:extLst>
          </p:cNvPr>
          <p:cNvSpPr>
            <a:spLocks noGrp="1"/>
          </p:cNvSpPr>
          <p:nvPr/>
        </p:nvSpPr>
        <p:spPr>
          <a:xfrm>
            <a:off x="9201150" y="1009650"/>
            <a:ext cx="3619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B2F721FC-1D15-4E9D-8B68-AF47CEFD1386}"/>
              </a:ext>
            </a:extLst>
          </p:cNvPr>
          <p:cNvSpPr>
            <a:spLocks noGrp="1"/>
          </p:cNvSpPr>
          <p:nvPr/>
        </p:nvSpPr>
        <p:spPr>
          <a:xfrm>
            <a:off x="342900" y="76200"/>
            <a:ext cx="342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 i="0">
                <a:solidFill>
                  <a:srgbClr val="8A8580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8A8580"/>
                </a:solidFill>
                <a:latin typeface="Aptos"/>
                <a:ea typeface="Aptos"/>
                <a:cs typeface="Aptos"/>
              </a:rPr>
              <a:t>Confidential - Oracle Restricted (Employees Only)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6DAE793C-4C63-44F2-A5EC-D8BD0035F212}"/>
              </a:ext>
            </a:extLst>
          </p:cNvPr>
          <p:cNvSpPr>
            <a:spLocks noGrp="1"/>
          </p:cNvSpPr>
          <p:nvPr/>
        </p:nvSpPr>
        <p:spPr>
          <a:xfrm>
            <a:off x="342900" y="6572250"/>
            <a:ext cx="2476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 i="0">
                <a:solidFill>
                  <a:srgbClr val="807A76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807A76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6EBA1399-1933-4646-9DB6-4B22827B3DCB}"/>
              </a:ext>
            </a:extLst>
          </p:cNvPr>
          <p:cNvSpPr>
            <a:spLocks noGrp="1"/>
          </p:cNvSpPr>
          <p:nvPr/>
        </p:nvSpPr>
        <p:spPr>
          <a:xfrm>
            <a:off x="723900" y="6572250"/>
            <a:ext cx="4381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 i="0">
                <a:solidFill>
                  <a:srgbClr val="807A76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807A76"/>
                </a:solidFill>
                <a:latin typeface="Aptos"/>
                <a:ea typeface="Aptos"/>
                <a:cs typeface="Aptos"/>
              </a:rPr>
              <a:t>Workflow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368F87D8-E041-4EE6-882A-40CD0A8B765F}"/>
              </a:ext>
            </a:extLst>
          </p:cNvPr>
          <p:cNvSpPr>
            <a:spLocks noGrp="1"/>
          </p:cNvSpPr>
          <p:nvPr/>
        </p:nvSpPr>
        <p:spPr>
          <a:xfrm>
            <a:off x="11334750" y="6419850"/>
            <a:ext cx="419100" cy="419100"/>
          </a:xfrm>
          <a:prstGeom prst="rect">
            <a:avLst/>
          </a:prstGeom>
          <a:solidFill>
            <a:srgbClr val="C7463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Rounded Rectangle 63">
            <a:extLst>
              <a:ext uri="{FF2B5EF4-FFF2-40B4-BE49-F238E27FC236}">
                <a16:creationId xmlns:a16="http://schemas.microsoft.com/office/drawing/2014/main" id="{C6D6D4E8-0758-4D16-A361-8287C73FC404}"/>
              </a:ext>
            </a:extLst>
          </p:cNvPr>
          <p:cNvSpPr>
            <a:spLocks noGrp="1"/>
          </p:cNvSpPr>
          <p:nvPr/>
        </p:nvSpPr>
        <p:spPr>
          <a:xfrm>
            <a:off x="11430000" y="6562725"/>
            <a:ext cx="228600" cy="114300"/>
          </a:xfrm>
          <a:prstGeom prst="roundRect">
            <a:avLst>
              <a:gd name="adj" fmla="val 50000"/>
            </a:avLst>
          </a:prstGeom>
          <a:solidFill>
            <a:srgbClr val="000000">
              <a:alpha val="0"/>
            </a:srgbClr>
          </a:solidFill>
          <a:ln w="2286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4AE06EA8-4F61-4A8E-AF86-E9C766CE8A70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99060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 i="0">
                <a:solidFill>
                  <a:srgbClr val="2B2B2B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 i="0">
                <a:solidFill>
                  <a:srgbClr val="2B2B2B"/>
                </a:solidFill>
                <a:latin typeface="Aptos Display"/>
                <a:ea typeface="Aptos Display"/>
                <a:cs typeface="Aptos Display"/>
              </a:rPr>
              <a:t>ODT turns a requirement into PR readiness through evidence gates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329A421C-9F9F-4FE6-ADFE-676A2A0FC890}"/>
              </a:ext>
            </a:extLst>
          </p:cNvPr>
          <p:cNvSpPr>
            <a:spLocks noGrp="1"/>
          </p:cNvSpPr>
          <p:nvPr/>
        </p:nvSpPr>
        <p:spPr>
          <a:xfrm>
            <a:off x="609600" y="1219200"/>
            <a:ext cx="99060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 i="0">
                <a:solidFill>
                  <a:srgbClr val="333333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333333"/>
                </a:solidFill>
                <a:latin typeface="Aptos"/>
                <a:ea typeface="Aptos"/>
                <a:cs typeface="Aptos"/>
              </a:rPr>
              <a:t>Each stage creates evidence. Gates decide whether to continue, clarify, delegate, rework, accept risk, or stop.</a:t>
            </a:r>
          </a:p>
        </p:txBody>
      </p:sp>
      <p:sp>
        <p:nvSpPr>
          <p:cNvPr id="67" name="Rounded Rectangle 66">
            <a:extLst>
              <a:ext uri="{FF2B5EF4-FFF2-40B4-BE49-F238E27FC236}">
                <a16:creationId xmlns:a16="http://schemas.microsoft.com/office/drawing/2014/main" id="{528A5596-CC7D-4115-A6DA-B03050D6AB8B}"/>
              </a:ext>
            </a:extLst>
          </p:cNvPr>
          <p:cNvSpPr>
            <a:spLocks noGrp="1"/>
          </p:cNvSpPr>
          <p:nvPr/>
        </p:nvSpPr>
        <p:spPr>
          <a:xfrm>
            <a:off x="685800" y="1600200"/>
            <a:ext cx="1695450" cy="87630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3335">
            <a:solidFill>
              <a:srgbClr val="DED8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21E91174-A077-47A1-BDEF-AFB7B0948DC2}"/>
              </a:ext>
            </a:extLst>
          </p:cNvPr>
          <p:cNvSpPr>
            <a:spLocks noGrp="1"/>
          </p:cNvSpPr>
          <p:nvPr/>
        </p:nvSpPr>
        <p:spPr>
          <a:xfrm>
            <a:off x="800100" y="1733550"/>
            <a:ext cx="285750" cy="285750"/>
          </a:xfrm>
          <a:prstGeom prst="ellipse">
            <a:avLst/>
          </a:prstGeom>
          <a:solidFill>
            <a:srgbClr val="C7463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7448ACC8-3F33-4309-A4A3-26E80DCC7FBD}"/>
              </a:ext>
            </a:extLst>
          </p:cNvPr>
          <p:cNvSpPr>
            <a:spLocks noGrp="1"/>
          </p:cNvSpPr>
          <p:nvPr/>
        </p:nvSpPr>
        <p:spPr>
          <a:xfrm>
            <a:off x="800100" y="1790700"/>
            <a:ext cx="2857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74255853-A653-480D-89C4-9B5F599D4A79}"/>
              </a:ext>
            </a:extLst>
          </p:cNvPr>
          <p:cNvSpPr>
            <a:spLocks noGrp="1"/>
          </p:cNvSpPr>
          <p:nvPr/>
        </p:nvSpPr>
        <p:spPr>
          <a:xfrm>
            <a:off x="1181100" y="1733550"/>
            <a:ext cx="11049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 i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2B2B2B"/>
                </a:solidFill>
                <a:latin typeface="Aptos"/>
                <a:ea typeface="Aptos"/>
                <a:cs typeface="Aptos"/>
              </a:rPr>
              <a:t>Intake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748D6F8E-FC9B-4F61-9E24-E8400C015DCB}"/>
              </a:ext>
            </a:extLst>
          </p:cNvPr>
          <p:cNvSpPr>
            <a:spLocks noGrp="1"/>
          </p:cNvSpPr>
          <p:nvPr/>
        </p:nvSpPr>
        <p:spPr>
          <a:xfrm>
            <a:off x="1181100" y="2000250"/>
            <a:ext cx="11049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 i="0">
                <a:solidFill>
                  <a:srgbClr val="333333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333333"/>
                </a:solidFill>
                <a:latin typeface="Aptos"/>
                <a:ea typeface="Aptos"/>
                <a:cs typeface="Aptos"/>
              </a:rPr>
              <a:t>Requirement, Jira,</a:t>
            </a:r>
          </a:p>
          <a:p>
            <a:pPr algn="l">
              <a:defRPr sz="900" b="0" i="0">
                <a:solidFill>
                  <a:srgbClr val="333333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333333"/>
                </a:solidFill>
                <a:latin typeface="Aptos"/>
                <a:ea typeface="Aptos"/>
                <a:cs typeface="Aptos"/>
              </a:rPr>
              <a:t>repo, assets</a:t>
            </a:r>
          </a:p>
        </p:txBody>
      </p:sp>
      <p:sp>
        <p:nvSpPr>
          <p:cNvPr id="72" name="Right Arrow 71">
            <a:extLst>
              <a:ext uri="{FF2B5EF4-FFF2-40B4-BE49-F238E27FC236}">
                <a16:creationId xmlns:a16="http://schemas.microsoft.com/office/drawing/2014/main" id="{E0D76F5F-7C14-4D84-85BB-9A93C73420B5}"/>
              </a:ext>
            </a:extLst>
          </p:cNvPr>
          <p:cNvSpPr>
            <a:spLocks noGrp="1"/>
          </p:cNvSpPr>
          <p:nvPr/>
        </p:nvSpPr>
        <p:spPr>
          <a:xfrm>
            <a:off x="2419350" y="1943100"/>
            <a:ext cx="323850" cy="152400"/>
          </a:xfrm>
          <a:prstGeom prst="rightArrow">
            <a:avLst/>
          </a:prstGeom>
          <a:solidFill>
            <a:srgbClr val="2E5F8A"/>
          </a:solidFill>
          <a:ln w="9525">
            <a:solidFill>
              <a:srgbClr val="2E5F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Rounded Rectangle 72">
            <a:extLst>
              <a:ext uri="{FF2B5EF4-FFF2-40B4-BE49-F238E27FC236}">
                <a16:creationId xmlns:a16="http://schemas.microsoft.com/office/drawing/2014/main" id="{8EBA6ED7-3FA2-4A82-9458-717EDD2D4A67}"/>
              </a:ext>
            </a:extLst>
          </p:cNvPr>
          <p:cNvSpPr>
            <a:spLocks noGrp="1"/>
          </p:cNvSpPr>
          <p:nvPr/>
        </p:nvSpPr>
        <p:spPr>
          <a:xfrm>
            <a:off x="2819400" y="1600200"/>
            <a:ext cx="1695450" cy="87630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3335">
            <a:solidFill>
              <a:srgbClr val="DED8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F23EBFC5-F8E0-47CE-943F-6943FE1CC9BE}"/>
              </a:ext>
            </a:extLst>
          </p:cNvPr>
          <p:cNvSpPr>
            <a:spLocks noGrp="1"/>
          </p:cNvSpPr>
          <p:nvPr/>
        </p:nvSpPr>
        <p:spPr>
          <a:xfrm>
            <a:off x="2933700" y="1733550"/>
            <a:ext cx="285750" cy="285750"/>
          </a:xfrm>
          <a:prstGeom prst="ellipse">
            <a:avLst/>
          </a:prstGeom>
          <a:solidFill>
            <a:srgbClr val="2E5F8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16E8A6E7-E8F1-42B4-A13C-9B11A6D0BE40}"/>
              </a:ext>
            </a:extLst>
          </p:cNvPr>
          <p:cNvSpPr>
            <a:spLocks noGrp="1"/>
          </p:cNvSpPr>
          <p:nvPr/>
        </p:nvSpPr>
        <p:spPr>
          <a:xfrm>
            <a:off x="2933700" y="1790700"/>
            <a:ext cx="2857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903665E1-8C11-432B-80AB-65360577805E}"/>
              </a:ext>
            </a:extLst>
          </p:cNvPr>
          <p:cNvSpPr>
            <a:spLocks noGrp="1"/>
          </p:cNvSpPr>
          <p:nvPr/>
        </p:nvSpPr>
        <p:spPr>
          <a:xfrm>
            <a:off x="3314700" y="1733550"/>
            <a:ext cx="11049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 i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2B2B2B"/>
                </a:solidFill>
                <a:latin typeface="Aptos"/>
                <a:ea typeface="Aptos"/>
                <a:cs typeface="Aptos"/>
              </a:rPr>
              <a:t>Analyze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DDE60967-AA58-4FD4-A0F4-B186CD0FC455}"/>
              </a:ext>
            </a:extLst>
          </p:cNvPr>
          <p:cNvSpPr>
            <a:spLocks noGrp="1"/>
          </p:cNvSpPr>
          <p:nvPr/>
        </p:nvSpPr>
        <p:spPr>
          <a:xfrm>
            <a:off x="3314700" y="2000250"/>
            <a:ext cx="11049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 i="0">
                <a:solidFill>
                  <a:srgbClr val="333333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333333"/>
                </a:solidFill>
                <a:latin typeface="Aptos"/>
                <a:ea typeface="Aptos"/>
                <a:cs typeface="Aptos"/>
              </a:rPr>
              <a:t>Repo evidence,</a:t>
            </a:r>
          </a:p>
          <a:p>
            <a:pPr algn="l">
              <a:defRPr sz="900" b="0" i="0">
                <a:solidFill>
                  <a:srgbClr val="333333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333333"/>
                </a:solidFill>
                <a:latin typeface="Aptos"/>
                <a:ea typeface="Aptos"/>
                <a:cs typeface="Aptos"/>
              </a:rPr>
              <a:t>gaps, context</a:t>
            </a:r>
          </a:p>
        </p:txBody>
      </p:sp>
      <p:sp>
        <p:nvSpPr>
          <p:cNvPr id="78" name="Right Arrow 77">
            <a:extLst>
              <a:ext uri="{FF2B5EF4-FFF2-40B4-BE49-F238E27FC236}">
                <a16:creationId xmlns:a16="http://schemas.microsoft.com/office/drawing/2014/main" id="{287C28EB-99FE-493B-9FB7-564BE0BFEFD3}"/>
              </a:ext>
            </a:extLst>
          </p:cNvPr>
          <p:cNvSpPr>
            <a:spLocks noGrp="1"/>
          </p:cNvSpPr>
          <p:nvPr/>
        </p:nvSpPr>
        <p:spPr>
          <a:xfrm>
            <a:off x="4552950" y="1943100"/>
            <a:ext cx="323850" cy="152400"/>
          </a:xfrm>
          <a:prstGeom prst="rightArrow">
            <a:avLst/>
          </a:prstGeom>
          <a:solidFill>
            <a:srgbClr val="2E5F8A"/>
          </a:solidFill>
          <a:ln w="9525">
            <a:solidFill>
              <a:srgbClr val="2E5F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Rounded Rectangle 78">
            <a:extLst>
              <a:ext uri="{FF2B5EF4-FFF2-40B4-BE49-F238E27FC236}">
                <a16:creationId xmlns:a16="http://schemas.microsoft.com/office/drawing/2014/main" id="{4C9A7D0D-EAE9-4E2D-B53D-AB3209653CAD}"/>
              </a:ext>
            </a:extLst>
          </p:cNvPr>
          <p:cNvSpPr>
            <a:spLocks noGrp="1"/>
          </p:cNvSpPr>
          <p:nvPr/>
        </p:nvSpPr>
        <p:spPr>
          <a:xfrm>
            <a:off x="4953000" y="1600200"/>
            <a:ext cx="1695450" cy="87630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3335">
            <a:solidFill>
              <a:srgbClr val="DED8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Oval 79">
            <a:extLst>
              <a:ext uri="{FF2B5EF4-FFF2-40B4-BE49-F238E27FC236}">
                <a16:creationId xmlns:a16="http://schemas.microsoft.com/office/drawing/2014/main" id="{D9117F21-5680-4693-A0DB-062F700D6FE4}"/>
              </a:ext>
            </a:extLst>
          </p:cNvPr>
          <p:cNvSpPr>
            <a:spLocks noGrp="1"/>
          </p:cNvSpPr>
          <p:nvPr/>
        </p:nvSpPr>
        <p:spPr>
          <a:xfrm>
            <a:off x="5067300" y="1733550"/>
            <a:ext cx="285750" cy="285750"/>
          </a:xfrm>
          <a:prstGeom prst="ellipse">
            <a:avLst/>
          </a:prstGeom>
          <a:solidFill>
            <a:srgbClr val="2E5F8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F8D9A49F-E782-4ADF-B66F-6932CE714215}"/>
              </a:ext>
            </a:extLst>
          </p:cNvPr>
          <p:cNvSpPr>
            <a:spLocks noGrp="1"/>
          </p:cNvSpPr>
          <p:nvPr/>
        </p:nvSpPr>
        <p:spPr>
          <a:xfrm>
            <a:off x="5067300" y="1790700"/>
            <a:ext cx="2857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589C31DE-ED84-47F9-A233-9F693DE4F9D5}"/>
              </a:ext>
            </a:extLst>
          </p:cNvPr>
          <p:cNvSpPr>
            <a:spLocks noGrp="1"/>
          </p:cNvSpPr>
          <p:nvPr/>
        </p:nvSpPr>
        <p:spPr>
          <a:xfrm>
            <a:off x="5448300" y="1733550"/>
            <a:ext cx="11049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 i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2B2B2B"/>
                </a:solidFill>
                <a:latin typeface="Aptos"/>
                <a:ea typeface="Aptos"/>
                <a:cs typeface="Aptos"/>
              </a:rPr>
              <a:t>Plan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4CEA7E68-8583-4294-B5CC-15D9835E7018}"/>
              </a:ext>
            </a:extLst>
          </p:cNvPr>
          <p:cNvSpPr>
            <a:spLocks noGrp="1"/>
          </p:cNvSpPr>
          <p:nvPr/>
        </p:nvSpPr>
        <p:spPr>
          <a:xfrm>
            <a:off x="5448300" y="2000250"/>
            <a:ext cx="11049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 i="0">
                <a:solidFill>
                  <a:srgbClr val="333333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333333"/>
                </a:solidFill>
                <a:latin typeface="Aptos"/>
                <a:ea typeface="Aptos"/>
                <a:cs typeface="Aptos"/>
              </a:rPr>
              <a:t>Design and</a:t>
            </a:r>
          </a:p>
          <a:p>
            <a:pPr algn="l">
              <a:defRPr sz="900" b="0" i="0">
                <a:solidFill>
                  <a:srgbClr val="333333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333333"/>
                </a:solidFill>
                <a:latin typeface="Aptos"/>
                <a:ea typeface="Aptos"/>
                <a:cs typeface="Aptos"/>
              </a:rPr>
              <a:t>implementation plan</a:t>
            </a:r>
          </a:p>
        </p:txBody>
      </p:sp>
      <p:sp>
        <p:nvSpPr>
          <p:cNvPr id="84" name="Right Arrow 83">
            <a:extLst>
              <a:ext uri="{FF2B5EF4-FFF2-40B4-BE49-F238E27FC236}">
                <a16:creationId xmlns:a16="http://schemas.microsoft.com/office/drawing/2014/main" id="{6AC87E59-6F70-4A64-87AF-083B9FB0FCC4}"/>
              </a:ext>
            </a:extLst>
          </p:cNvPr>
          <p:cNvSpPr>
            <a:spLocks noGrp="1"/>
          </p:cNvSpPr>
          <p:nvPr/>
        </p:nvSpPr>
        <p:spPr>
          <a:xfrm>
            <a:off x="6686550" y="1943100"/>
            <a:ext cx="323850" cy="152400"/>
          </a:xfrm>
          <a:prstGeom prst="rightArrow">
            <a:avLst/>
          </a:prstGeom>
          <a:solidFill>
            <a:srgbClr val="2E5F8A"/>
          </a:solidFill>
          <a:ln w="9525">
            <a:solidFill>
              <a:srgbClr val="2E5F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5" name="Rounded Rectangle 84">
            <a:extLst>
              <a:ext uri="{FF2B5EF4-FFF2-40B4-BE49-F238E27FC236}">
                <a16:creationId xmlns:a16="http://schemas.microsoft.com/office/drawing/2014/main" id="{593E33A2-E687-4458-A8FA-7DC1C6719E43}"/>
              </a:ext>
            </a:extLst>
          </p:cNvPr>
          <p:cNvSpPr>
            <a:spLocks noGrp="1"/>
          </p:cNvSpPr>
          <p:nvPr/>
        </p:nvSpPr>
        <p:spPr>
          <a:xfrm>
            <a:off x="7086600" y="1600200"/>
            <a:ext cx="1695450" cy="876300"/>
          </a:xfrm>
          <a:prstGeom prst="roundRect">
            <a:avLst>
              <a:gd name="adj" fmla="val 8696"/>
            </a:avLst>
          </a:prstGeom>
          <a:solidFill>
            <a:srgbClr val="FFF7F2"/>
          </a:solidFill>
          <a:ln w="13335">
            <a:solidFill>
              <a:srgbClr val="DED8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5D70831F-7611-4351-985A-8170BA9D18A2}"/>
              </a:ext>
            </a:extLst>
          </p:cNvPr>
          <p:cNvSpPr>
            <a:spLocks noGrp="1"/>
          </p:cNvSpPr>
          <p:nvPr/>
        </p:nvSpPr>
        <p:spPr>
          <a:xfrm>
            <a:off x="7200900" y="1733550"/>
            <a:ext cx="285750" cy="285750"/>
          </a:xfrm>
          <a:prstGeom prst="ellipse">
            <a:avLst/>
          </a:prstGeom>
          <a:solidFill>
            <a:srgbClr val="C7463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7AFF4CF5-6473-461C-866C-54139F9C0605}"/>
              </a:ext>
            </a:extLst>
          </p:cNvPr>
          <p:cNvSpPr>
            <a:spLocks noGrp="1"/>
          </p:cNvSpPr>
          <p:nvPr/>
        </p:nvSpPr>
        <p:spPr>
          <a:xfrm>
            <a:off x="7200900" y="1790700"/>
            <a:ext cx="2857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0B9544F6-77D0-49AE-A004-DDE7D6B3253F}"/>
              </a:ext>
            </a:extLst>
          </p:cNvPr>
          <p:cNvSpPr>
            <a:spLocks noGrp="1"/>
          </p:cNvSpPr>
          <p:nvPr/>
        </p:nvSpPr>
        <p:spPr>
          <a:xfrm>
            <a:off x="7581900" y="1733550"/>
            <a:ext cx="11049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 i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2B2B2B"/>
                </a:solidFill>
                <a:latin typeface="Aptos"/>
                <a:ea typeface="Aptos"/>
                <a:cs typeface="Aptos"/>
              </a:rPr>
              <a:t>Standards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71F71EC2-5F17-4C87-9C63-82ACA7486A78}"/>
              </a:ext>
            </a:extLst>
          </p:cNvPr>
          <p:cNvSpPr>
            <a:spLocks noGrp="1"/>
          </p:cNvSpPr>
          <p:nvPr/>
        </p:nvSpPr>
        <p:spPr>
          <a:xfrm>
            <a:off x="7581900" y="2000250"/>
            <a:ext cx="11049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 i="0">
                <a:solidFill>
                  <a:srgbClr val="333333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333333"/>
                </a:solidFill>
                <a:latin typeface="Aptos"/>
                <a:ea typeface="Aptos"/>
                <a:cs typeface="Aptos"/>
              </a:rPr>
              <a:t>Security, testing,</a:t>
            </a:r>
          </a:p>
          <a:p>
            <a:pPr algn="l">
              <a:defRPr sz="900" b="0" i="0">
                <a:solidFill>
                  <a:srgbClr val="333333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333333"/>
                </a:solidFill>
                <a:latin typeface="Aptos"/>
                <a:ea typeface="Aptos"/>
                <a:cs typeface="Aptos"/>
              </a:rPr>
              <a:t>accessibility, policy</a:t>
            </a:r>
          </a:p>
        </p:txBody>
      </p:sp>
      <p:sp>
        <p:nvSpPr>
          <p:cNvPr id="90" name="Right Arrow 89">
            <a:extLst>
              <a:ext uri="{FF2B5EF4-FFF2-40B4-BE49-F238E27FC236}">
                <a16:creationId xmlns:a16="http://schemas.microsoft.com/office/drawing/2014/main" id="{4FF9BD0A-D210-48CF-BE47-DDDDBAF086C4}"/>
              </a:ext>
            </a:extLst>
          </p:cNvPr>
          <p:cNvSpPr>
            <a:spLocks noGrp="1"/>
          </p:cNvSpPr>
          <p:nvPr/>
        </p:nvSpPr>
        <p:spPr>
          <a:xfrm>
            <a:off x="8820150" y="1943100"/>
            <a:ext cx="323850" cy="152400"/>
          </a:xfrm>
          <a:prstGeom prst="rightArrow">
            <a:avLst/>
          </a:prstGeom>
          <a:solidFill>
            <a:srgbClr val="2E5F8A"/>
          </a:solidFill>
          <a:ln w="9525">
            <a:solidFill>
              <a:srgbClr val="2E5F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1" name="Rounded Rectangle 90">
            <a:extLst>
              <a:ext uri="{FF2B5EF4-FFF2-40B4-BE49-F238E27FC236}">
                <a16:creationId xmlns:a16="http://schemas.microsoft.com/office/drawing/2014/main" id="{32FEAB02-FD55-4080-A713-A0AAF20F57A7}"/>
              </a:ext>
            </a:extLst>
          </p:cNvPr>
          <p:cNvSpPr>
            <a:spLocks noGrp="1"/>
          </p:cNvSpPr>
          <p:nvPr/>
        </p:nvSpPr>
        <p:spPr>
          <a:xfrm>
            <a:off x="9220200" y="1600200"/>
            <a:ext cx="1695450" cy="876300"/>
          </a:xfrm>
          <a:prstGeom prst="roundRect">
            <a:avLst>
              <a:gd name="adj" fmla="val 8696"/>
            </a:avLst>
          </a:prstGeom>
          <a:solidFill>
            <a:srgbClr val="FFF7F2"/>
          </a:solidFill>
          <a:ln w="13335">
            <a:solidFill>
              <a:srgbClr val="DED8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2" name="Oval 91">
            <a:extLst>
              <a:ext uri="{FF2B5EF4-FFF2-40B4-BE49-F238E27FC236}">
                <a16:creationId xmlns:a16="http://schemas.microsoft.com/office/drawing/2014/main" id="{4C0A0E80-17CE-4285-8E21-E04907418227}"/>
              </a:ext>
            </a:extLst>
          </p:cNvPr>
          <p:cNvSpPr>
            <a:spLocks noGrp="1"/>
          </p:cNvSpPr>
          <p:nvPr/>
        </p:nvSpPr>
        <p:spPr>
          <a:xfrm>
            <a:off x="9334500" y="1733550"/>
            <a:ext cx="285750" cy="285750"/>
          </a:xfrm>
          <a:prstGeom prst="ellipse">
            <a:avLst/>
          </a:prstGeom>
          <a:solidFill>
            <a:srgbClr val="C7463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1FA19D5E-EE63-4833-936F-01D6C1A35CD5}"/>
              </a:ext>
            </a:extLst>
          </p:cNvPr>
          <p:cNvSpPr>
            <a:spLocks noGrp="1"/>
          </p:cNvSpPr>
          <p:nvPr/>
        </p:nvSpPr>
        <p:spPr>
          <a:xfrm>
            <a:off x="9334500" y="1790700"/>
            <a:ext cx="2857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3FF9889C-464F-4174-BB7B-0DA9DAEDD98F}"/>
              </a:ext>
            </a:extLst>
          </p:cNvPr>
          <p:cNvSpPr>
            <a:spLocks noGrp="1"/>
          </p:cNvSpPr>
          <p:nvPr/>
        </p:nvSpPr>
        <p:spPr>
          <a:xfrm>
            <a:off x="9715500" y="1733550"/>
            <a:ext cx="11049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 i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2B2B2B"/>
                </a:solidFill>
                <a:latin typeface="Aptos"/>
                <a:ea typeface="Aptos"/>
                <a:cs typeface="Aptos"/>
              </a:rPr>
              <a:t>Approval</a:t>
            </a: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6170B468-D4C8-472F-8D9B-8E382A8D6520}"/>
              </a:ext>
            </a:extLst>
          </p:cNvPr>
          <p:cNvSpPr>
            <a:spLocks noGrp="1"/>
          </p:cNvSpPr>
          <p:nvPr/>
        </p:nvSpPr>
        <p:spPr>
          <a:xfrm>
            <a:off x="9715500" y="2000250"/>
            <a:ext cx="11049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 i="0">
                <a:solidFill>
                  <a:srgbClr val="333333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333333"/>
                </a:solidFill>
                <a:latin typeface="Aptos"/>
                <a:ea typeface="Aptos"/>
                <a:cs typeface="Aptos"/>
              </a:rPr>
              <a:t>Write scope and</a:t>
            </a:r>
          </a:p>
          <a:p>
            <a:pPr algn="l">
              <a:defRPr sz="900" b="0" i="0">
                <a:solidFill>
                  <a:srgbClr val="333333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333333"/>
                </a:solidFill>
                <a:latin typeface="Aptos"/>
                <a:ea typeface="Aptos"/>
                <a:cs typeface="Aptos"/>
              </a:rPr>
              <a:t>risk decision</a:t>
            </a:r>
          </a:p>
        </p:txBody>
      </p:sp>
      <p:sp>
        <p:nvSpPr>
          <p:cNvPr id="96" name="Down Arrow 95">
            <a:extLst>
              <a:ext uri="{FF2B5EF4-FFF2-40B4-BE49-F238E27FC236}">
                <a16:creationId xmlns:a16="http://schemas.microsoft.com/office/drawing/2014/main" id="{ED8D599B-C9B3-4275-9171-8769A8D7B269}"/>
              </a:ext>
            </a:extLst>
          </p:cNvPr>
          <p:cNvSpPr>
            <a:spLocks noGrp="1"/>
          </p:cNvSpPr>
          <p:nvPr/>
        </p:nvSpPr>
        <p:spPr>
          <a:xfrm>
            <a:off x="10210800" y="2552700"/>
            <a:ext cx="228600" cy="400050"/>
          </a:xfrm>
          <a:prstGeom prst="downArrow">
            <a:avLst/>
          </a:prstGeom>
          <a:solidFill>
            <a:srgbClr val="C74634"/>
          </a:solidFill>
          <a:ln w="9525">
            <a:solidFill>
              <a:srgbClr val="C746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7" name="Rounded Rectangle 96">
            <a:extLst>
              <a:ext uri="{FF2B5EF4-FFF2-40B4-BE49-F238E27FC236}">
                <a16:creationId xmlns:a16="http://schemas.microsoft.com/office/drawing/2014/main" id="{9E4326EE-AB51-49F5-9B91-8600ECA75C87}"/>
              </a:ext>
            </a:extLst>
          </p:cNvPr>
          <p:cNvSpPr>
            <a:spLocks noGrp="1"/>
          </p:cNvSpPr>
          <p:nvPr/>
        </p:nvSpPr>
        <p:spPr>
          <a:xfrm>
            <a:off x="685800" y="3314700"/>
            <a:ext cx="1695450" cy="87630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3335">
            <a:solidFill>
              <a:srgbClr val="DED8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8" name="Oval 97">
            <a:extLst>
              <a:ext uri="{FF2B5EF4-FFF2-40B4-BE49-F238E27FC236}">
                <a16:creationId xmlns:a16="http://schemas.microsoft.com/office/drawing/2014/main" id="{A92EF1E5-06FB-4F16-85CC-EBCD61790F88}"/>
              </a:ext>
            </a:extLst>
          </p:cNvPr>
          <p:cNvSpPr>
            <a:spLocks noGrp="1"/>
          </p:cNvSpPr>
          <p:nvPr/>
        </p:nvSpPr>
        <p:spPr>
          <a:xfrm>
            <a:off x="800100" y="3448050"/>
            <a:ext cx="285750" cy="285750"/>
          </a:xfrm>
          <a:prstGeom prst="ellipse">
            <a:avLst/>
          </a:prstGeom>
          <a:solidFill>
            <a:srgbClr val="2F7D4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437C8A0B-9D30-4255-AF7D-B43B1CE5F600}"/>
              </a:ext>
            </a:extLst>
          </p:cNvPr>
          <p:cNvSpPr>
            <a:spLocks noGrp="1"/>
          </p:cNvSpPr>
          <p:nvPr/>
        </p:nvSpPr>
        <p:spPr>
          <a:xfrm>
            <a:off x="800100" y="3505200"/>
            <a:ext cx="2857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0B01B918-D79C-47B0-A318-F13C478F30A3}"/>
              </a:ext>
            </a:extLst>
          </p:cNvPr>
          <p:cNvSpPr>
            <a:spLocks noGrp="1"/>
          </p:cNvSpPr>
          <p:nvPr/>
        </p:nvSpPr>
        <p:spPr>
          <a:xfrm>
            <a:off x="1181100" y="3448050"/>
            <a:ext cx="11049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 i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2B2B2B"/>
                </a:solidFill>
                <a:latin typeface="Aptos"/>
                <a:ea typeface="Aptos"/>
                <a:cs typeface="Aptos"/>
              </a:rPr>
              <a:t>PR Ready</a:t>
            </a: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A81B3AAE-D851-4DB1-93C6-8A9839871979}"/>
              </a:ext>
            </a:extLst>
          </p:cNvPr>
          <p:cNvSpPr>
            <a:spLocks noGrp="1"/>
          </p:cNvSpPr>
          <p:nvPr/>
        </p:nvSpPr>
        <p:spPr>
          <a:xfrm>
            <a:off x="1181100" y="3714750"/>
            <a:ext cx="11049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 i="0">
                <a:solidFill>
                  <a:srgbClr val="333333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333333"/>
                </a:solidFill>
                <a:latin typeface="Aptos"/>
                <a:ea typeface="Aptos"/>
                <a:cs typeface="Aptos"/>
              </a:rPr>
              <a:t>Evidence-backed</a:t>
            </a:r>
          </a:p>
          <a:p>
            <a:pPr algn="l">
              <a:defRPr sz="900" b="0" i="0">
                <a:solidFill>
                  <a:srgbClr val="333333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333333"/>
                </a:solidFill>
                <a:latin typeface="Aptos"/>
                <a:ea typeface="Aptos"/>
                <a:cs typeface="Aptos"/>
              </a:rPr>
              <a:t>PR package</a:t>
            </a:r>
          </a:p>
        </p:txBody>
      </p:sp>
      <p:sp>
        <p:nvSpPr>
          <p:cNvPr id="102" name="Right Arrow 101">
            <a:extLst>
              <a:ext uri="{FF2B5EF4-FFF2-40B4-BE49-F238E27FC236}">
                <a16:creationId xmlns:a16="http://schemas.microsoft.com/office/drawing/2014/main" id="{3E19772B-20D2-403D-ADAD-23DE33831450}"/>
              </a:ext>
            </a:extLst>
          </p:cNvPr>
          <p:cNvSpPr>
            <a:spLocks noGrp="1"/>
          </p:cNvSpPr>
          <p:nvPr/>
        </p:nvSpPr>
        <p:spPr>
          <a:xfrm>
            <a:off x="2419350" y="3657600"/>
            <a:ext cx="323850" cy="152400"/>
          </a:xfrm>
          <a:prstGeom prst="rightArrow">
            <a:avLst/>
          </a:prstGeom>
          <a:solidFill>
            <a:srgbClr val="2F7D4B"/>
          </a:solidFill>
          <a:ln w="9525">
            <a:solidFill>
              <a:srgbClr val="2F7D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3" name="Rounded Rectangle 102">
            <a:extLst>
              <a:ext uri="{FF2B5EF4-FFF2-40B4-BE49-F238E27FC236}">
                <a16:creationId xmlns:a16="http://schemas.microsoft.com/office/drawing/2014/main" id="{C4D6EDE6-8A4D-4D7B-AB72-34975AD105CA}"/>
              </a:ext>
            </a:extLst>
          </p:cNvPr>
          <p:cNvSpPr>
            <a:spLocks noGrp="1"/>
          </p:cNvSpPr>
          <p:nvPr/>
        </p:nvSpPr>
        <p:spPr>
          <a:xfrm>
            <a:off x="2819400" y="3314700"/>
            <a:ext cx="1695450" cy="87630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3335">
            <a:solidFill>
              <a:srgbClr val="DED8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4" name="Oval 103">
            <a:extLst>
              <a:ext uri="{FF2B5EF4-FFF2-40B4-BE49-F238E27FC236}">
                <a16:creationId xmlns:a16="http://schemas.microsoft.com/office/drawing/2014/main" id="{17CA42E3-32A9-4C7E-B33D-09965CC7785A}"/>
              </a:ext>
            </a:extLst>
          </p:cNvPr>
          <p:cNvSpPr>
            <a:spLocks noGrp="1"/>
          </p:cNvSpPr>
          <p:nvPr/>
        </p:nvSpPr>
        <p:spPr>
          <a:xfrm>
            <a:off x="2933700" y="3448050"/>
            <a:ext cx="285750" cy="285750"/>
          </a:xfrm>
          <a:prstGeom prst="ellipse">
            <a:avLst/>
          </a:prstGeom>
          <a:solidFill>
            <a:srgbClr val="2F7D4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787EB24A-6431-495E-B196-73C4F41F428A}"/>
              </a:ext>
            </a:extLst>
          </p:cNvPr>
          <p:cNvSpPr>
            <a:spLocks noGrp="1"/>
          </p:cNvSpPr>
          <p:nvPr/>
        </p:nvSpPr>
        <p:spPr>
          <a:xfrm>
            <a:off x="2933700" y="3505200"/>
            <a:ext cx="2857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9</a:t>
            </a: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EA1EDBA2-792B-4D5D-93A5-682318D6C885}"/>
              </a:ext>
            </a:extLst>
          </p:cNvPr>
          <p:cNvSpPr>
            <a:spLocks noGrp="1"/>
          </p:cNvSpPr>
          <p:nvPr/>
        </p:nvSpPr>
        <p:spPr>
          <a:xfrm>
            <a:off x="3314700" y="3448050"/>
            <a:ext cx="11049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 i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2B2B2B"/>
                </a:solidFill>
                <a:latin typeface="Aptos"/>
                <a:ea typeface="Aptos"/>
                <a:cs typeface="Aptos"/>
              </a:rPr>
              <a:t>Build Verify</a:t>
            </a:r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2CFBDB9A-D20E-44C7-BE48-55344D13F4E0}"/>
              </a:ext>
            </a:extLst>
          </p:cNvPr>
          <p:cNvSpPr>
            <a:spLocks noGrp="1"/>
          </p:cNvSpPr>
          <p:nvPr/>
        </p:nvSpPr>
        <p:spPr>
          <a:xfrm>
            <a:off x="3314700" y="3714750"/>
            <a:ext cx="11049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 i="0">
                <a:solidFill>
                  <a:srgbClr val="333333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333333"/>
                </a:solidFill>
                <a:latin typeface="Aptos"/>
                <a:ea typeface="Aptos"/>
                <a:cs typeface="Aptos"/>
              </a:rPr>
              <a:t>Approved test and</a:t>
            </a:r>
          </a:p>
          <a:p>
            <a:pPr algn="l">
              <a:defRPr sz="900" b="0" i="0">
                <a:solidFill>
                  <a:srgbClr val="333333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333333"/>
                </a:solidFill>
                <a:latin typeface="Aptos"/>
                <a:ea typeface="Aptos"/>
                <a:cs typeface="Aptos"/>
              </a:rPr>
              <a:t>build proof</a:t>
            </a:r>
          </a:p>
        </p:txBody>
      </p:sp>
      <p:sp>
        <p:nvSpPr>
          <p:cNvPr id="108" name="Right Arrow 107">
            <a:extLst>
              <a:ext uri="{FF2B5EF4-FFF2-40B4-BE49-F238E27FC236}">
                <a16:creationId xmlns:a16="http://schemas.microsoft.com/office/drawing/2014/main" id="{17F1EA46-AB43-4279-ABA9-42AF65EAA59A}"/>
              </a:ext>
            </a:extLst>
          </p:cNvPr>
          <p:cNvSpPr>
            <a:spLocks noGrp="1"/>
          </p:cNvSpPr>
          <p:nvPr/>
        </p:nvSpPr>
        <p:spPr>
          <a:xfrm>
            <a:off x="4552950" y="3657600"/>
            <a:ext cx="323850" cy="152400"/>
          </a:xfrm>
          <a:prstGeom prst="rightArrow">
            <a:avLst/>
          </a:prstGeom>
          <a:solidFill>
            <a:srgbClr val="2F7D4B"/>
          </a:solidFill>
          <a:ln w="9525">
            <a:solidFill>
              <a:srgbClr val="2F7D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9" name="Rounded Rectangle 108">
            <a:extLst>
              <a:ext uri="{FF2B5EF4-FFF2-40B4-BE49-F238E27FC236}">
                <a16:creationId xmlns:a16="http://schemas.microsoft.com/office/drawing/2014/main" id="{540405E5-EF86-4F08-894E-A8D62B0C54FE}"/>
              </a:ext>
            </a:extLst>
          </p:cNvPr>
          <p:cNvSpPr>
            <a:spLocks noGrp="1"/>
          </p:cNvSpPr>
          <p:nvPr/>
        </p:nvSpPr>
        <p:spPr>
          <a:xfrm>
            <a:off x="4953000" y="3314700"/>
            <a:ext cx="1695450" cy="876300"/>
          </a:xfrm>
          <a:prstGeom prst="roundRect">
            <a:avLst>
              <a:gd name="adj" fmla="val 8696"/>
            </a:avLst>
          </a:prstGeom>
          <a:solidFill>
            <a:srgbClr val="FFF9E8"/>
          </a:solidFill>
          <a:ln w="13335">
            <a:solidFill>
              <a:srgbClr val="DED8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0" name="Oval 109">
            <a:extLst>
              <a:ext uri="{FF2B5EF4-FFF2-40B4-BE49-F238E27FC236}">
                <a16:creationId xmlns:a16="http://schemas.microsoft.com/office/drawing/2014/main" id="{61D17260-2668-468D-85F2-C01F8BF22211}"/>
              </a:ext>
            </a:extLst>
          </p:cNvPr>
          <p:cNvSpPr>
            <a:spLocks noGrp="1"/>
          </p:cNvSpPr>
          <p:nvPr/>
        </p:nvSpPr>
        <p:spPr>
          <a:xfrm>
            <a:off x="5067300" y="3448050"/>
            <a:ext cx="285750" cy="285750"/>
          </a:xfrm>
          <a:prstGeom prst="ellipse">
            <a:avLst/>
          </a:prstGeom>
          <a:solidFill>
            <a:srgbClr val="D99B2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FAC8EB0A-04E8-4777-AD45-27C0F2E15B0C}"/>
              </a:ext>
            </a:extLst>
          </p:cNvPr>
          <p:cNvSpPr>
            <a:spLocks noGrp="1"/>
          </p:cNvSpPr>
          <p:nvPr/>
        </p:nvSpPr>
        <p:spPr>
          <a:xfrm>
            <a:off x="5067300" y="3505200"/>
            <a:ext cx="2857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72E612B4-DB19-45C7-A32A-A74A31B9BD96}"/>
              </a:ext>
            </a:extLst>
          </p:cNvPr>
          <p:cNvSpPr>
            <a:spLocks noGrp="1"/>
          </p:cNvSpPr>
          <p:nvPr/>
        </p:nvSpPr>
        <p:spPr>
          <a:xfrm>
            <a:off x="5448300" y="3448050"/>
            <a:ext cx="11049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 i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2B2B2B"/>
                </a:solidFill>
                <a:latin typeface="Aptos"/>
                <a:ea typeface="Aptos"/>
                <a:cs typeface="Aptos"/>
              </a:rPr>
              <a:t>Review</a:t>
            </a:r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3118FC8D-69FD-4F91-99A4-1CD58CC45B5D}"/>
              </a:ext>
            </a:extLst>
          </p:cNvPr>
          <p:cNvSpPr>
            <a:spLocks noGrp="1"/>
          </p:cNvSpPr>
          <p:nvPr/>
        </p:nvSpPr>
        <p:spPr>
          <a:xfrm>
            <a:off x="5448300" y="3714750"/>
            <a:ext cx="11049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 i="0">
                <a:solidFill>
                  <a:srgbClr val="333333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333333"/>
                </a:solidFill>
                <a:latin typeface="Aptos"/>
                <a:ea typeface="Aptos"/>
                <a:cs typeface="Aptos"/>
              </a:rPr>
              <a:t>Findings and</a:t>
            </a:r>
          </a:p>
          <a:p>
            <a:pPr algn="l">
              <a:defRPr sz="900" b="0" i="0">
                <a:solidFill>
                  <a:srgbClr val="333333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333333"/>
                </a:solidFill>
                <a:latin typeface="Aptos"/>
                <a:ea typeface="Aptos"/>
                <a:cs typeface="Aptos"/>
              </a:rPr>
              <a:t>rework relay</a:t>
            </a:r>
          </a:p>
          <a:p>
            <a:pPr algn="l">
              <a:defRPr sz="900" b="0" i="0">
                <a:solidFill>
                  <a:srgbClr val="333333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333333"/>
                </a:solidFill>
                <a:latin typeface="Aptos"/>
                <a:ea typeface="Aptos"/>
                <a:cs typeface="Aptos"/>
              </a:rPr>
              <a:t>context</a:t>
            </a:r>
          </a:p>
        </p:txBody>
      </p:sp>
      <p:sp>
        <p:nvSpPr>
          <p:cNvPr id="114" name="Right Arrow 113">
            <a:extLst>
              <a:ext uri="{FF2B5EF4-FFF2-40B4-BE49-F238E27FC236}">
                <a16:creationId xmlns:a16="http://schemas.microsoft.com/office/drawing/2014/main" id="{4A062537-B9C2-4E40-9E1F-1AD7C2A98098}"/>
              </a:ext>
            </a:extLst>
          </p:cNvPr>
          <p:cNvSpPr>
            <a:spLocks noGrp="1"/>
          </p:cNvSpPr>
          <p:nvPr/>
        </p:nvSpPr>
        <p:spPr>
          <a:xfrm>
            <a:off x="6686550" y="3657600"/>
            <a:ext cx="323850" cy="152400"/>
          </a:xfrm>
          <a:prstGeom prst="rightArrow">
            <a:avLst/>
          </a:prstGeom>
          <a:solidFill>
            <a:srgbClr val="2E5F8A"/>
          </a:solidFill>
          <a:ln w="9525">
            <a:solidFill>
              <a:srgbClr val="2E5F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5" name="Rounded Rectangle 114">
            <a:extLst>
              <a:ext uri="{FF2B5EF4-FFF2-40B4-BE49-F238E27FC236}">
                <a16:creationId xmlns:a16="http://schemas.microsoft.com/office/drawing/2014/main" id="{56186F25-F15B-4EF2-9152-E85649A112ED}"/>
              </a:ext>
            </a:extLst>
          </p:cNvPr>
          <p:cNvSpPr>
            <a:spLocks noGrp="1"/>
          </p:cNvSpPr>
          <p:nvPr/>
        </p:nvSpPr>
        <p:spPr>
          <a:xfrm>
            <a:off x="7086600" y="3314700"/>
            <a:ext cx="1695450" cy="87630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3335">
            <a:solidFill>
              <a:srgbClr val="DED8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6" name="Oval 115">
            <a:extLst>
              <a:ext uri="{FF2B5EF4-FFF2-40B4-BE49-F238E27FC236}">
                <a16:creationId xmlns:a16="http://schemas.microsoft.com/office/drawing/2014/main" id="{675D5AE2-3A55-4DB9-9A32-5F1015DD3E31}"/>
              </a:ext>
            </a:extLst>
          </p:cNvPr>
          <p:cNvSpPr>
            <a:spLocks noGrp="1"/>
          </p:cNvSpPr>
          <p:nvPr/>
        </p:nvSpPr>
        <p:spPr>
          <a:xfrm>
            <a:off x="7200900" y="3448050"/>
            <a:ext cx="285750" cy="285750"/>
          </a:xfrm>
          <a:prstGeom prst="ellipse">
            <a:avLst/>
          </a:prstGeom>
          <a:solidFill>
            <a:srgbClr val="2E5F8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64C1F584-0DD9-4062-A0CE-565D2C583C52}"/>
              </a:ext>
            </a:extLst>
          </p:cNvPr>
          <p:cNvSpPr>
            <a:spLocks noGrp="1"/>
          </p:cNvSpPr>
          <p:nvPr/>
        </p:nvSpPr>
        <p:spPr>
          <a:xfrm>
            <a:off x="7200900" y="3505200"/>
            <a:ext cx="2857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9F8F2804-144A-4E0A-83D5-6E04D7EBDEF0}"/>
              </a:ext>
            </a:extLst>
          </p:cNvPr>
          <p:cNvSpPr>
            <a:spLocks noGrp="1"/>
          </p:cNvSpPr>
          <p:nvPr/>
        </p:nvSpPr>
        <p:spPr>
          <a:xfrm>
            <a:off x="7581900" y="3448050"/>
            <a:ext cx="11049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 i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2B2B2B"/>
                </a:solidFill>
                <a:latin typeface="Aptos"/>
                <a:ea typeface="Aptos"/>
                <a:cs typeface="Aptos"/>
              </a:rPr>
              <a:t>Ingest</a:t>
            </a:r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E7BBC2BA-8B32-4C8B-8ABB-EB15CD4213ED}"/>
              </a:ext>
            </a:extLst>
          </p:cNvPr>
          <p:cNvSpPr>
            <a:spLocks noGrp="1"/>
          </p:cNvSpPr>
          <p:nvPr/>
        </p:nvSpPr>
        <p:spPr>
          <a:xfrm>
            <a:off x="7581900" y="3714750"/>
            <a:ext cx="11049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 i="0">
                <a:solidFill>
                  <a:srgbClr val="333333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333333"/>
                </a:solidFill>
                <a:latin typeface="Aptos"/>
                <a:ea typeface="Aptos"/>
                <a:cs typeface="Aptos"/>
              </a:rPr>
              <a:t>Worker output,</a:t>
            </a:r>
          </a:p>
          <a:p>
            <a:pPr algn="l">
              <a:defRPr sz="900" b="0" i="0">
                <a:solidFill>
                  <a:srgbClr val="333333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333333"/>
                </a:solidFill>
                <a:latin typeface="Aptos"/>
                <a:ea typeface="Aptos"/>
                <a:cs typeface="Aptos"/>
              </a:rPr>
              <a:t>logs, evidence</a:t>
            </a:r>
          </a:p>
        </p:txBody>
      </p:sp>
      <p:sp>
        <p:nvSpPr>
          <p:cNvPr id="120" name="Right Arrow 119">
            <a:extLst>
              <a:ext uri="{FF2B5EF4-FFF2-40B4-BE49-F238E27FC236}">
                <a16:creationId xmlns:a16="http://schemas.microsoft.com/office/drawing/2014/main" id="{D7CBE043-83D0-4B8A-A4AB-3FEA179BDA24}"/>
              </a:ext>
            </a:extLst>
          </p:cNvPr>
          <p:cNvSpPr>
            <a:spLocks noGrp="1"/>
          </p:cNvSpPr>
          <p:nvPr/>
        </p:nvSpPr>
        <p:spPr>
          <a:xfrm>
            <a:off x="8820150" y="3657600"/>
            <a:ext cx="323850" cy="152400"/>
          </a:xfrm>
          <a:prstGeom prst="rightArrow">
            <a:avLst/>
          </a:prstGeom>
          <a:solidFill>
            <a:srgbClr val="2E5F8A"/>
          </a:solidFill>
          <a:ln w="9525">
            <a:solidFill>
              <a:srgbClr val="2E5F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1" name="Rounded Rectangle 120">
            <a:extLst>
              <a:ext uri="{FF2B5EF4-FFF2-40B4-BE49-F238E27FC236}">
                <a16:creationId xmlns:a16="http://schemas.microsoft.com/office/drawing/2014/main" id="{12CCA969-DFF6-4045-BA08-E6499D6B8E8C}"/>
              </a:ext>
            </a:extLst>
          </p:cNvPr>
          <p:cNvSpPr>
            <a:spLocks noGrp="1"/>
          </p:cNvSpPr>
          <p:nvPr/>
        </p:nvSpPr>
        <p:spPr>
          <a:xfrm>
            <a:off x="9220200" y="3314700"/>
            <a:ext cx="1695450" cy="87630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3335">
            <a:solidFill>
              <a:srgbClr val="DED8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2" name="Oval 121">
            <a:extLst>
              <a:ext uri="{FF2B5EF4-FFF2-40B4-BE49-F238E27FC236}">
                <a16:creationId xmlns:a16="http://schemas.microsoft.com/office/drawing/2014/main" id="{FC588FDF-AAA0-4131-A5B8-6E7A24D87172}"/>
              </a:ext>
            </a:extLst>
          </p:cNvPr>
          <p:cNvSpPr>
            <a:spLocks noGrp="1"/>
          </p:cNvSpPr>
          <p:nvPr/>
        </p:nvSpPr>
        <p:spPr>
          <a:xfrm>
            <a:off x="9334500" y="3448050"/>
            <a:ext cx="285750" cy="285750"/>
          </a:xfrm>
          <a:prstGeom prst="ellipse">
            <a:avLst/>
          </a:prstGeom>
          <a:solidFill>
            <a:srgbClr val="7A5AC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9DB51A97-0E55-4B3B-93BA-37268D827DEB}"/>
              </a:ext>
            </a:extLst>
          </p:cNvPr>
          <p:cNvSpPr>
            <a:spLocks noGrp="1"/>
          </p:cNvSpPr>
          <p:nvPr/>
        </p:nvSpPr>
        <p:spPr>
          <a:xfrm>
            <a:off x="9334500" y="3505200"/>
            <a:ext cx="2857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E7CC9AA0-5AE4-4CC0-8302-1F938D5E903A}"/>
              </a:ext>
            </a:extLst>
          </p:cNvPr>
          <p:cNvSpPr>
            <a:spLocks noGrp="1"/>
          </p:cNvSpPr>
          <p:nvPr/>
        </p:nvSpPr>
        <p:spPr>
          <a:xfrm>
            <a:off x="9715500" y="3448050"/>
            <a:ext cx="11049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 i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2B2B2B"/>
                </a:solidFill>
                <a:latin typeface="Aptos"/>
                <a:ea typeface="Aptos"/>
                <a:cs typeface="Aptos"/>
              </a:rPr>
              <a:t>Delegate</a:t>
            </a:r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D5BD056E-20F0-45E2-9B80-47228E6BC50B}"/>
              </a:ext>
            </a:extLst>
          </p:cNvPr>
          <p:cNvSpPr>
            <a:spLocks noGrp="1"/>
          </p:cNvSpPr>
          <p:nvPr/>
        </p:nvSpPr>
        <p:spPr>
          <a:xfrm>
            <a:off x="9715500" y="3714750"/>
            <a:ext cx="11049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 i="0">
                <a:solidFill>
                  <a:srgbClr val="333333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333333"/>
                </a:solidFill>
                <a:latin typeface="Aptos"/>
                <a:ea typeface="Aptos"/>
                <a:cs typeface="Aptos"/>
              </a:rPr>
              <a:t>Codex/Cline/OCI</a:t>
            </a:r>
          </a:p>
          <a:p>
            <a:pPr algn="l">
              <a:defRPr sz="900" b="0" i="0">
                <a:solidFill>
                  <a:srgbClr val="333333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333333"/>
                </a:solidFill>
                <a:latin typeface="Aptos"/>
                <a:ea typeface="Aptos"/>
                <a:cs typeface="Aptos"/>
              </a:rPr>
              <a:t>worker handoff</a:t>
            </a:r>
          </a:p>
        </p:txBody>
      </p:sp>
      <p:sp>
        <p:nvSpPr>
          <p:cNvPr id="126" name="Rounded Rectangle 125">
            <a:extLst>
              <a:ext uri="{FF2B5EF4-FFF2-40B4-BE49-F238E27FC236}">
                <a16:creationId xmlns:a16="http://schemas.microsoft.com/office/drawing/2014/main" id="{BE53B0A4-2E77-45E7-AC7E-6C7C5FC706C3}"/>
              </a:ext>
            </a:extLst>
          </p:cNvPr>
          <p:cNvSpPr>
            <a:spLocks noGrp="1"/>
          </p:cNvSpPr>
          <p:nvPr/>
        </p:nvSpPr>
        <p:spPr>
          <a:xfrm>
            <a:off x="5219700" y="4429125"/>
            <a:ext cx="1562100" cy="457200"/>
          </a:xfrm>
          <a:prstGeom prst="roundRect">
            <a:avLst>
              <a:gd name="adj" fmla="val 16667"/>
            </a:avLst>
          </a:prstGeom>
          <a:solidFill>
            <a:srgbClr val="FFF9E8"/>
          </a:solidFill>
          <a:ln w="11430">
            <a:solidFill>
              <a:srgbClr val="E2A2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11F7CDC4-DC88-4A9B-998B-6C9440B862DF}"/>
              </a:ext>
            </a:extLst>
          </p:cNvPr>
          <p:cNvSpPr>
            <a:spLocks noGrp="1"/>
          </p:cNvSpPr>
          <p:nvPr/>
        </p:nvSpPr>
        <p:spPr>
          <a:xfrm>
            <a:off x="5467350" y="4543425"/>
            <a:ext cx="10668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 i="0">
                <a:solidFill>
                  <a:srgbClr val="8C1D18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8C1D18"/>
                </a:solidFill>
                <a:latin typeface="Aptos"/>
                <a:ea typeface="Aptos"/>
                <a:cs typeface="Aptos"/>
              </a:rPr>
              <a:t>Rework loop</a:t>
            </a:r>
          </a:p>
        </p:txBody>
      </p:sp>
      <p:sp>
        <p:nvSpPr>
          <p:cNvPr id="128" name="Down Arrow 127">
            <a:extLst>
              <a:ext uri="{FF2B5EF4-FFF2-40B4-BE49-F238E27FC236}">
                <a16:creationId xmlns:a16="http://schemas.microsoft.com/office/drawing/2014/main" id="{297ECC0B-F5A6-4646-9899-3009023ED766}"/>
              </a:ext>
            </a:extLst>
          </p:cNvPr>
          <p:cNvSpPr>
            <a:spLocks noGrp="1"/>
          </p:cNvSpPr>
          <p:nvPr/>
        </p:nvSpPr>
        <p:spPr>
          <a:xfrm>
            <a:off x="5905500" y="4953000"/>
            <a:ext cx="209550" cy="342900"/>
          </a:xfrm>
          <a:prstGeom prst="downArrow">
            <a:avLst/>
          </a:prstGeom>
          <a:solidFill>
            <a:srgbClr val="D99B2B"/>
          </a:solidFill>
          <a:ln w="9525">
            <a:solidFill>
              <a:srgbClr val="D99B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9" name="Left Arrow 128">
            <a:extLst>
              <a:ext uri="{FF2B5EF4-FFF2-40B4-BE49-F238E27FC236}">
                <a16:creationId xmlns:a16="http://schemas.microsoft.com/office/drawing/2014/main" id="{16B2ECFA-8BEB-40FC-9FBA-8D5AD82B14C4}"/>
              </a:ext>
            </a:extLst>
          </p:cNvPr>
          <p:cNvSpPr>
            <a:spLocks noGrp="1"/>
          </p:cNvSpPr>
          <p:nvPr/>
        </p:nvSpPr>
        <p:spPr>
          <a:xfrm>
            <a:off x="4591050" y="5314950"/>
            <a:ext cx="2952750" cy="209550"/>
          </a:xfrm>
          <a:prstGeom prst="leftArrow">
            <a:avLst/>
          </a:prstGeom>
          <a:solidFill>
            <a:srgbClr val="D99B2B"/>
          </a:solidFill>
          <a:ln w="9525">
            <a:solidFill>
              <a:srgbClr val="D99B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77D93FA6-D7C9-4C69-8C4E-A6187FC7393C}"/>
              </a:ext>
            </a:extLst>
          </p:cNvPr>
          <p:cNvSpPr>
            <a:spLocks noGrp="1"/>
          </p:cNvSpPr>
          <p:nvPr/>
        </p:nvSpPr>
        <p:spPr>
          <a:xfrm>
            <a:off x="3733800" y="5619750"/>
            <a:ext cx="4572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0" i="0">
                <a:solidFill>
                  <a:srgbClr val="8C1D18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8C1D18"/>
                </a:solidFill>
                <a:latin typeface="Aptos"/>
                <a:ea typeface="Aptos"/>
                <a:cs typeface="Aptos"/>
              </a:rPr>
              <a:t>Reviewer findings can route scoped relay context back to the right worker.</a:t>
            </a:r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2222BD8F-6BC3-45FF-8813-EBF9950F661B}"/>
              </a:ext>
            </a:extLst>
          </p:cNvPr>
          <p:cNvSpPr>
            <a:spLocks noGrp="1"/>
          </p:cNvSpPr>
          <p:nvPr/>
        </p:nvSpPr>
        <p:spPr>
          <a:xfrm>
            <a:off x="685800" y="5981700"/>
            <a:ext cx="10668000" cy="400050"/>
          </a:xfrm>
          <a:prstGeom prst="rect">
            <a:avLst/>
          </a:prstGeom>
          <a:solidFill>
            <a:srgbClr val="FFF4D6"/>
          </a:solidFill>
          <a:ln w="9525">
            <a:solidFill>
              <a:srgbClr val="E9C8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id="{0B3F6835-5E01-4303-BEC8-7BD2F403A804}"/>
              </a:ext>
            </a:extLst>
          </p:cNvPr>
          <p:cNvSpPr>
            <a:spLocks noGrp="1"/>
          </p:cNvSpPr>
          <p:nvPr/>
        </p:nvSpPr>
        <p:spPr>
          <a:xfrm>
            <a:off x="857250" y="6076950"/>
            <a:ext cx="103251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575" b="0" i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575" b="0" i="0">
                <a:solidFill>
                  <a:srgbClr val="2B2B2B"/>
                </a:solidFill>
                <a:latin typeface="Aptos"/>
                <a:ea typeface="Aptos"/>
                <a:cs typeface="Aptos"/>
              </a:rPr>
              <a:t>Human review remains active before write delegation and before final PR readiness.</a:t>
            </a:r>
          </a:p>
        </p:txBody>
      </p:sp>
    </p:spTree>
    <p:extLst>
      <p:ext uri="{BB962C8B-B14F-4D97-AF65-F5344CB8AC3E}">
        <p14:creationId xmlns:p14="http://schemas.microsoft.com/office/powerpoint/2010/main" val="14119600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Rectangle 91">
            <a:extLst>
              <a:ext uri="{FF2B5EF4-FFF2-40B4-BE49-F238E27FC236}">
                <a16:creationId xmlns:a16="http://schemas.microsoft.com/office/drawing/2014/main" id="{44FFD38C-D616-41E7-B0B8-FAF3C86FD54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839D1BED-012D-4F90-BCFC-515788BF8605}"/>
              </a:ext>
            </a:extLst>
          </p:cNvPr>
          <p:cNvSpPr>
            <a:spLocks noGrp="1"/>
          </p:cNvSpPr>
          <p:nvPr/>
        </p:nvSpPr>
        <p:spPr>
          <a:xfrm>
            <a:off x="6858000" y="323850"/>
            <a:ext cx="1714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DEE6EB61-E157-498A-9FC5-6B1C218017F8}"/>
              </a:ext>
            </a:extLst>
          </p:cNvPr>
          <p:cNvSpPr>
            <a:spLocks noGrp="1"/>
          </p:cNvSpPr>
          <p:nvPr/>
        </p:nvSpPr>
        <p:spPr>
          <a:xfrm>
            <a:off x="7105650" y="361950"/>
            <a:ext cx="26670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244A9C7D-CD5D-4E7E-BE1F-923EA9FFF674}"/>
              </a:ext>
            </a:extLst>
          </p:cNvPr>
          <p:cNvSpPr>
            <a:spLocks noGrp="1"/>
          </p:cNvSpPr>
          <p:nvPr/>
        </p:nvSpPr>
        <p:spPr>
          <a:xfrm>
            <a:off x="7353300" y="400050"/>
            <a:ext cx="3619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7EAAF40A-6FE6-4A2A-8E09-C26C4CD425C7}"/>
              </a:ext>
            </a:extLst>
          </p:cNvPr>
          <p:cNvSpPr>
            <a:spLocks noGrp="1"/>
          </p:cNvSpPr>
          <p:nvPr/>
        </p:nvSpPr>
        <p:spPr>
          <a:xfrm>
            <a:off x="7600950" y="323850"/>
            <a:ext cx="45720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23838FDA-1D6A-4619-B167-754F7091CC27}"/>
              </a:ext>
            </a:extLst>
          </p:cNvPr>
          <p:cNvSpPr>
            <a:spLocks noGrp="1"/>
          </p:cNvSpPr>
          <p:nvPr/>
        </p:nvSpPr>
        <p:spPr>
          <a:xfrm>
            <a:off x="7848600" y="361950"/>
            <a:ext cx="5524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3FE2F5CA-F3A0-4A0E-8D0D-BC10110C417F}"/>
              </a:ext>
            </a:extLst>
          </p:cNvPr>
          <p:cNvSpPr>
            <a:spLocks noGrp="1"/>
          </p:cNvSpPr>
          <p:nvPr/>
        </p:nvSpPr>
        <p:spPr>
          <a:xfrm>
            <a:off x="8096250" y="400050"/>
            <a:ext cx="1714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205D2909-79A4-4A55-91C9-390B231F3165}"/>
              </a:ext>
            </a:extLst>
          </p:cNvPr>
          <p:cNvSpPr>
            <a:spLocks noGrp="1"/>
          </p:cNvSpPr>
          <p:nvPr/>
        </p:nvSpPr>
        <p:spPr>
          <a:xfrm>
            <a:off x="8343900" y="323850"/>
            <a:ext cx="26670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C7140ABB-6918-4BF1-B2B1-EC394E5466C7}"/>
              </a:ext>
            </a:extLst>
          </p:cNvPr>
          <p:cNvSpPr>
            <a:spLocks noGrp="1"/>
          </p:cNvSpPr>
          <p:nvPr/>
        </p:nvSpPr>
        <p:spPr>
          <a:xfrm>
            <a:off x="8591550" y="361950"/>
            <a:ext cx="3619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A463A6FE-CFA6-4BDC-863C-4E897B50D5D7}"/>
              </a:ext>
            </a:extLst>
          </p:cNvPr>
          <p:cNvSpPr>
            <a:spLocks noGrp="1"/>
          </p:cNvSpPr>
          <p:nvPr/>
        </p:nvSpPr>
        <p:spPr>
          <a:xfrm>
            <a:off x="8839200" y="400050"/>
            <a:ext cx="45720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0C21ED87-D9F0-4471-9D16-68712D2F1A1E}"/>
              </a:ext>
            </a:extLst>
          </p:cNvPr>
          <p:cNvSpPr>
            <a:spLocks noGrp="1"/>
          </p:cNvSpPr>
          <p:nvPr/>
        </p:nvSpPr>
        <p:spPr>
          <a:xfrm>
            <a:off x="9086850" y="323850"/>
            <a:ext cx="5524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1C5E2E76-26F5-4BB3-859B-F524C612C2A3}"/>
              </a:ext>
            </a:extLst>
          </p:cNvPr>
          <p:cNvSpPr>
            <a:spLocks noGrp="1"/>
          </p:cNvSpPr>
          <p:nvPr/>
        </p:nvSpPr>
        <p:spPr>
          <a:xfrm>
            <a:off x="9334500" y="361950"/>
            <a:ext cx="1714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2A9DA99A-92C6-447E-9715-FEC3511DF68A}"/>
              </a:ext>
            </a:extLst>
          </p:cNvPr>
          <p:cNvSpPr>
            <a:spLocks noGrp="1"/>
          </p:cNvSpPr>
          <p:nvPr/>
        </p:nvSpPr>
        <p:spPr>
          <a:xfrm>
            <a:off x="9582150" y="400050"/>
            <a:ext cx="26670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0664F20A-FE55-453B-AF66-A091E09B2C24}"/>
              </a:ext>
            </a:extLst>
          </p:cNvPr>
          <p:cNvSpPr>
            <a:spLocks noGrp="1"/>
          </p:cNvSpPr>
          <p:nvPr/>
        </p:nvSpPr>
        <p:spPr>
          <a:xfrm>
            <a:off x="9829800" y="323850"/>
            <a:ext cx="3619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167337EE-5D76-4009-AE03-9E86A98D9F99}"/>
              </a:ext>
            </a:extLst>
          </p:cNvPr>
          <p:cNvSpPr>
            <a:spLocks noGrp="1"/>
          </p:cNvSpPr>
          <p:nvPr/>
        </p:nvSpPr>
        <p:spPr>
          <a:xfrm>
            <a:off x="10077450" y="361950"/>
            <a:ext cx="45720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0F1652BF-F80E-4748-90E4-5560B1958932}"/>
              </a:ext>
            </a:extLst>
          </p:cNvPr>
          <p:cNvSpPr>
            <a:spLocks noGrp="1"/>
          </p:cNvSpPr>
          <p:nvPr/>
        </p:nvSpPr>
        <p:spPr>
          <a:xfrm>
            <a:off x="10325100" y="400050"/>
            <a:ext cx="5524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C4BB87B3-AB72-474E-A657-BB17B4939546}"/>
              </a:ext>
            </a:extLst>
          </p:cNvPr>
          <p:cNvSpPr>
            <a:spLocks noGrp="1"/>
          </p:cNvSpPr>
          <p:nvPr/>
        </p:nvSpPr>
        <p:spPr>
          <a:xfrm>
            <a:off x="10572750" y="323850"/>
            <a:ext cx="1714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4020956A-566B-49B7-80F3-40A81A91F054}"/>
              </a:ext>
            </a:extLst>
          </p:cNvPr>
          <p:cNvSpPr>
            <a:spLocks noGrp="1"/>
          </p:cNvSpPr>
          <p:nvPr/>
        </p:nvSpPr>
        <p:spPr>
          <a:xfrm>
            <a:off x="6972300" y="552450"/>
            <a:ext cx="26670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321F3963-B548-45F6-9044-C1DB9D95D242}"/>
              </a:ext>
            </a:extLst>
          </p:cNvPr>
          <p:cNvSpPr>
            <a:spLocks noGrp="1"/>
          </p:cNvSpPr>
          <p:nvPr/>
        </p:nvSpPr>
        <p:spPr>
          <a:xfrm>
            <a:off x="7219950" y="590550"/>
            <a:ext cx="3619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6296F847-49BD-4BB3-8570-5CBBCE91DA96}"/>
              </a:ext>
            </a:extLst>
          </p:cNvPr>
          <p:cNvSpPr>
            <a:spLocks noGrp="1"/>
          </p:cNvSpPr>
          <p:nvPr/>
        </p:nvSpPr>
        <p:spPr>
          <a:xfrm>
            <a:off x="7467600" y="628650"/>
            <a:ext cx="45720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D7BBF867-B3D7-4AE0-8BB9-3AB0465FB876}"/>
              </a:ext>
            </a:extLst>
          </p:cNvPr>
          <p:cNvSpPr>
            <a:spLocks noGrp="1"/>
          </p:cNvSpPr>
          <p:nvPr/>
        </p:nvSpPr>
        <p:spPr>
          <a:xfrm>
            <a:off x="7715250" y="552450"/>
            <a:ext cx="5524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75080A94-4258-496E-814F-C5C3676C6B94}"/>
              </a:ext>
            </a:extLst>
          </p:cNvPr>
          <p:cNvSpPr>
            <a:spLocks noGrp="1"/>
          </p:cNvSpPr>
          <p:nvPr/>
        </p:nvSpPr>
        <p:spPr>
          <a:xfrm>
            <a:off x="7962900" y="590550"/>
            <a:ext cx="1714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ACAECDE8-740D-4AC9-9A13-761393C208E6}"/>
              </a:ext>
            </a:extLst>
          </p:cNvPr>
          <p:cNvSpPr>
            <a:spLocks noGrp="1"/>
          </p:cNvSpPr>
          <p:nvPr/>
        </p:nvSpPr>
        <p:spPr>
          <a:xfrm>
            <a:off x="8210550" y="628650"/>
            <a:ext cx="26670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1CEB3F58-FE11-445E-B66A-9FA60C7E9176}"/>
              </a:ext>
            </a:extLst>
          </p:cNvPr>
          <p:cNvSpPr>
            <a:spLocks noGrp="1"/>
          </p:cNvSpPr>
          <p:nvPr/>
        </p:nvSpPr>
        <p:spPr>
          <a:xfrm>
            <a:off x="8458200" y="552450"/>
            <a:ext cx="3619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857A075B-B381-4D63-8AAE-7268299C27DE}"/>
              </a:ext>
            </a:extLst>
          </p:cNvPr>
          <p:cNvSpPr>
            <a:spLocks noGrp="1"/>
          </p:cNvSpPr>
          <p:nvPr/>
        </p:nvSpPr>
        <p:spPr>
          <a:xfrm>
            <a:off x="8705850" y="590550"/>
            <a:ext cx="45720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3A8F55BF-1494-40D0-B8AD-7A3393448221}"/>
              </a:ext>
            </a:extLst>
          </p:cNvPr>
          <p:cNvSpPr>
            <a:spLocks noGrp="1"/>
          </p:cNvSpPr>
          <p:nvPr/>
        </p:nvSpPr>
        <p:spPr>
          <a:xfrm>
            <a:off x="8953500" y="628650"/>
            <a:ext cx="5524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2AB2782C-4B31-4D44-B5D1-AB89218F6A4D}"/>
              </a:ext>
            </a:extLst>
          </p:cNvPr>
          <p:cNvSpPr>
            <a:spLocks noGrp="1"/>
          </p:cNvSpPr>
          <p:nvPr/>
        </p:nvSpPr>
        <p:spPr>
          <a:xfrm>
            <a:off x="9201150" y="552450"/>
            <a:ext cx="1714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D3F1538F-784E-4AD4-8791-93E19E8114A6}"/>
              </a:ext>
            </a:extLst>
          </p:cNvPr>
          <p:cNvSpPr>
            <a:spLocks noGrp="1"/>
          </p:cNvSpPr>
          <p:nvPr/>
        </p:nvSpPr>
        <p:spPr>
          <a:xfrm>
            <a:off x="9448800" y="590550"/>
            <a:ext cx="26670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F5454094-32C9-48EE-9A59-F2F5500664A6}"/>
              </a:ext>
            </a:extLst>
          </p:cNvPr>
          <p:cNvSpPr>
            <a:spLocks noGrp="1"/>
          </p:cNvSpPr>
          <p:nvPr/>
        </p:nvSpPr>
        <p:spPr>
          <a:xfrm>
            <a:off x="9696450" y="628650"/>
            <a:ext cx="3619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7516436C-3593-4E18-B3C1-1057C944D0BD}"/>
              </a:ext>
            </a:extLst>
          </p:cNvPr>
          <p:cNvSpPr>
            <a:spLocks noGrp="1"/>
          </p:cNvSpPr>
          <p:nvPr/>
        </p:nvSpPr>
        <p:spPr>
          <a:xfrm>
            <a:off x="9944100" y="552450"/>
            <a:ext cx="45720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857E5306-87D9-45C7-BFF9-83BFB52CAAC2}"/>
              </a:ext>
            </a:extLst>
          </p:cNvPr>
          <p:cNvSpPr>
            <a:spLocks noGrp="1"/>
          </p:cNvSpPr>
          <p:nvPr/>
        </p:nvSpPr>
        <p:spPr>
          <a:xfrm>
            <a:off x="10191750" y="590550"/>
            <a:ext cx="5524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A94FC0C0-340F-40D2-B5BC-299E2F71124A}"/>
              </a:ext>
            </a:extLst>
          </p:cNvPr>
          <p:cNvSpPr>
            <a:spLocks noGrp="1"/>
          </p:cNvSpPr>
          <p:nvPr/>
        </p:nvSpPr>
        <p:spPr>
          <a:xfrm>
            <a:off x="10439400" y="628650"/>
            <a:ext cx="1714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8524D704-1D07-4A91-9B5F-4C91D0C663D2}"/>
              </a:ext>
            </a:extLst>
          </p:cNvPr>
          <p:cNvSpPr>
            <a:spLocks noGrp="1"/>
          </p:cNvSpPr>
          <p:nvPr/>
        </p:nvSpPr>
        <p:spPr>
          <a:xfrm>
            <a:off x="10687050" y="552450"/>
            <a:ext cx="26670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04B0475E-26D3-4D3D-8826-73C0F6043235}"/>
              </a:ext>
            </a:extLst>
          </p:cNvPr>
          <p:cNvSpPr>
            <a:spLocks noGrp="1"/>
          </p:cNvSpPr>
          <p:nvPr/>
        </p:nvSpPr>
        <p:spPr>
          <a:xfrm>
            <a:off x="6858000" y="781050"/>
            <a:ext cx="3619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B0BF5B9A-498E-4567-8429-93373EBBFF21}"/>
              </a:ext>
            </a:extLst>
          </p:cNvPr>
          <p:cNvSpPr>
            <a:spLocks noGrp="1"/>
          </p:cNvSpPr>
          <p:nvPr/>
        </p:nvSpPr>
        <p:spPr>
          <a:xfrm>
            <a:off x="7105650" y="819150"/>
            <a:ext cx="45720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A1356227-3B7F-4EA9-8357-1245ED7956CF}"/>
              </a:ext>
            </a:extLst>
          </p:cNvPr>
          <p:cNvSpPr>
            <a:spLocks noGrp="1"/>
          </p:cNvSpPr>
          <p:nvPr/>
        </p:nvSpPr>
        <p:spPr>
          <a:xfrm>
            <a:off x="7353300" y="857250"/>
            <a:ext cx="5524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B5754BD3-6C84-4892-8983-07BD5A1F9DB0}"/>
              </a:ext>
            </a:extLst>
          </p:cNvPr>
          <p:cNvSpPr>
            <a:spLocks noGrp="1"/>
          </p:cNvSpPr>
          <p:nvPr/>
        </p:nvSpPr>
        <p:spPr>
          <a:xfrm>
            <a:off x="7600950" y="781050"/>
            <a:ext cx="1714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BE0E702C-D871-4F4C-BA30-FC70971209FD}"/>
              </a:ext>
            </a:extLst>
          </p:cNvPr>
          <p:cNvSpPr>
            <a:spLocks noGrp="1"/>
          </p:cNvSpPr>
          <p:nvPr/>
        </p:nvSpPr>
        <p:spPr>
          <a:xfrm>
            <a:off x="7848600" y="819150"/>
            <a:ext cx="26670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2BFBD141-F3E2-4661-A8B5-23CFD5AFEFAB}"/>
              </a:ext>
            </a:extLst>
          </p:cNvPr>
          <p:cNvSpPr>
            <a:spLocks noGrp="1"/>
          </p:cNvSpPr>
          <p:nvPr/>
        </p:nvSpPr>
        <p:spPr>
          <a:xfrm>
            <a:off x="8096250" y="857250"/>
            <a:ext cx="3619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E05FBF35-5D0B-422B-B55F-3D0F6E611114}"/>
              </a:ext>
            </a:extLst>
          </p:cNvPr>
          <p:cNvSpPr>
            <a:spLocks noGrp="1"/>
          </p:cNvSpPr>
          <p:nvPr/>
        </p:nvSpPr>
        <p:spPr>
          <a:xfrm>
            <a:off x="8343900" y="781050"/>
            <a:ext cx="45720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E9C1847D-E265-40BB-A306-17B0F3319D87}"/>
              </a:ext>
            </a:extLst>
          </p:cNvPr>
          <p:cNvSpPr>
            <a:spLocks noGrp="1"/>
          </p:cNvSpPr>
          <p:nvPr/>
        </p:nvSpPr>
        <p:spPr>
          <a:xfrm>
            <a:off x="8591550" y="819150"/>
            <a:ext cx="5524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83C5AE6D-3DFD-48FA-89CE-DF280B521756}"/>
              </a:ext>
            </a:extLst>
          </p:cNvPr>
          <p:cNvSpPr>
            <a:spLocks noGrp="1"/>
          </p:cNvSpPr>
          <p:nvPr/>
        </p:nvSpPr>
        <p:spPr>
          <a:xfrm>
            <a:off x="8839200" y="857250"/>
            <a:ext cx="1714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1EC55395-1148-4FDA-9ECD-4C155956596B}"/>
              </a:ext>
            </a:extLst>
          </p:cNvPr>
          <p:cNvSpPr>
            <a:spLocks noGrp="1"/>
          </p:cNvSpPr>
          <p:nvPr/>
        </p:nvSpPr>
        <p:spPr>
          <a:xfrm>
            <a:off x="9086850" y="781050"/>
            <a:ext cx="26670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4041D515-CF2F-4B45-978D-FE8EBAF7E393}"/>
              </a:ext>
            </a:extLst>
          </p:cNvPr>
          <p:cNvSpPr>
            <a:spLocks noGrp="1"/>
          </p:cNvSpPr>
          <p:nvPr/>
        </p:nvSpPr>
        <p:spPr>
          <a:xfrm>
            <a:off x="9334500" y="819150"/>
            <a:ext cx="3619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Rounded Rectangle 44">
            <a:extLst>
              <a:ext uri="{FF2B5EF4-FFF2-40B4-BE49-F238E27FC236}">
                <a16:creationId xmlns:a16="http://schemas.microsoft.com/office/drawing/2014/main" id="{783A9A12-1654-419D-844B-AD676FE8CB26}"/>
              </a:ext>
            </a:extLst>
          </p:cNvPr>
          <p:cNvSpPr>
            <a:spLocks noGrp="1"/>
          </p:cNvSpPr>
          <p:nvPr/>
        </p:nvSpPr>
        <p:spPr>
          <a:xfrm>
            <a:off x="9582150" y="857250"/>
            <a:ext cx="45720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Rounded Rectangle 45">
            <a:extLst>
              <a:ext uri="{FF2B5EF4-FFF2-40B4-BE49-F238E27FC236}">
                <a16:creationId xmlns:a16="http://schemas.microsoft.com/office/drawing/2014/main" id="{77118ED1-46E8-4F94-91F6-73A7FDCD6184}"/>
              </a:ext>
            </a:extLst>
          </p:cNvPr>
          <p:cNvSpPr>
            <a:spLocks noGrp="1"/>
          </p:cNvSpPr>
          <p:nvPr/>
        </p:nvSpPr>
        <p:spPr>
          <a:xfrm>
            <a:off x="9829800" y="781050"/>
            <a:ext cx="5524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Rounded Rectangle 46">
            <a:extLst>
              <a:ext uri="{FF2B5EF4-FFF2-40B4-BE49-F238E27FC236}">
                <a16:creationId xmlns:a16="http://schemas.microsoft.com/office/drawing/2014/main" id="{31B64769-A47F-46BF-BC43-6A276A3C0A36}"/>
              </a:ext>
            </a:extLst>
          </p:cNvPr>
          <p:cNvSpPr>
            <a:spLocks noGrp="1"/>
          </p:cNvSpPr>
          <p:nvPr/>
        </p:nvSpPr>
        <p:spPr>
          <a:xfrm>
            <a:off x="10077450" y="819150"/>
            <a:ext cx="1714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Rounded Rectangle 47">
            <a:extLst>
              <a:ext uri="{FF2B5EF4-FFF2-40B4-BE49-F238E27FC236}">
                <a16:creationId xmlns:a16="http://schemas.microsoft.com/office/drawing/2014/main" id="{E46327AE-03F0-4109-9AE7-94D1A3E1BB0A}"/>
              </a:ext>
            </a:extLst>
          </p:cNvPr>
          <p:cNvSpPr>
            <a:spLocks noGrp="1"/>
          </p:cNvSpPr>
          <p:nvPr/>
        </p:nvSpPr>
        <p:spPr>
          <a:xfrm>
            <a:off x="10325100" y="857250"/>
            <a:ext cx="26670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Rounded Rectangle 48">
            <a:extLst>
              <a:ext uri="{FF2B5EF4-FFF2-40B4-BE49-F238E27FC236}">
                <a16:creationId xmlns:a16="http://schemas.microsoft.com/office/drawing/2014/main" id="{53D9608E-2571-4690-A4AC-4A1C0ACF58CD}"/>
              </a:ext>
            </a:extLst>
          </p:cNvPr>
          <p:cNvSpPr>
            <a:spLocks noGrp="1"/>
          </p:cNvSpPr>
          <p:nvPr/>
        </p:nvSpPr>
        <p:spPr>
          <a:xfrm>
            <a:off x="10572750" y="781050"/>
            <a:ext cx="3619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Rounded Rectangle 49">
            <a:extLst>
              <a:ext uri="{FF2B5EF4-FFF2-40B4-BE49-F238E27FC236}">
                <a16:creationId xmlns:a16="http://schemas.microsoft.com/office/drawing/2014/main" id="{41417598-2D17-4DB9-A6EF-FECEA9752380}"/>
              </a:ext>
            </a:extLst>
          </p:cNvPr>
          <p:cNvSpPr>
            <a:spLocks noGrp="1"/>
          </p:cNvSpPr>
          <p:nvPr/>
        </p:nvSpPr>
        <p:spPr>
          <a:xfrm>
            <a:off x="6972300" y="1009650"/>
            <a:ext cx="45720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Rounded Rectangle 50">
            <a:extLst>
              <a:ext uri="{FF2B5EF4-FFF2-40B4-BE49-F238E27FC236}">
                <a16:creationId xmlns:a16="http://schemas.microsoft.com/office/drawing/2014/main" id="{AC3BD8F8-B764-4009-988D-7D00CC6F8EF9}"/>
              </a:ext>
            </a:extLst>
          </p:cNvPr>
          <p:cNvSpPr>
            <a:spLocks noGrp="1"/>
          </p:cNvSpPr>
          <p:nvPr/>
        </p:nvSpPr>
        <p:spPr>
          <a:xfrm>
            <a:off x="7219950" y="1047750"/>
            <a:ext cx="5524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Rounded Rectangle 51">
            <a:extLst>
              <a:ext uri="{FF2B5EF4-FFF2-40B4-BE49-F238E27FC236}">
                <a16:creationId xmlns:a16="http://schemas.microsoft.com/office/drawing/2014/main" id="{E9E91353-A8D0-4CA4-9ED3-8ABF62BA7A40}"/>
              </a:ext>
            </a:extLst>
          </p:cNvPr>
          <p:cNvSpPr>
            <a:spLocks noGrp="1"/>
          </p:cNvSpPr>
          <p:nvPr/>
        </p:nvSpPr>
        <p:spPr>
          <a:xfrm>
            <a:off x="7467600" y="1085850"/>
            <a:ext cx="1714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Rounded Rectangle 52">
            <a:extLst>
              <a:ext uri="{FF2B5EF4-FFF2-40B4-BE49-F238E27FC236}">
                <a16:creationId xmlns:a16="http://schemas.microsoft.com/office/drawing/2014/main" id="{2A98B3AE-B60C-4A77-BE2A-E7029BDE5986}"/>
              </a:ext>
            </a:extLst>
          </p:cNvPr>
          <p:cNvSpPr>
            <a:spLocks noGrp="1"/>
          </p:cNvSpPr>
          <p:nvPr/>
        </p:nvSpPr>
        <p:spPr>
          <a:xfrm>
            <a:off x="7715250" y="1009650"/>
            <a:ext cx="26670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Rounded Rectangle 53">
            <a:extLst>
              <a:ext uri="{FF2B5EF4-FFF2-40B4-BE49-F238E27FC236}">
                <a16:creationId xmlns:a16="http://schemas.microsoft.com/office/drawing/2014/main" id="{71A6D20A-20CB-43BB-A17A-0EB7715FAE3F}"/>
              </a:ext>
            </a:extLst>
          </p:cNvPr>
          <p:cNvSpPr>
            <a:spLocks noGrp="1"/>
          </p:cNvSpPr>
          <p:nvPr/>
        </p:nvSpPr>
        <p:spPr>
          <a:xfrm>
            <a:off x="7962900" y="1047750"/>
            <a:ext cx="3619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Rounded Rectangle 54">
            <a:extLst>
              <a:ext uri="{FF2B5EF4-FFF2-40B4-BE49-F238E27FC236}">
                <a16:creationId xmlns:a16="http://schemas.microsoft.com/office/drawing/2014/main" id="{EC9ACFA5-2E45-4C85-8495-7F90E16B18DB}"/>
              </a:ext>
            </a:extLst>
          </p:cNvPr>
          <p:cNvSpPr>
            <a:spLocks noGrp="1"/>
          </p:cNvSpPr>
          <p:nvPr/>
        </p:nvSpPr>
        <p:spPr>
          <a:xfrm>
            <a:off x="8210550" y="1085850"/>
            <a:ext cx="45720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Rounded Rectangle 55">
            <a:extLst>
              <a:ext uri="{FF2B5EF4-FFF2-40B4-BE49-F238E27FC236}">
                <a16:creationId xmlns:a16="http://schemas.microsoft.com/office/drawing/2014/main" id="{8B32A801-4E82-4205-AE21-94C99A283C93}"/>
              </a:ext>
            </a:extLst>
          </p:cNvPr>
          <p:cNvSpPr>
            <a:spLocks noGrp="1"/>
          </p:cNvSpPr>
          <p:nvPr/>
        </p:nvSpPr>
        <p:spPr>
          <a:xfrm>
            <a:off x="8458200" y="1009650"/>
            <a:ext cx="5524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Rounded Rectangle 56">
            <a:extLst>
              <a:ext uri="{FF2B5EF4-FFF2-40B4-BE49-F238E27FC236}">
                <a16:creationId xmlns:a16="http://schemas.microsoft.com/office/drawing/2014/main" id="{81EC54A2-7A26-452A-9B4F-7460FF8AA3DE}"/>
              </a:ext>
            </a:extLst>
          </p:cNvPr>
          <p:cNvSpPr>
            <a:spLocks noGrp="1"/>
          </p:cNvSpPr>
          <p:nvPr/>
        </p:nvSpPr>
        <p:spPr>
          <a:xfrm>
            <a:off x="8705850" y="1047750"/>
            <a:ext cx="1714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Rounded Rectangle 57">
            <a:extLst>
              <a:ext uri="{FF2B5EF4-FFF2-40B4-BE49-F238E27FC236}">
                <a16:creationId xmlns:a16="http://schemas.microsoft.com/office/drawing/2014/main" id="{1D5C9A06-4254-41B5-8AEE-BAEF984FA884}"/>
              </a:ext>
            </a:extLst>
          </p:cNvPr>
          <p:cNvSpPr>
            <a:spLocks noGrp="1"/>
          </p:cNvSpPr>
          <p:nvPr/>
        </p:nvSpPr>
        <p:spPr>
          <a:xfrm>
            <a:off x="8953500" y="1085850"/>
            <a:ext cx="26670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Rounded Rectangle 58">
            <a:extLst>
              <a:ext uri="{FF2B5EF4-FFF2-40B4-BE49-F238E27FC236}">
                <a16:creationId xmlns:a16="http://schemas.microsoft.com/office/drawing/2014/main" id="{0500488E-241F-48F8-84E6-64BA81FC5740}"/>
              </a:ext>
            </a:extLst>
          </p:cNvPr>
          <p:cNvSpPr>
            <a:spLocks noGrp="1"/>
          </p:cNvSpPr>
          <p:nvPr/>
        </p:nvSpPr>
        <p:spPr>
          <a:xfrm>
            <a:off x="9201150" y="1009650"/>
            <a:ext cx="3619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06D30937-4499-4F35-A684-9D2D1DA5A326}"/>
              </a:ext>
            </a:extLst>
          </p:cNvPr>
          <p:cNvSpPr>
            <a:spLocks noGrp="1"/>
          </p:cNvSpPr>
          <p:nvPr/>
        </p:nvSpPr>
        <p:spPr>
          <a:xfrm>
            <a:off x="342900" y="76200"/>
            <a:ext cx="342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 i="0">
                <a:solidFill>
                  <a:srgbClr val="8A8580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8A8580"/>
                </a:solidFill>
                <a:latin typeface="Aptos"/>
                <a:ea typeface="Aptos"/>
                <a:cs typeface="Aptos"/>
              </a:rPr>
              <a:t>Confidential - Oracle Restricted (Employees Only)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0D9C72E2-FBA6-4CEE-8D14-3A27610FD967}"/>
              </a:ext>
            </a:extLst>
          </p:cNvPr>
          <p:cNvSpPr>
            <a:spLocks noGrp="1"/>
          </p:cNvSpPr>
          <p:nvPr/>
        </p:nvSpPr>
        <p:spPr>
          <a:xfrm>
            <a:off x="342900" y="6572250"/>
            <a:ext cx="2476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 i="0">
                <a:solidFill>
                  <a:srgbClr val="807A76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807A76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4F0D8941-E812-4083-8719-A0EC21CB8341}"/>
              </a:ext>
            </a:extLst>
          </p:cNvPr>
          <p:cNvSpPr>
            <a:spLocks noGrp="1"/>
          </p:cNvSpPr>
          <p:nvPr/>
        </p:nvSpPr>
        <p:spPr>
          <a:xfrm>
            <a:off x="723900" y="6572250"/>
            <a:ext cx="4381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 i="0">
                <a:solidFill>
                  <a:srgbClr val="807A76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807A76"/>
                </a:solidFill>
                <a:latin typeface="Aptos"/>
                <a:ea typeface="Aptos"/>
                <a:cs typeface="Aptos"/>
              </a:rPr>
              <a:t>Agent Team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788B2981-138A-4E25-AD96-45A60DB85A63}"/>
              </a:ext>
            </a:extLst>
          </p:cNvPr>
          <p:cNvSpPr>
            <a:spLocks noGrp="1"/>
          </p:cNvSpPr>
          <p:nvPr/>
        </p:nvSpPr>
        <p:spPr>
          <a:xfrm>
            <a:off x="11334750" y="6419850"/>
            <a:ext cx="419100" cy="419100"/>
          </a:xfrm>
          <a:prstGeom prst="rect">
            <a:avLst/>
          </a:prstGeom>
          <a:solidFill>
            <a:srgbClr val="C7463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Rounded Rectangle 63">
            <a:extLst>
              <a:ext uri="{FF2B5EF4-FFF2-40B4-BE49-F238E27FC236}">
                <a16:creationId xmlns:a16="http://schemas.microsoft.com/office/drawing/2014/main" id="{62DA860D-DC22-40A6-985D-BBAFA8B3E972}"/>
              </a:ext>
            </a:extLst>
          </p:cNvPr>
          <p:cNvSpPr>
            <a:spLocks noGrp="1"/>
          </p:cNvSpPr>
          <p:nvPr/>
        </p:nvSpPr>
        <p:spPr>
          <a:xfrm>
            <a:off x="11430000" y="6562725"/>
            <a:ext cx="228600" cy="114300"/>
          </a:xfrm>
          <a:prstGeom prst="roundRect">
            <a:avLst>
              <a:gd name="adj" fmla="val 50000"/>
            </a:avLst>
          </a:prstGeom>
          <a:solidFill>
            <a:srgbClr val="000000">
              <a:alpha val="0"/>
            </a:srgbClr>
          </a:solidFill>
          <a:ln w="2286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B1473211-110A-4B85-BBF2-4220F4FA8C16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99060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 i="0">
                <a:solidFill>
                  <a:srgbClr val="2B2B2B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 i="0">
                <a:solidFill>
                  <a:srgbClr val="2B2B2B"/>
                </a:solidFill>
                <a:latin typeface="Aptos Display"/>
                <a:ea typeface="Aptos Display"/>
                <a:cs typeface="Aptos Display"/>
              </a:rPr>
              <a:t>Agent Team makes worker execution sequential, reviewable, and relay-aware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3BE87124-7806-42BB-9226-67AD32141173}"/>
              </a:ext>
            </a:extLst>
          </p:cNvPr>
          <p:cNvSpPr>
            <a:spLocks noGrp="1"/>
          </p:cNvSpPr>
          <p:nvPr/>
        </p:nvSpPr>
        <p:spPr>
          <a:xfrm>
            <a:off x="609600" y="1219200"/>
            <a:ext cx="99060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 i="0">
                <a:solidFill>
                  <a:srgbClr val="333333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333333"/>
                </a:solidFill>
                <a:latin typeface="Aptos"/>
                <a:ea typeface="Aptos"/>
                <a:cs typeface="Aptos"/>
              </a:rPr>
              <a:t>ODT should pass context from one worker to the next instead of dumping the whole conversation into every model call.</a:t>
            </a:r>
          </a:p>
        </p:txBody>
      </p:sp>
      <p:sp>
        <p:nvSpPr>
          <p:cNvPr id="67" name="Rounded Rectangle 66">
            <a:extLst>
              <a:ext uri="{FF2B5EF4-FFF2-40B4-BE49-F238E27FC236}">
                <a16:creationId xmlns:a16="http://schemas.microsoft.com/office/drawing/2014/main" id="{B654D989-F567-4D9E-B528-5B03CB2B615E}"/>
              </a:ext>
            </a:extLst>
          </p:cNvPr>
          <p:cNvSpPr>
            <a:spLocks noGrp="1"/>
          </p:cNvSpPr>
          <p:nvPr/>
        </p:nvSpPr>
        <p:spPr>
          <a:xfrm>
            <a:off x="685800" y="1676400"/>
            <a:ext cx="2324100" cy="144780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1430">
            <a:solidFill>
              <a:srgbClr val="DED8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F105012B-5126-430E-A5EB-FC3B282417F6}"/>
              </a:ext>
            </a:extLst>
          </p:cNvPr>
          <p:cNvSpPr>
            <a:spLocks noGrp="1"/>
          </p:cNvSpPr>
          <p:nvPr/>
        </p:nvSpPr>
        <p:spPr>
          <a:xfrm>
            <a:off x="685800" y="1676400"/>
            <a:ext cx="76200" cy="1447800"/>
          </a:xfrm>
          <a:prstGeom prst="rect">
            <a:avLst/>
          </a:prstGeom>
          <a:solidFill>
            <a:srgbClr val="C7463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29B48FD9-3D37-4807-B61E-78AC3E68A61E}"/>
              </a:ext>
            </a:extLst>
          </p:cNvPr>
          <p:cNvSpPr>
            <a:spLocks noGrp="1"/>
          </p:cNvSpPr>
          <p:nvPr/>
        </p:nvSpPr>
        <p:spPr>
          <a:xfrm>
            <a:off x="895350" y="1847850"/>
            <a:ext cx="1924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 i="0">
                <a:solidFill>
                  <a:srgbClr val="C74634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C74634"/>
                </a:solidFill>
                <a:latin typeface="Aptos"/>
                <a:ea typeface="Aptos"/>
                <a:cs typeface="Aptos"/>
              </a:rPr>
              <a:t>Lead Planner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DCDB5512-67A1-4579-A914-D2CAE80179DE}"/>
              </a:ext>
            </a:extLst>
          </p:cNvPr>
          <p:cNvSpPr>
            <a:spLocks noGrp="1"/>
          </p:cNvSpPr>
          <p:nvPr/>
        </p:nvSpPr>
        <p:spPr>
          <a:xfrm>
            <a:off x="895350" y="2152650"/>
            <a:ext cx="1924050" cy="857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 i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2B2B2B"/>
                </a:solidFill>
                <a:latin typeface="Aptos"/>
                <a:ea typeface="Aptos"/>
                <a:cs typeface="Aptos"/>
              </a:rPr>
              <a:t>Clarifies requirement, analyzes gaps, drafts plan and handoff bundle.</a:t>
            </a:r>
          </a:p>
        </p:txBody>
      </p:sp>
      <p:sp>
        <p:nvSpPr>
          <p:cNvPr id="71" name="Right Arrow 70">
            <a:extLst>
              <a:ext uri="{FF2B5EF4-FFF2-40B4-BE49-F238E27FC236}">
                <a16:creationId xmlns:a16="http://schemas.microsoft.com/office/drawing/2014/main" id="{D589E67E-D992-4966-ADF6-FFEE08D37A61}"/>
              </a:ext>
            </a:extLst>
          </p:cNvPr>
          <p:cNvSpPr>
            <a:spLocks noGrp="1"/>
          </p:cNvSpPr>
          <p:nvPr/>
        </p:nvSpPr>
        <p:spPr>
          <a:xfrm>
            <a:off x="3067050" y="2266950"/>
            <a:ext cx="323850" cy="171450"/>
          </a:xfrm>
          <a:prstGeom prst="rightArrow">
            <a:avLst/>
          </a:prstGeom>
          <a:solidFill>
            <a:srgbClr val="C74634"/>
          </a:solidFill>
          <a:ln w="9525">
            <a:solidFill>
              <a:srgbClr val="C746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Rounded Rectangle 71">
            <a:extLst>
              <a:ext uri="{FF2B5EF4-FFF2-40B4-BE49-F238E27FC236}">
                <a16:creationId xmlns:a16="http://schemas.microsoft.com/office/drawing/2014/main" id="{D2CA64F5-716E-4B82-8754-45EFDEA9B670}"/>
              </a:ext>
            </a:extLst>
          </p:cNvPr>
          <p:cNvSpPr>
            <a:spLocks noGrp="1"/>
          </p:cNvSpPr>
          <p:nvPr/>
        </p:nvSpPr>
        <p:spPr>
          <a:xfrm>
            <a:off x="3429000" y="1676400"/>
            <a:ext cx="2324100" cy="144780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1430">
            <a:solidFill>
              <a:srgbClr val="DED8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C791E4ED-4064-4F85-B647-7F7D73E1DD01}"/>
              </a:ext>
            </a:extLst>
          </p:cNvPr>
          <p:cNvSpPr>
            <a:spLocks noGrp="1"/>
          </p:cNvSpPr>
          <p:nvPr/>
        </p:nvSpPr>
        <p:spPr>
          <a:xfrm>
            <a:off x="3429000" y="1676400"/>
            <a:ext cx="76200" cy="1447800"/>
          </a:xfrm>
          <a:prstGeom prst="rect">
            <a:avLst/>
          </a:prstGeom>
          <a:solidFill>
            <a:srgbClr val="2E5F8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7A33804E-0BCF-4BF2-9998-0AE4FB223A76}"/>
              </a:ext>
            </a:extLst>
          </p:cNvPr>
          <p:cNvSpPr>
            <a:spLocks noGrp="1"/>
          </p:cNvSpPr>
          <p:nvPr/>
        </p:nvSpPr>
        <p:spPr>
          <a:xfrm>
            <a:off x="3638550" y="1847850"/>
            <a:ext cx="1924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 i="0">
                <a:solidFill>
                  <a:srgbClr val="2E5F8A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2E5F8A"/>
                </a:solidFill>
                <a:latin typeface="Aptos"/>
                <a:ea typeface="Aptos"/>
                <a:cs typeface="Aptos"/>
              </a:rPr>
              <a:t>Senior Full Stack Dev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09A15E18-88B5-40C8-877E-B9E9F33B72B6}"/>
              </a:ext>
            </a:extLst>
          </p:cNvPr>
          <p:cNvSpPr>
            <a:spLocks noGrp="1"/>
          </p:cNvSpPr>
          <p:nvPr/>
        </p:nvSpPr>
        <p:spPr>
          <a:xfrm>
            <a:off x="3638550" y="2152650"/>
            <a:ext cx="1924050" cy="857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 i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2B2B2B"/>
                </a:solidFill>
                <a:latin typeface="Aptos"/>
                <a:ea typeface="Aptos"/>
                <a:cs typeface="Aptos"/>
              </a:rPr>
              <a:t>Implements approved scope against target repo via Codex today; Cline/other adapters later.</a:t>
            </a:r>
          </a:p>
        </p:txBody>
      </p:sp>
      <p:sp>
        <p:nvSpPr>
          <p:cNvPr id="76" name="Right Arrow 75">
            <a:extLst>
              <a:ext uri="{FF2B5EF4-FFF2-40B4-BE49-F238E27FC236}">
                <a16:creationId xmlns:a16="http://schemas.microsoft.com/office/drawing/2014/main" id="{AF6B2E23-8C0B-43D1-A2D4-D025ED3634DD}"/>
              </a:ext>
            </a:extLst>
          </p:cNvPr>
          <p:cNvSpPr>
            <a:spLocks noGrp="1"/>
          </p:cNvSpPr>
          <p:nvPr/>
        </p:nvSpPr>
        <p:spPr>
          <a:xfrm>
            <a:off x="5810250" y="2266950"/>
            <a:ext cx="323850" cy="171450"/>
          </a:xfrm>
          <a:prstGeom prst="rightArrow">
            <a:avLst/>
          </a:prstGeom>
          <a:solidFill>
            <a:srgbClr val="C74634"/>
          </a:solidFill>
          <a:ln w="9525">
            <a:solidFill>
              <a:srgbClr val="C746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Rounded Rectangle 76">
            <a:extLst>
              <a:ext uri="{FF2B5EF4-FFF2-40B4-BE49-F238E27FC236}">
                <a16:creationId xmlns:a16="http://schemas.microsoft.com/office/drawing/2014/main" id="{BF2FF3E3-1879-4F48-9278-202E8AA3F094}"/>
              </a:ext>
            </a:extLst>
          </p:cNvPr>
          <p:cNvSpPr>
            <a:spLocks noGrp="1"/>
          </p:cNvSpPr>
          <p:nvPr/>
        </p:nvSpPr>
        <p:spPr>
          <a:xfrm>
            <a:off x="6172200" y="1676400"/>
            <a:ext cx="2324100" cy="144780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1430">
            <a:solidFill>
              <a:srgbClr val="DED8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8EE05C4B-9F9A-4E31-8895-22C4190E595A}"/>
              </a:ext>
            </a:extLst>
          </p:cNvPr>
          <p:cNvSpPr>
            <a:spLocks noGrp="1"/>
          </p:cNvSpPr>
          <p:nvPr/>
        </p:nvSpPr>
        <p:spPr>
          <a:xfrm>
            <a:off x="6172200" y="1676400"/>
            <a:ext cx="76200" cy="1447800"/>
          </a:xfrm>
          <a:prstGeom prst="rect">
            <a:avLst/>
          </a:prstGeom>
          <a:solidFill>
            <a:srgbClr val="D99B2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3E87D1CA-9398-4562-8965-149E06A42240}"/>
              </a:ext>
            </a:extLst>
          </p:cNvPr>
          <p:cNvSpPr>
            <a:spLocks noGrp="1"/>
          </p:cNvSpPr>
          <p:nvPr/>
        </p:nvSpPr>
        <p:spPr>
          <a:xfrm>
            <a:off x="6381750" y="1847850"/>
            <a:ext cx="1924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 i="0">
                <a:solidFill>
                  <a:srgbClr val="D99B2B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D99B2B"/>
                </a:solidFill>
                <a:latin typeface="Aptos"/>
                <a:ea typeface="Aptos"/>
                <a:cs typeface="Aptos"/>
              </a:rPr>
              <a:t>Reviewer</a:t>
            </a: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7EBF49AD-7DB3-4EAE-A811-234411119617}"/>
              </a:ext>
            </a:extLst>
          </p:cNvPr>
          <p:cNvSpPr>
            <a:spLocks noGrp="1"/>
          </p:cNvSpPr>
          <p:nvPr/>
        </p:nvSpPr>
        <p:spPr>
          <a:xfrm>
            <a:off x="6381750" y="2152650"/>
            <a:ext cx="1924050" cy="857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 i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2B2B2B"/>
                </a:solidFill>
                <a:latin typeface="Aptos"/>
                <a:ea typeface="Aptos"/>
                <a:cs typeface="Aptos"/>
              </a:rPr>
              <a:t>Reviews worker output, standards impact, risks, missing tests, and rework needs.</a:t>
            </a:r>
          </a:p>
        </p:txBody>
      </p:sp>
      <p:sp>
        <p:nvSpPr>
          <p:cNvPr id="81" name="Right Arrow 80">
            <a:extLst>
              <a:ext uri="{FF2B5EF4-FFF2-40B4-BE49-F238E27FC236}">
                <a16:creationId xmlns:a16="http://schemas.microsoft.com/office/drawing/2014/main" id="{A36D9DD3-4016-4190-BE04-E4BF55EB8465}"/>
              </a:ext>
            </a:extLst>
          </p:cNvPr>
          <p:cNvSpPr>
            <a:spLocks noGrp="1"/>
          </p:cNvSpPr>
          <p:nvPr/>
        </p:nvSpPr>
        <p:spPr>
          <a:xfrm>
            <a:off x="8553450" y="2266950"/>
            <a:ext cx="323850" cy="171450"/>
          </a:xfrm>
          <a:prstGeom prst="rightArrow">
            <a:avLst/>
          </a:prstGeom>
          <a:solidFill>
            <a:srgbClr val="C74634"/>
          </a:solidFill>
          <a:ln w="9525">
            <a:solidFill>
              <a:srgbClr val="C746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Rounded Rectangle 81">
            <a:extLst>
              <a:ext uri="{FF2B5EF4-FFF2-40B4-BE49-F238E27FC236}">
                <a16:creationId xmlns:a16="http://schemas.microsoft.com/office/drawing/2014/main" id="{43CB1F62-7FC7-41F8-9017-5687E41C363A}"/>
              </a:ext>
            </a:extLst>
          </p:cNvPr>
          <p:cNvSpPr>
            <a:spLocks noGrp="1"/>
          </p:cNvSpPr>
          <p:nvPr/>
        </p:nvSpPr>
        <p:spPr>
          <a:xfrm>
            <a:off x="8915400" y="1676400"/>
            <a:ext cx="2324100" cy="144780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1430">
            <a:solidFill>
              <a:srgbClr val="DED8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1650388B-0A94-48A8-90EC-BD2ABBB149B0}"/>
              </a:ext>
            </a:extLst>
          </p:cNvPr>
          <p:cNvSpPr>
            <a:spLocks noGrp="1"/>
          </p:cNvSpPr>
          <p:nvPr/>
        </p:nvSpPr>
        <p:spPr>
          <a:xfrm>
            <a:off x="8915400" y="1676400"/>
            <a:ext cx="76200" cy="1447800"/>
          </a:xfrm>
          <a:prstGeom prst="rect">
            <a:avLst/>
          </a:prstGeom>
          <a:solidFill>
            <a:srgbClr val="2F7D4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45D84A28-F0E9-4683-8C16-8ED78CDD49F9}"/>
              </a:ext>
            </a:extLst>
          </p:cNvPr>
          <p:cNvSpPr>
            <a:spLocks noGrp="1"/>
          </p:cNvSpPr>
          <p:nvPr/>
        </p:nvSpPr>
        <p:spPr>
          <a:xfrm>
            <a:off x="9124950" y="1847850"/>
            <a:ext cx="1924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 i="0">
                <a:solidFill>
                  <a:srgbClr val="2F7D4B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2F7D4B"/>
                </a:solidFill>
                <a:latin typeface="Aptos"/>
                <a:ea typeface="Aptos"/>
                <a:cs typeface="Aptos"/>
              </a:rPr>
              <a:t>Build Verifier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57465456-EF9E-448C-8B90-4AA5EA92A89F}"/>
              </a:ext>
            </a:extLst>
          </p:cNvPr>
          <p:cNvSpPr>
            <a:spLocks noGrp="1"/>
          </p:cNvSpPr>
          <p:nvPr/>
        </p:nvSpPr>
        <p:spPr>
          <a:xfrm>
            <a:off x="9124950" y="2152650"/>
            <a:ext cx="1924050" cy="857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 i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2B2B2B"/>
                </a:solidFill>
                <a:latin typeface="Aptos"/>
                <a:ea typeface="Aptos"/>
                <a:cs typeface="Aptos"/>
              </a:rPr>
              <a:t>Runs approved validation path and captures build/test evidence.</a:t>
            </a:r>
          </a:p>
        </p:txBody>
      </p:sp>
      <p:sp>
        <p:nvSpPr>
          <p:cNvPr id="86" name="Rounded Rectangle 85">
            <a:extLst>
              <a:ext uri="{FF2B5EF4-FFF2-40B4-BE49-F238E27FC236}">
                <a16:creationId xmlns:a16="http://schemas.microsoft.com/office/drawing/2014/main" id="{713474B5-88D4-4478-94C8-2C3DE25A2ACA}"/>
              </a:ext>
            </a:extLst>
          </p:cNvPr>
          <p:cNvSpPr>
            <a:spLocks noGrp="1"/>
          </p:cNvSpPr>
          <p:nvPr/>
        </p:nvSpPr>
        <p:spPr>
          <a:xfrm>
            <a:off x="1143000" y="3676650"/>
            <a:ext cx="9906000" cy="1200150"/>
          </a:xfrm>
          <a:prstGeom prst="roundRect">
            <a:avLst>
              <a:gd name="adj" fmla="val 6349"/>
            </a:avLst>
          </a:prstGeom>
          <a:solidFill>
            <a:srgbClr val="FFFDFC"/>
          </a:solidFill>
          <a:ln w="11430">
            <a:solidFill>
              <a:srgbClr val="DED8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234B7B4F-1C00-4BFB-B601-48AD3A30CCD8}"/>
              </a:ext>
            </a:extLst>
          </p:cNvPr>
          <p:cNvSpPr>
            <a:spLocks noGrp="1"/>
          </p:cNvSpPr>
          <p:nvPr/>
        </p:nvSpPr>
        <p:spPr>
          <a:xfrm>
            <a:off x="1409700" y="3886200"/>
            <a:ext cx="1524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 i="0">
                <a:solidFill>
                  <a:srgbClr val="8C1D18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8C1D18"/>
                </a:solidFill>
                <a:latin typeface="Aptos"/>
                <a:ea typeface="Aptos"/>
                <a:cs typeface="Aptos"/>
              </a:rPr>
              <a:t>Relay context</a:t>
            </a: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A993903E-8B0B-40DB-8654-E19F94D63A8F}"/>
              </a:ext>
            </a:extLst>
          </p:cNvPr>
          <p:cNvSpPr>
            <a:spLocks noGrp="1"/>
          </p:cNvSpPr>
          <p:nvPr/>
        </p:nvSpPr>
        <p:spPr>
          <a:xfrm>
            <a:off x="2933700" y="3886200"/>
            <a:ext cx="752475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0" i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650" b="0" i="0">
                <a:solidFill>
                  <a:srgbClr val="2B2B2B"/>
                </a:solidFill>
                <a:latin typeface="Aptos"/>
                <a:ea typeface="Aptos"/>
                <a:cs typeface="Aptos"/>
              </a:rPr>
              <a:t>Questions, assumptions, decisions, implementation notes, review comments, accepted risk, and build proof are passed forward as structured evidence.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6388F796-C756-43D0-95B0-BD04D41AC529}"/>
              </a:ext>
            </a:extLst>
          </p:cNvPr>
          <p:cNvSpPr>
            <a:spLocks noGrp="1"/>
          </p:cNvSpPr>
          <p:nvPr/>
        </p:nvSpPr>
        <p:spPr>
          <a:xfrm>
            <a:off x="2933700" y="447675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 i="0">
                <a:solidFill>
                  <a:srgbClr val="2E5F8A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2E5F8A"/>
                </a:solidFill>
                <a:latin typeface="Aptos"/>
                <a:ea typeface="Aptos"/>
                <a:cs typeface="Aptos"/>
              </a:rPr>
              <a:t>This is the core improvement over ad hoc multi-agent prompting.</a:t>
            </a: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AFDC303B-5744-40D7-8C93-2A89941DF870}"/>
              </a:ext>
            </a:extLst>
          </p:cNvPr>
          <p:cNvSpPr>
            <a:spLocks noGrp="1"/>
          </p:cNvSpPr>
          <p:nvPr/>
        </p:nvSpPr>
        <p:spPr>
          <a:xfrm>
            <a:off x="1143000" y="5334000"/>
            <a:ext cx="9906000" cy="495300"/>
          </a:xfrm>
          <a:prstGeom prst="rect">
            <a:avLst/>
          </a:prstGeom>
          <a:solidFill>
            <a:srgbClr val="FFF4D6"/>
          </a:solidFill>
          <a:ln w="9525">
            <a:solidFill>
              <a:srgbClr val="E9C8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215970D5-FE53-4B0E-993E-99DC89A35DC1}"/>
              </a:ext>
            </a:extLst>
          </p:cNvPr>
          <p:cNvSpPr>
            <a:spLocks noGrp="1"/>
          </p:cNvSpPr>
          <p:nvPr/>
        </p:nvSpPr>
        <p:spPr>
          <a:xfrm>
            <a:off x="1314450" y="5429250"/>
            <a:ext cx="95631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650" b="0" i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650" b="0" i="0">
                <a:solidFill>
                  <a:srgbClr val="2B2B2B"/>
                </a:solidFill>
                <a:latin typeface="Aptos"/>
                <a:ea typeface="Aptos"/>
                <a:cs typeface="Aptos"/>
              </a:rPr>
              <a:t>Important boundary: dependency installs and write actions stay behind explicit approval paths.</a:t>
            </a:r>
          </a:p>
        </p:txBody>
      </p:sp>
    </p:spTree>
    <p:extLst>
      <p:ext uri="{BB962C8B-B14F-4D97-AF65-F5344CB8AC3E}">
        <p14:creationId xmlns:p14="http://schemas.microsoft.com/office/powerpoint/2010/main" val="10014019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Rectangle 112">
            <a:extLst>
              <a:ext uri="{FF2B5EF4-FFF2-40B4-BE49-F238E27FC236}">
                <a16:creationId xmlns:a16="http://schemas.microsoft.com/office/drawing/2014/main" id="{256B98D8-3AF9-4F8C-BC6F-F73EED4E8BF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82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5DAD115-AF29-47A2-85B4-628107FBA4C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C7463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2D11FC06-01D1-48FD-86E2-238C8205927E}"/>
              </a:ext>
            </a:extLst>
          </p:cNvPr>
          <p:cNvSpPr>
            <a:spLocks noGrp="1"/>
          </p:cNvSpPr>
          <p:nvPr/>
        </p:nvSpPr>
        <p:spPr>
          <a:xfrm>
            <a:off x="6858000" y="323850"/>
            <a:ext cx="171450" cy="28575"/>
          </a:xfrm>
          <a:prstGeom prst="roundRect">
            <a:avLst>
              <a:gd name="adj" fmla="val 50000"/>
            </a:avLst>
          </a:prstGeom>
          <a:solidFill>
            <a:srgbClr val="FFFFFF">
              <a:alpha val="6275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7568F0D7-257E-471E-9811-27182359F389}"/>
              </a:ext>
            </a:extLst>
          </p:cNvPr>
          <p:cNvSpPr>
            <a:spLocks noGrp="1"/>
          </p:cNvSpPr>
          <p:nvPr/>
        </p:nvSpPr>
        <p:spPr>
          <a:xfrm>
            <a:off x="7105650" y="361950"/>
            <a:ext cx="266700" cy="28575"/>
          </a:xfrm>
          <a:prstGeom prst="roundRect">
            <a:avLst>
              <a:gd name="adj" fmla="val 50000"/>
            </a:avLst>
          </a:prstGeom>
          <a:solidFill>
            <a:srgbClr val="FFFFFF">
              <a:alpha val="6275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51E675FA-E798-4FF0-9CF8-C683D2689090}"/>
              </a:ext>
            </a:extLst>
          </p:cNvPr>
          <p:cNvSpPr>
            <a:spLocks noGrp="1"/>
          </p:cNvSpPr>
          <p:nvPr/>
        </p:nvSpPr>
        <p:spPr>
          <a:xfrm>
            <a:off x="7353300" y="400050"/>
            <a:ext cx="361950" cy="28575"/>
          </a:xfrm>
          <a:prstGeom prst="roundRect">
            <a:avLst>
              <a:gd name="adj" fmla="val 50000"/>
            </a:avLst>
          </a:prstGeom>
          <a:solidFill>
            <a:srgbClr val="FFFFFF">
              <a:alpha val="6275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3FB6FB63-CD51-4286-9AC0-0706F81C9CAD}"/>
              </a:ext>
            </a:extLst>
          </p:cNvPr>
          <p:cNvSpPr>
            <a:spLocks noGrp="1"/>
          </p:cNvSpPr>
          <p:nvPr/>
        </p:nvSpPr>
        <p:spPr>
          <a:xfrm>
            <a:off x="7600950" y="323850"/>
            <a:ext cx="457200" cy="28575"/>
          </a:xfrm>
          <a:prstGeom prst="roundRect">
            <a:avLst>
              <a:gd name="adj" fmla="val 50000"/>
            </a:avLst>
          </a:prstGeom>
          <a:solidFill>
            <a:srgbClr val="FFFFFF">
              <a:alpha val="6275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A87C00FA-D8A3-4FB9-8014-526329CAAC45}"/>
              </a:ext>
            </a:extLst>
          </p:cNvPr>
          <p:cNvSpPr>
            <a:spLocks noGrp="1"/>
          </p:cNvSpPr>
          <p:nvPr/>
        </p:nvSpPr>
        <p:spPr>
          <a:xfrm>
            <a:off x="7848600" y="361950"/>
            <a:ext cx="552450" cy="28575"/>
          </a:xfrm>
          <a:prstGeom prst="roundRect">
            <a:avLst>
              <a:gd name="adj" fmla="val 50000"/>
            </a:avLst>
          </a:prstGeom>
          <a:solidFill>
            <a:srgbClr val="FFFFFF">
              <a:alpha val="6275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5DD3555F-8C32-4D34-BD41-93BD307D1687}"/>
              </a:ext>
            </a:extLst>
          </p:cNvPr>
          <p:cNvSpPr>
            <a:spLocks noGrp="1"/>
          </p:cNvSpPr>
          <p:nvPr/>
        </p:nvSpPr>
        <p:spPr>
          <a:xfrm>
            <a:off x="8096250" y="400050"/>
            <a:ext cx="171450" cy="28575"/>
          </a:xfrm>
          <a:prstGeom prst="roundRect">
            <a:avLst>
              <a:gd name="adj" fmla="val 50000"/>
            </a:avLst>
          </a:prstGeom>
          <a:solidFill>
            <a:srgbClr val="FFFFFF">
              <a:alpha val="6275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D1978181-0FFE-4633-8763-EC378C05912E}"/>
              </a:ext>
            </a:extLst>
          </p:cNvPr>
          <p:cNvSpPr>
            <a:spLocks noGrp="1"/>
          </p:cNvSpPr>
          <p:nvPr/>
        </p:nvSpPr>
        <p:spPr>
          <a:xfrm>
            <a:off x="8343900" y="323850"/>
            <a:ext cx="266700" cy="28575"/>
          </a:xfrm>
          <a:prstGeom prst="roundRect">
            <a:avLst>
              <a:gd name="adj" fmla="val 50000"/>
            </a:avLst>
          </a:prstGeom>
          <a:solidFill>
            <a:srgbClr val="FFFFFF">
              <a:alpha val="6275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60C124CC-7AB3-419A-9162-7B77207597D0}"/>
              </a:ext>
            </a:extLst>
          </p:cNvPr>
          <p:cNvSpPr>
            <a:spLocks noGrp="1"/>
          </p:cNvSpPr>
          <p:nvPr/>
        </p:nvSpPr>
        <p:spPr>
          <a:xfrm>
            <a:off x="8591550" y="361950"/>
            <a:ext cx="361950" cy="28575"/>
          </a:xfrm>
          <a:prstGeom prst="roundRect">
            <a:avLst>
              <a:gd name="adj" fmla="val 50000"/>
            </a:avLst>
          </a:prstGeom>
          <a:solidFill>
            <a:srgbClr val="FFFFFF">
              <a:alpha val="6275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01CDD5EA-6500-4DE6-B240-EE9428A59C85}"/>
              </a:ext>
            </a:extLst>
          </p:cNvPr>
          <p:cNvSpPr>
            <a:spLocks noGrp="1"/>
          </p:cNvSpPr>
          <p:nvPr/>
        </p:nvSpPr>
        <p:spPr>
          <a:xfrm>
            <a:off x="8839200" y="400050"/>
            <a:ext cx="457200" cy="28575"/>
          </a:xfrm>
          <a:prstGeom prst="roundRect">
            <a:avLst>
              <a:gd name="adj" fmla="val 50000"/>
            </a:avLst>
          </a:prstGeom>
          <a:solidFill>
            <a:srgbClr val="FFFFFF">
              <a:alpha val="6275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DBE22F7A-854B-4CBF-A1E7-AA63829AB94F}"/>
              </a:ext>
            </a:extLst>
          </p:cNvPr>
          <p:cNvSpPr>
            <a:spLocks noGrp="1"/>
          </p:cNvSpPr>
          <p:nvPr/>
        </p:nvSpPr>
        <p:spPr>
          <a:xfrm>
            <a:off x="9086850" y="323850"/>
            <a:ext cx="552450" cy="28575"/>
          </a:xfrm>
          <a:prstGeom prst="roundRect">
            <a:avLst>
              <a:gd name="adj" fmla="val 50000"/>
            </a:avLst>
          </a:prstGeom>
          <a:solidFill>
            <a:srgbClr val="FFFFFF">
              <a:alpha val="6275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A3BA63EB-A184-4C14-A9D2-97B6877807B5}"/>
              </a:ext>
            </a:extLst>
          </p:cNvPr>
          <p:cNvSpPr>
            <a:spLocks noGrp="1"/>
          </p:cNvSpPr>
          <p:nvPr/>
        </p:nvSpPr>
        <p:spPr>
          <a:xfrm>
            <a:off x="9334500" y="361950"/>
            <a:ext cx="171450" cy="28575"/>
          </a:xfrm>
          <a:prstGeom prst="roundRect">
            <a:avLst>
              <a:gd name="adj" fmla="val 50000"/>
            </a:avLst>
          </a:prstGeom>
          <a:solidFill>
            <a:srgbClr val="FFFFFF">
              <a:alpha val="6275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F1B1FB73-F609-48FE-BD98-B6BB756ED8F6}"/>
              </a:ext>
            </a:extLst>
          </p:cNvPr>
          <p:cNvSpPr>
            <a:spLocks noGrp="1"/>
          </p:cNvSpPr>
          <p:nvPr/>
        </p:nvSpPr>
        <p:spPr>
          <a:xfrm>
            <a:off x="9582150" y="400050"/>
            <a:ext cx="266700" cy="28575"/>
          </a:xfrm>
          <a:prstGeom prst="roundRect">
            <a:avLst>
              <a:gd name="adj" fmla="val 50000"/>
            </a:avLst>
          </a:prstGeom>
          <a:solidFill>
            <a:srgbClr val="FFFFFF">
              <a:alpha val="6275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258E3AB1-AB6C-417D-BF41-95C077BD39BF}"/>
              </a:ext>
            </a:extLst>
          </p:cNvPr>
          <p:cNvSpPr>
            <a:spLocks noGrp="1"/>
          </p:cNvSpPr>
          <p:nvPr/>
        </p:nvSpPr>
        <p:spPr>
          <a:xfrm>
            <a:off x="9829800" y="323850"/>
            <a:ext cx="361950" cy="28575"/>
          </a:xfrm>
          <a:prstGeom prst="roundRect">
            <a:avLst>
              <a:gd name="adj" fmla="val 50000"/>
            </a:avLst>
          </a:prstGeom>
          <a:solidFill>
            <a:srgbClr val="FFFFFF">
              <a:alpha val="6275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846D630E-294B-4159-B1E6-345C59D70127}"/>
              </a:ext>
            </a:extLst>
          </p:cNvPr>
          <p:cNvSpPr>
            <a:spLocks noGrp="1"/>
          </p:cNvSpPr>
          <p:nvPr/>
        </p:nvSpPr>
        <p:spPr>
          <a:xfrm>
            <a:off x="10077450" y="361950"/>
            <a:ext cx="457200" cy="28575"/>
          </a:xfrm>
          <a:prstGeom prst="roundRect">
            <a:avLst>
              <a:gd name="adj" fmla="val 50000"/>
            </a:avLst>
          </a:prstGeom>
          <a:solidFill>
            <a:srgbClr val="FFFFFF">
              <a:alpha val="6275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A11DCF92-DB52-4E14-90ED-D7098C8D69D4}"/>
              </a:ext>
            </a:extLst>
          </p:cNvPr>
          <p:cNvSpPr>
            <a:spLocks noGrp="1"/>
          </p:cNvSpPr>
          <p:nvPr/>
        </p:nvSpPr>
        <p:spPr>
          <a:xfrm>
            <a:off x="10325100" y="400050"/>
            <a:ext cx="552450" cy="28575"/>
          </a:xfrm>
          <a:prstGeom prst="roundRect">
            <a:avLst>
              <a:gd name="adj" fmla="val 50000"/>
            </a:avLst>
          </a:prstGeom>
          <a:solidFill>
            <a:srgbClr val="FFFFFF">
              <a:alpha val="6275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22FFC3F8-D797-495C-BED7-9D277B383FF6}"/>
              </a:ext>
            </a:extLst>
          </p:cNvPr>
          <p:cNvSpPr>
            <a:spLocks noGrp="1"/>
          </p:cNvSpPr>
          <p:nvPr/>
        </p:nvSpPr>
        <p:spPr>
          <a:xfrm>
            <a:off x="10572750" y="323850"/>
            <a:ext cx="171450" cy="28575"/>
          </a:xfrm>
          <a:prstGeom prst="roundRect">
            <a:avLst>
              <a:gd name="adj" fmla="val 50000"/>
            </a:avLst>
          </a:prstGeom>
          <a:solidFill>
            <a:srgbClr val="FFFFFF">
              <a:alpha val="6275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CB3EDF5E-FEFB-4814-868E-072E3F97F9EC}"/>
              </a:ext>
            </a:extLst>
          </p:cNvPr>
          <p:cNvSpPr>
            <a:spLocks noGrp="1"/>
          </p:cNvSpPr>
          <p:nvPr/>
        </p:nvSpPr>
        <p:spPr>
          <a:xfrm>
            <a:off x="6972300" y="552450"/>
            <a:ext cx="266700" cy="28575"/>
          </a:xfrm>
          <a:prstGeom prst="roundRect">
            <a:avLst>
              <a:gd name="adj" fmla="val 50000"/>
            </a:avLst>
          </a:prstGeom>
          <a:solidFill>
            <a:srgbClr val="FFFFFF">
              <a:alpha val="6275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19A1D8F5-AFD3-47A5-BA4C-FE34DC745B5F}"/>
              </a:ext>
            </a:extLst>
          </p:cNvPr>
          <p:cNvSpPr>
            <a:spLocks noGrp="1"/>
          </p:cNvSpPr>
          <p:nvPr/>
        </p:nvSpPr>
        <p:spPr>
          <a:xfrm>
            <a:off x="7219950" y="590550"/>
            <a:ext cx="361950" cy="28575"/>
          </a:xfrm>
          <a:prstGeom prst="roundRect">
            <a:avLst>
              <a:gd name="adj" fmla="val 50000"/>
            </a:avLst>
          </a:prstGeom>
          <a:solidFill>
            <a:srgbClr val="FFFFFF">
              <a:alpha val="6275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8A1F3F84-F2CB-4A82-93B4-92AC9AF0DEA0}"/>
              </a:ext>
            </a:extLst>
          </p:cNvPr>
          <p:cNvSpPr>
            <a:spLocks noGrp="1"/>
          </p:cNvSpPr>
          <p:nvPr/>
        </p:nvSpPr>
        <p:spPr>
          <a:xfrm>
            <a:off x="7467600" y="628650"/>
            <a:ext cx="457200" cy="28575"/>
          </a:xfrm>
          <a:prstGeom prst="roundRect">
            <a:avLst>
              <a:gd name="adj" fmla="val 50000"/>
            </a:avLst>
          </a:prstGeom>
          <a:solidFill>
            <a:srgbClr val="FFFFFF">
              <a:alpha val="6275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EBE37489-D3E5-4460-B706-92E99BF41F7E}"/>
              </a:ext>
            </a:extLst>
          </p:cNvPr>
          <p:cNvSpPr>
            <a:spLocks noGrp="1"/>
          </p:cNvSpPr>
          <p:nvPr/>
        </p:nvSpPr>
        <p:spPr>
          <a:xfrm>
            <a:off x="7715250" y="552450"/>
            <a:ext cx="552450" cy="28575"/>
          </a:xfrm>
          <a:prstGeom prst="roundRect">
            <a:avLst>
              <a:gd name="adj" fmla="val 50000"/>
            </a:avLst>
          </a:prstGeom>
          <a:solidFill>
            <a:srgbClr val="FFFFFF">
              <a:alpha val="6275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D3EE81C7-251D-4B8A-BA14-F69335CC1C6C}"/>
              </a:ext>
            </a:extLst>
          </p:cNvPr>
          <p:cNvSpPr>
            <a:spLocks noGrp="1"/>
          </p:cNvSpPr>
          <p:nvPr/>
        </p:nvSpPr>
        <p:spPr>
          <a:xfrm>
            <a:off x="7962900" y="590550"/>
            <a:ext cx="171450" cy="28575"/>
          </a:xfrm>
          <a:prstGeom prst="roundRect">
            <a:avLst>
              <a:gd name="adj" fmla="val 50000"/>
            </a:avLst>
          </a:prstGeom>
          <a:solidFill>
            <a:srgbClr val="FFFFFF">
              <a:alpha val="6275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F327443E-5531-4E3D-88D1-F5AB215E5AD4}"/>
              </a:ext>
            </a:extLst>
          </p:cNvPr>
          <p:cNvSpPr>
            <a:spLocks noGrp="1"/>
          </p:cNvSpPr>
          <p:nvPr/>
        </p:nvSpPr>
        <p:spPr>
          <a:xfrm>
            <a:off x="8210550" y="628650"/>
            <a:ext cx="266700" cy="28575"/>
          </a:xfrm>
          <a:prstGeom prst="roundRect">
            <a:avLst>
              <a:gd name="adj" fmla="val 50000"/>
            </a:avLst>
          </a:prstGeom>
          <a:solidFill>
            <a:srgbClr val="FFFFFF">
              <a:alpha val="6275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A6A4820B-181B-406A-8E1B-E89883FFC2C0}"/>
              </a:ext>
            </a:extLst>
          </p:cNvPr>
          <p:cNvSpPr>
            <a:spLocks noGrp="1"/>
          </p:cNvSpPr>
          <p:nvPr/>
        </p:nvSpPr>
        <p:spPr>
          <a:xfrm>
            <a:off x="8458200" y="552450"/>
            <a:ext cx="361950" cy="28575"/>
          </a:xfrm>
          <a:prstGeom prst="roundRect">
            <a:avLst>
              <a:gd name="adj" fmla="val 50000"/>
            </a:avLst>
          </a:prstGeom>
          <a:solidFill>
            <a:srgbClr val="FFFFFF">
              <a:alpha val="6275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B088A286-C8AC-47CB-AF79-D71354B010AA}"/>
              </a:ext>
            </a:extLst>
          </p:cNvPr>
          <p:cNvSpPr>
            <a:spLocks noGrp="1"/>
          </p:cNvSpPr>
          <p:nvPr/>
        </p:nvSpPr>
        <p:spPr>
          <a:xfrm>
            <a:off x="8705850" y="590550"/>
            <a:ext cx="457200" cy="28575"/>
          </a:xfrm>
          <a:prstGeom prst="roundRect">
            <a:avLst>
              <a:gd name="adj" fmla="val 50000"/>
            </a:avLst>
          </a:prstGeom>
          <a:solidFill>
            <a:srgbClr val="FFFFFF">
              <a:alpha val="6275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7FAB3213-619F-4640-B053-758142A8A6D1}"/>
              </a:ext>
            </a:extLst>
          </p:cNvPr>
          <p:cNvSpPr>
            <a:spLocks noGrp="1"/>
          </p:cNvSpPr>
          <p:nvPr/>
        </p:nvSpPr>
        <p:spPr>
          <a:xfrm>
            <a:off x="8953500" y="628650"/>
            <a:ext cx="552450" cy="28575"/>
          </a:xfrm>
          <a:prstGeom prst="roundRect">
            <a:avLst>
              <a:gd name="adj" fmla="val 50000"/>
            </a:avLst>
          </a:prstGeom>
          <a:solidFill>
            <a:srgbClr val="FFFFFF">
              <a:alpha val="6275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852BD816-87FC-4E4C-ABC6-FEF6358BD1E9}"/>
              </a:ext>
            </a:extLst>
          </p:cNvPr>
          <p:cNvSpPr>
            <a:spLocks noGrp="1"/>
          </p:cNvSpPr>
          <p:nvPr/>
        </p:nvSpPr>
        <p:spPr>
          <a:xfrm>
            <a:off x="9201150" y="552450"/>
            <a:ext cx="171450" cy="28575"/>
          </a:xfrm>
          <a:prstGeom prst="roundRect">
            <a:avLst>
              <a:gd name="adj" fmla="val 50000"/>
            </a:avLst>
          </a:prstGeom>
          <a:solidFill>
            <a:srgbClr val="FFFFFF">
              <a:alpha val="6275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97A988EF-2400-4718-ACDD-7ADDBB3E10E8}"/>
              </a:ext>
            </a:extLst>
          </p:cNvPr>
          <p:cNvSpPr>
            <a:spLocks noGrp="1"/>
          </p:cNvSpPr>
          <p:nvPr/>
        </p:nvSpPr>
        <p:spPr>
          <a:xfrm>
            <a:off x="9448800" y="590550"/>
            <a:ext cx="266700" cy="28575"/>
          </a:xfrm>
          <a:prstGeom prst="roundRect">
            <a:avLst>
              <a:gd name="adj" fmla="val 50000"/>
            </a:avLst>
          </a:prstGeom>
          <a:solidFill>
            <a:srgbClr val="FFFFFF">
              <a:alpha val="6275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FBE3D9EA-31DD-4CCE-839D-DBDD2D4520AF}"/>
              </a:ext>
            </a:extLst>
          </p:cNvPr>
          <p:cNvSpPr>
            <a:spLocks noGrp="1"/>
          </p:cNvSpPr>
          <p:nvPr/>
        </p:nvSpPr>
        <p:spPr>
          <a:xfrm>
            <a:off x="9696450" y="628650"/>
            <a:ext cx="361950" cy="28575"/>
          </a:xfrm>
          <a:prstGeom prst="roundRect">
            <a:avLst>
              <a:gd name="adj" fmla="val 50000"/>
            </a:avLst>
          </a:prstGeom>
          <a:solidFill>
            <a:srgbClr val="FFFFFF">
              <a:alpha val="6275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63D71CCF-178A-413E-A69A-E201FDD1E1BA}"/>
              </a:ext>
            </a:extLst>
          </p:cNvPr>
          <p:cNvSpPr>
            <a:spLocks noGrp="1"/>
          </p:cNvSpPr>
          <p:nvPr/>
        </p:nvSpPr>
        <p:spPr>
          <a:xfrm>
            <a:off x="9944100" y="552450"/>
            <a:ext cx="457200" cy="28575"/>
          </a:xfrm>
          <a:prstGeom prst="roundRect">
            <a:avLst>
              <a:gd name="adj" fmla="val 50000"/>
            </a:avLst>
          </a:prstGeom>
          <a:solidFill>
            <a:srgbClr val="FFFFFF">
              <a:alpha val="6275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F8ED5F58-B90C-407B-8DD8-E0047E880FC8}"/>
              </a:ext>
            </a:extLst>
          </p:cNvPr>
          <p:cNvSpPr>
            <a:spLocks noGrp="1"/>
          </p:cNvSpPr>
          <p:nvPr/>
        </p:nvSpPr>
        <p:spPr>
          <a:xfrm>
            <a:off x="10191750" y="590550"/>
            <a:ext cx="552450" cy="28575"/>
          </a:xfrm>
          <a:prstGeom prst="roundRect">
            <a:avLst>
              <a:gd name="adj" fmla="val 50000"/>
            </a:avLst>
          </a:prstGeom>
          <a:solidFill>
            <a:srgbClr val="FFFFFF">
              <a:alpha val="6275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F13C8E54-7019-43CC-8980-C190E16BF5C2}"/>
              </a:ext>
            </a:extLst>
          </p:cNvPr>
          <p:cNvSpPr>
            <a:spLocks noGrp="1"/>
          </p:cNvSpPr>
          <p:nvPr/>
        </p:nvSpPr>
        <p:spPr>
          <a:xfrm>
            <a:off x="10439400" y="628650"/>
            <a:ext cx="171450" cy="28575"/>
          </a:xfrm>
          <a:prstGeom prst="roundRect">
            <a:avLst>
              <a:gd name="adj" fmla="val 50000"/>
            </a:avLst>
          </a:prstGeom>
          <a:solidFill>
            <a:srgbClr val="FFFFFF">
              <a:alpha val="6275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8EC424DC-85B7-47EB-BF60-EFFCC0A0F8D1}"/>
              </a:ext>
            </a:extLst>
          </p:cNvPr>
          <p:cNvSpPr>
            <a:spLocks noGrp="1"/>
          </p:cNvSpPr>
          <p:nvPr/>
        </p:nvSpPr>
        <p:spPr>
          <a:xfrm>
            <a:off x="10687050" y="552450"/>
            <a:ext cx="266700" cy="28575"/>
          </a:xfrm>
          <a:prstGeom prst="roundRect">
            <a:avLst>
              <a:gd name="adj" fmla="val 50000"/>
            </a:avLst>
          </a:prstGeom>
          <a:solidFill>
            <a:srgbClr val="FFFFFF">
              <a:alpha val="6275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935C3B3F-C943-4C16-BD76-EC7DE7D3FAE1}"/>
              </a:ext>
            </a:extLst>
          </p:cNvPr>
          <p:cNvSpPr>
            <a:spLocks noGrp="1"/>
          </p:cNvSpPr>
          <p:nvPr/>
        </p:nvSpPr>
        <p:spPr>
          <a:xfrm>
            <a:off x="6858000" y="781050"/>
            <a:ext cx="361950" cy="28575"/>
          </a:xfrm>
          <a:prstGeom prst="roundRect">
            <a:avLst>
              <a:gd name="adj" fmla="val 50000"/>
            </a:avLst>
          </a:prstGeom>
          <a:solidFill>
            <a:srgbClr val="FFFFFF">
              <a:alpha val="6275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0AF841DB-B02D-462A-89C9-7456343031AC}"/>
              </a:ext>
            </a:extLst>
          </p:cNvPr>
          <p:cNvSpPr>
            <a:spLocks noGrp="1"/>
          </p:cNvSpPr>
          <p:nvPr/>
        </p:nvSpPr>
        <p:spPr>
          <a:xfrm>
            <a:off x="7105650" y="819150"/>
            <a:ext cx="457200" cy="28575"/>
          </a:xfrm>
          <a:prstGeom prst="roundRect">
            <a:avLst>
              <a:gd name="adj" fmla="val 50000"/>
            </a:avLst>
          </a:prstGeom>
          <a:solidFill>
            <a:srgbClr val="FFFFFF">
              <a:alpha val="6275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8AE68A59-B8D1-4AA1-86E8-BFC704E9E27F}"/>
              </a:ext>
            </a:extLst>
          </p:cNvPr>
          <p:cNvSpPr>
            <a:spLocks noGrp="1"/>
          </p:cNvSpPr>
          <p:nvPr/>
        </p:nvSpPr>
        <p:spPr>
          <a:xfrm>
            <a:off x="7353300" y="857250"/>
            <a:ext cx="552450" cy="28575"/>
          </a:xfrm>
          <a:prstGeom prst="roundRect">
            <a:avLst>
              <a:gd name="adj" fmla="val 50000"/>
            </a:avLst>
          </a:prstGeom>
          <a:solidFill>
            <a:srgbClr val="FFFFFF">
              <a:alpha val="6275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D586B66F-E167-4420-B4DA-8EB908ED0B09}"/>
              </a:ext>
            </a:extLst>
          </p:cNvPr>
          <p:cNvSpPr>
            <a:spLocks noGrp="1"/>
          </p:cNvSpPr>
          <p:nvPr/>
        </p:nvSpPr>
        <p:spPr>
          <a:xfrm>
            <a:off x="7600950" y="781050"/>
            <a:ext cx="171450" cy="28575"/>
          </a:xfrm>
          <a:prstGeom prst="roundRect">
            <a:avLst>
              <a:gd name="adj" fmla="val 50000"/>
            </a:avLst>
          </a:prstGeom>
          <a:solidFill>
            <a:srgbClr val="FFFFFF">
              <a:alpha val="6275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5A5205DF-28E5-4C5C-AEC1-0A5F0C971E61}"/>
              </a:ext>
            </a:extLst>
          </p:cNvPr>
          <p:cNvSpPr>
            <a:spLocks noGrp="1"/>
          </p:cNvSpPr>
          <p:nvPr/>
        </p:nvSpPr>
        <p:spPr>
          <a:xfrm>
            <a:off x="7848600" y="819150"/>
            <a:ext cx="266700" cy="28575"/>
          </a:xfrm>
          <a:prstGeom prst="roundRect">
            <a:avLst>
              <a:gd name="adj" fmla="val 50000"/>
            </a:avLst>
          </a:prstGeom>
          <a:solidFill>
            <a:srgbClr val="FFFFFF">
              <a:alpha val="6275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1B31817E-6F78-4E16-95B6-67FE5126DFB6}"/>
              </a:ext>
            </a:extLst>
          </p:cNvPr>
          <p:cNvSpPr>
            <a:spLocks noGrp="1"/>
          </p:cNvSpPr>
          <p:nvPr/>
        </p:nvSpPr>
        <p:spPr>
          <a:xfrm>
            <a:off x="8096250" y="857250"/>
            <a:ext cx="361950" cy="28575"/>
          </a:xfrm>
          <a:prstGeom prst="roundRect">
            <a:avLst>
              <a:gd name="adj" fmla="val 50000"/>
            </a:avLst>
          </a:prstGeom>
          <a:solidFill>
            <a:srgbClr val="FFFFFF">
              <a:alpha val="6275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07A1B5CE-FC4D-4671-B68C-0FC250F411EB}"/>
              </a:ext>
            </a:extLst>
          </p:cNvPr>
          <p:cNvSpPr>
            <a:spLocks noGrp="1"/>
          </p:cNvSpPr>
          <p:nvPr/>
        </p:nvSpPr>
        <p:spPr>
          <a:xfrm>
            <a:off x="8343900" y="781050"/>
            <a:ext cx="457200" cy="28575"/>
          </a:xfrm>
          <a:prstGeom prst="roundRect">
            <a:avLst>
              <a:gd name="adj" fmla="val 50000"/>
            </a:avLst>
          </a:prstGeom>
          <a:solidFill>
            <a:srgbClr val="FFFFFF">
              <a:alpha val="6275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9FF0C2A4-7AD3-44F2-BDE6-E90FE05CA82F}"/>
              </a:ext>
            </a:extLst>
          </p:cNvPr>
          <p:cNvSpPr>
            <a:spLocks noGrp="1"/>
          </p:cNvSpPr>
          <p:nvPr/>
        </p:nvSpPr>
        <p:spPr>
          <a:xfrm>
            <a:off x="8591550" y="819150"/>
            <a:ext cx="552450" cy="28575"/>
          </a:xfrm>
          <a:prstGeom prst="roundRect">
            <a:avLst>
              <a:gd name="adj" fmla="val 50000"/>
            </a:avLst>
          </a:prstGeom>
          <a:solidFill>
            <a:srgbClr val="FFFFFF">
              <a:alpha val="6275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D6ED8B6F-EC21-4975-80D1-C07F566E0410}"/>
              </a:ext>
            </a:extLst>
          </p:cNvPr>
          <p:cNvSpPr>
            <a:spLocks noGrp="1"/>
          </p:cNvSpPr>
          <p:nvPr/>
        </p:nvSpPr>
        <p:spPr>
          <a:xfrm>
            <a:off x="8839200" y="857250"/>
            <a:ext cx="171450" cy="28575"/>
          </a:xfrm>
          <a:prstGeom prst="roundRect">
            <a:avLst>
              <a:gd name="adj" fmla="val 50000"/>
            </a:avLst>
          </a:prstGeom>
          <a:solidFill>
            <a:srgbClr val="FFFFFF">
              <a:alpha val="6275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E21F5A31-37B3-42FC-AE95-6A15391B7452}"/>
              </a:ext>
            </a:extLst>
          </p:cNvPr>
          <p:cNvSpPr>
            <a:spLocks noGrp="1"/>
          </p:cNvSpPr>
          <p:nvPr/>
        </p:nvSpPr>
        <p:spPr>
          <a:xfrm>
            <a:off x="9086850" y="781050"/>
            <a:ext cx="266700" cy="28575"/>
          </a:xfrm>
          <a:prstGeom prst="roundRect">
            <a:avLst>
              <a:gd name="adj" fmla="val 50000"/>
            </a:avLst>
          </a:prstGeom>
          <a:solidFill>
            <a:srgbClr val="FFFFFF">
              <a:alpha val="6275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Rounded Rectangle 44">
            <a:extLst>
              <a:ext uri="{FF2B5EF4-FFF2-40B4-BE49-F238E27FC236}">
                <a16:creationId xmlns:a16="http://schemas.microsoft.com/office/drawing/2014/main" id="{8218A35B-7BAE-4763-A09D-2CBF71E67A03}"/>
              </a:ext>
            </a:extLst>
          </p:cNvPr>
          <p:cNvSpPr>
            <a:spLocks noGrp="1"/>
          </p:cNvSpPr>
          <p:nvPr/>
        </p:nvSpPr>
        <p:spPr>
          <a:xfrm>
            <a:off x="9334500" y="819150"/>
            <a:ext cx="361950" cy="28575"/>
          </a:xfrm>
          <a:prstGeom prst="roundRect">
            <a:avLst>
              <a:gd name="adj" fmla="val 50000"/>
            </a:avLst>
          </a:prstGeom>
          <a:solidFill>
            <a:srgbClr val="FFFFFF">
              <a:alpha val="6275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Rounded Rectangle 45">
            <a:extLst>
              <a:ext uri="{FF2B5EF4-FFF2-40B4-BE49-F238E27FC236}">
                <a16:creationId xmlns:a16="http://schemas.microsoft.com/office/drawing/2014/main" id="{F05B9F3F-A13F-41D3-AF89-184B0E0A541D}"/>
              </a:ext>
            </a:extLst>
          </p:cNvPr>
          <p:cNvSpPr>
            <a:spLocks noGrp="1"/>
          </p:cNvSpPr>
          <p:nvPr/>
        </p:nvSpPr>
        <p:spPr>
          <a:xfrm>
            <a:off x="9582150" y="857250"/>
            <a:ext cx="457200" cy="28575"/>
          </a:xfrm>
          <a:prstGeom prst="roundRect">
            <a:avLst>
              <a:gd name="adj" fmla="val 50000"/>
            </a:avLst>
          </a:prstGeom>
          <a:solidFill>
            <a:srgbClr val="FFFFFF">
              <a:alpha val="6275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Rounded Rectangle 46">
            <a:extLst>
              <a:ext uri="{FF2B5EF4-FFF2-40B4-BE49-F238E27FC236}">
                <a16:creationId xmlns:a16="http://schemas.microsoft.com/office/drawing/2014/main" id="{548782B4-25B2-4572-9377-F4789EEB32B8}"/>
              </a:ext>
            </a:extLst>
          </p:cNvPr>
          <p:cNvSpPr>
            <a:spLocks noGrp="1"/>
          </p:cNvSpPr>
          <p:nvPr/>
        </p:nvSpPr>
        <p:spPr>
          <a:xfrm>
            <a:off x="9829800" y="781050"/>
            <a:ext cx="552450" cy="28575"/>
          </a:xfrm>
          <a:prstGeom prst="roundRect">
            <a:avLst>
              <a:gd name="adj" fmla="val 50000"/>
            </a:avLst>
          </a:prstGeom>
          <a:solidFill>
            <a:srgbClr val="FFFFFF">
              <a:alpha val="6275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Rounded Rectangle 47">
            <a:extLst>
              <a:ext uri="{FF2B5EF4-FFF2-40B4-BE49-F238E27FC236}">
                <a16:creationId xmlns:a16="http://schemas.microsoft.com/office/drawing/2014/main" id="{E003E1AD-F176-4DE2-942C-A7CC401B5A6F}"/>
              </a:ext>
            </a:extLst>
          </p:cNvPr>
          <p:cNvSpPr>
            <a:spLocks noGrp="1"/>
          </p:cNvSpPr>
          <p:nvPr/>
        </p:nvSpPr>
        <p:spPr>
          <a:xfrm>
            <a:off x="10077450" y="819150"/>
            <a:ext cx="171450" cy="28575"/>
          </a:xfrm>
          <a:prstGeom prst="roundRect">
            <a:avLst>
              <a:gd name="adj" fmla="val 50000"/>
            </a:avLst>
          </a:prstGeom>
          <a:solidFill>
            <a:srgbClr val="FFFFFF">
              <a:alpha val="6275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Rounded Rectangle 48">
            <a:extLst>
              <a:ext uri="{FF2B5EF4-FFF2-40B4-BE49-F238E27FC236}">
                <a16:creationId xmlns:a16="http://schemas.microsoft.com/office/drawing/2014/main" id="{FBAE85A3-4993-4154-966A-7931B798DBC3}"/>
              </a:ext>
            </a:extLst>
          </p:cNvPr>
          <p:cNvSpPr>
            <a:spLocks noGrp="1"/>
          </p:cNvSpPr>
          <p:nvPr/>
        </p:nvSpPr>
        <p:spPr>
          <a:xfrm>
            <a:off x="10325100" y="857250"/>
            <a:ext cx="266700" cy="28575"/>
          </a:xfrm>
          <a:prstGeom prst="roundRect">
            <a:avLst>
              <a:gd name="adj" fmla="val 50000"/>
            </a:avLst>
          </a:prstGeom>
          <a:solidFill>
            <a:srgbClr val="FFFFFF">
              <a:alpha val="6275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Rounded Rectangle 49">
            <a:extLst>
              <a:ext uri="{FF2B5EF4-FFF2-40B4-BE49-F238E27FC236}">
                <a16:creationId xmlns:a16="http://schemas.microsoft.com/office/drawing/2014/main" id="{0761502E-2C90-4601-B135-37CD6436F5E6}"/>
              </a:ext>
            </a:extLst>
          </p:cNvPr>
          <p:cNvSpPr>
            <a:spLocks noGrp="1"/>
          </p:cNvSpPr>
          <p:nvPr/>
        </p:nvSpPr>
        <p:spPr>
          <a:xfrm>
            <a:off x="10572750" y="781050"/>
            <a:ext cx="361950" cy="28575"/>
          </a:xfrm>
          <a:prstGeom prst="roundRect">
            <a:avLst>
              <a:gd name="adj" fmla="val 50000"/>
            </a:avLst>
          </a:prstGeom>
          <a:solidFill>
            <a:srgbClr val="FFFFFF">
              <a:alpha val="6275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Rounded Rectangle 50">
            <a:extLst>
              <a:ext uri="{FF2B5EF4-FFF2-40B4-BE49-F238E27FC236}">
                <a16:creationId xmlns:a16="http://schemas.microsoft.com/office/drawing/2014/main" id="{A550E0E0-52FD-4BD2-9338-3BB6D826BB7D}"/>
              </a:ext>
            </a:extLst>
          </p:cNvPr>
          <p:cNvSpPr>
            <a:spLocks noGrp="1"/>
          </p:cNvSpPr>
          <p:nvPr/>
        </p:nvSpPr>
        <p:spPr>
          <a:xfrm>
            <a:off x="6972300" y="1009650"/>
            <a:ext cx="457200" cy="28575"/>
          </a:xfrm>
          <a:prstGeom prst="roundRect">
            <a:avLst>
              <a:gd name="adj" fmla="val 50000"/>
            </a:avLst>
          </a:prstGeom>
          <a:solidFill>
            <a:srgbClr val="FFFFFF">
              <a:alpha val="6275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Rounded Rectangle 51">
            <a:extLst>
              <a:ext uri="{FF2B5EF4-FFF2-40B4-BE49-F238E27FC236}">
                <a16:creationId xmlns:a16="http://schemas.microsoft.com/office/drawing/2014/main" id="{BA71B2C0-8BBB-4009-9E06-6384266F87FC}"/>
              </a:ext>
            </a:extLst>
          </p:cNvPr>
          <p:cNvSpPr>
            <a:spLocks noGrp="1"/>
          </p:cNvSpPr>
          <p:nvPr/>
        </p:nvSpPr>
        <p:spPr>
          <a:xfrm>
            <a:off x="7219950" y="1047750"/>
            <a:ext cx="552450" cy="28575"/>
          </a:xfrm>
          <a:prstGeom prst="roundRect">
            <a:avLst>
              <a:gd name="adj" fmla="val 50000"/>
            </a:avLst>
          </a:prstGeom>
          <a:solidFill>
            <a:srgbClr val="FFFFFF">
              <a:alpha val="6275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Rounded Rectangle 52">
            <a:extLst>
              <a:ext uri="{FF2B5EF4-FFF2-40B4-BE49-F238E27FC236}">
                <a16:creationId xmlns:a16="http://schemas.microsoft.com/office/drawing/2014/main" id="{972FDD7E-C452-4103-897C-77DEC4A4A863}"/>
              </a:ext>
            </a:extLst>
          </p:cNvPr>
          <p:cNvSpPr>
            <a:spLocks noGrp="1"/>
          </p:cNvSpPr>
          <p:nvPr/>
        </p:nvSpPr>
        <p:spPr>
          <a:xfrm>
            <a:off x="7467600" y="1085850"/>
            <a:ext cx="171450" cy="28575"/>
          </a:xfrm>
          <a:prstGeom prst="roundRect">
            <a:avLst>
              <a:gd name="adj" fmla="val 50000"/>
            </a:avLst>
          </a:prstGeom>
          <a:solidFill>
            <a:srgbClr val="FFFFFF">
              <a:alpha val="6275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Rounded Rectangle 53">
            <a:extLst>
              <a:ext uri="{FF2B5EF4-FFF2-40B4-BE49-F238E27FC236}">
                <a16:creationId xmlns:a16="http://schemas.microsoft.com/office/drawing/2014/main" id="{5DBFD049-5804-4FE1-A8AC-1A76419C8DB1}"/>
              </a:ext>
            </a:extLst>
          </p:cNvPr>
          <p:cNvSpPr>
            <a:spLocks noGrp="1"/>
          </p:cNvSpPr>
          <p:nvPr/>
        </p:nvSpPr>
        <p:spPr>
          <a:xfrm>
            <a:off x="7715250" y="1009650"/>
            <a:ext cx="266700" cy="28575"/>
          </a:xfrm>
          <a:prstGeom prst="roundRect">
            <a:avLst>
              <a:gd name="adj" fmla="val 50000"/>
            </a:avLst>
          </a:prstGeom>
          <a:solidFill>
            <a:srgbClr val="FFFFFF">
              <a:alpha val="6275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Rounded Rectangle 54">
            <a:extLst>
              <a:ext uri="{FF2B5EF4-FFF2-40B4-BE49-F238E27FC236}">
                <a16:creationId xmlns:a16="http://schemas.microsoft.com/office/drawing/2014/main" id="{EC883BF7-99E9-4F13-B8EF-9ABB87A5429E}"/>
              </a:ext>
            </a:extLst>
          </p:cNvPr>
          <p:cNvSpPr>
            <a:spLocks noGrp="1"/>
          </p:cNvSpPr>
          <p:nvPr/>
        </p:nvSpPr>
        <p:spPr>
          <a:xfrm>
            <a:off x="7962900" y="1047750"/>
            <a:ext cx="361950" cy="28575"/>
          </a:xfrm>
          <a:prstGeom prst="roundRect">
            <a:avLst>
              <a:gd name="adj" fmla="val 50000"/>
            </a:avLst>
          </a:prstGeom>
          <a:solidFill>
            <a:srgbClr val="FFFFFF">
              <a:alpha val="6275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Rounded Rectangle 55">
            <a:extLst>
              <a:ext uri="{FF2B5EF4-FFF2-40B4-BE49-F238E27FC236}">
                <a16:creationId xmlns:a16="http://schemas.microsoft.com/office/drawing/2014/main" id="{1572B155-5EC1-4CDB-86C1-BC9DD89BCB11}"/>
              </a:ext>
            </a:extLst>
          </p:cNvPr>
          <p:cNvSpPr>
            <a:spLocks noGrp="1"/>
          </p:cNvSpPr>
          <p:nvPr/>
        </p:nvSpPr>
        <p:spPr>
          <a:xfrm>
            <a:off x="8210550" y="1085850"/>
            <a:ext cx="457200" cy="28575"/>
          </a:xfrm>
          <a:prstGeom prst="roundRect">
            <a:avLst>
              <a:gd name="adj" fmla="val 50000"/>
            </a:avLst>
          </a:prstGeom>
          <a:solidFill>
            <a:srgbClr val="FFFFFF">
              <a:alpha val="6275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Rounded Rectangle 56">
            <a:extLst>
              <a:ext uri="{FF2B5EF4-FFF2-40B4-BE49-F238E27FC236}">
                <a16:creationId xmlns:a16="http://schemas.microsoft.com/office/drawing/2014/main" id="{46F893BC-3EEC-4A8A-BE30-EEE8A8E3426D}"/>
              </a:ext>
            </a:extLst>
          </p:cNvPr>
          <p:cNvSpPr>
            <a:spLocks noGrp="1"/>
          </p:cNvSpPr>
          <p:nvPr/>
        </p:nvSpPr>
        <p:spPr>
          <a:xfrm>
            <a:off x="8458200" y="1009650"/>
            <a:ext cx="552450" cy="28575"/>
          </a:xfrm>
          <a:prstGeom prst="roundRect">
            <a:avLst>
              <a:gd name="adj" fmla="val 50000"/>
            </a:avLst>
          </a:prstGeom>
          <a:solidFill>
            <a:srgbClr val="FFFFFF">
              <a:alpha val="6275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Rounded Rectangle 57">
            <a:extLst>
              <a:ext uri="{FF2B5EF4-FFF2-40B4-BE49-F238E27FC236}">
                <a16:creationId xmlns:a16="http://schemas.microsoft.com/office/drawing/2014/main" id="{F7E28E24-7611-4C7D-9C6A-1084CDD824B3}"/>
              </a:ext>
            </a:extLst>
          </p:cNvPr>
          <p:cNvSpPr>
            <a:spLocks noGrp="1"/>
          </p:cNvSpPr>
          <p:nvPr/>
        </p:nvSpPr>
        <p:spPr>
          <a:xfrm>
            <a:off x="8705850" y="1047750"/>
            <a:ext cx="171450" cy="28575"/>
          </a:xfrm>
          <a:prstGeom prst="roundRect">
            <a:avLst>
              <a:gd name="adj" fmla="val 50000"/>
            </a:avLst>
          </a:prstGeom>
          <a:solidFill>
            <a:srgbClr val="FFFFFF">
              <a:alpha val="6275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Rounded Rectangle 58">
            <a:extLst>
              <a:ext uri="{FF2B5EF4-FFF2-40B4-BE49-F238E27FC236}">
                <a16:creationId xmlns:a16="http://schemas.microsoft.com/office/drawing/2014/main" id="{CB083AD9-EEAA-48EA-846D-7BFE048BD904}"/>
              </a:ext>
            </a:extLst>
          </p:cNvPr>
          <p:cNvSpPr>
            <a:spLocks noGrp="1"/>
          </p:cNvSpPr>
          <p:nvPr/>
        </p:nvSpPr>
        <p:spPr>
          <a:xfrm>
            <a:off x="8953500" y="1085850"/>
            <a:ext cx="266700" cy="28575"/>
          </a:xfrm>
          <a:prstGeom prst="roundRect">
            <a:avLst>
              <a:gd name="adj" fmla="val 50000"/>
            </a:avLst>
          </a:prstGeom>
          <a:solidFill>
            <a:srgbClr val="FFFFFF">
              <a:alpha val="6275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Rounded Rectangle 59">
            <a:extLst>
              <a:ext uri="{FF2B5EF4-FFF2-40B4-BE49-F238E27FC236}">
                <a16:creationId xmlns:a16="http://schemas.microsoft.com/office/drawing/2014/main" id="{323A55E0-D75C-4BDC-A147-3EF44313F9A0}"/>
              </a:ext>
            </a:extLst>
          </p:cNvPr>
          <p:cNvSpPr>
            <a:spLocks noGrp="1"/>
          </p:cNvSpPr>
          <p:nvPr/>
        </p:nvSpPr>
        <p:spPr>
          <a:xfrm>
            <a:off x="9201150" y="1009650"/>
            <a:ext cx="361950" cy="28575"/>
          </a:xfrm>
          <a:prstGeom prst="roundRect">
            <a:avLst>
              <a:gd name="adj" fmla="val 50000"/>
            </a:avLst>
          </a:prstGeom>
          <a:solidFill>
            <a:srgbClr val="FFFFFF">
              <a:alpha val="6275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70F5E83A-5547-4407-B1EC-9C87E7EB356C}"/>
              </a:ext>
            </a:extLst>
          </p:cNvPr>
          <p:cNvSpPr>
            <a:spLocks noGrp="1"/>
          </p:cNvSpPr>
          <p:nvPr/>
        </p:nvSpPr>
        <p:spPr>
          <a:xfrm>
            <a:off x="342900" y="6572250"/>
            <a:ext cx="2476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 i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CBD5E1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4845D459-243B-406A-A608-714EEB08A9CB}"/>
              </a:ext>
            </a:extLst>
          </p:cNvPr>
          <p:cNvSpPr>
            <a:spLocks noGrp="1"/>
          </p:cNvSpPr>
          <p:nvPr/>
        </p:nvSpPr>
        <p:spPr>
          <a:xfrm>
            <a:off x="723900" y="6572250"/>
            <a:ext cx="4381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 i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CBD5E1"/>
                </a:solidFill>
                <a:latin typeface="Aptos"/>
                <a:ea typeface="Aptos"/>
                <a:cs typeface="Aptos"/>
              </a:rPr>
              <a:t>Technical Architecture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8C44BC20-2E25-4C3A-93C3-203C4DD6902A}"/>
              </a:ext>
            </a:extLst>
          </p:cNvPr>
          <p:cNvSpPr>
            <a:spLocks noGrp="1"/>
          </p:cNvSpPr>
          <p:nvPr/>
        </p:nvSpPr>
        <p:spPr>
          <a:xfrm>
            <a:off x="11334750" y="6419850"/>
            <a:ext cx="419100" cy="419100"/>
          </a:xfrm>
          <a:prstGeom prst="rect">
            <a:avLst/>
          </a:prstGeom>
          <a:solidFill>
            <a:srgbClr val="C7463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Rounded Rectangle 63">
            <a:extLst>
              <a:ext uri="{FF2B5EF4-FFF2-40B4-BE49-F238E27FC236}">
                <a16:creationId xmlns:a16="http://schemas.microsoft.com/office/drawing/2014/main" id="{4226DCE2-B31D-4CE7-924A-7AF7AF358E1D}"/>
              </a:ext>
            </a:extLst>
          </p:cNvPr>
          <p:cNvSpPr>
            <a:spLocks noGrp="1"/>
          </p:cNvSpPr>
          <p:nvPr/>
        </p:nvSpPr>
        <p:spPr>
          <a:xfrm>
            <a:off x="11430000" y="6562725"/>
            <a:ext cx="228600" cy="114300"/>
          </a:xfrm>
          <a:prstGeom prst="roundRect">
            <a:avLst>
              <a:gd name="adj" fmla="val 50000"/>
            </a:avLst>
          </a:prstGeom>
          <a:solidFill>
            <a:srgbClr val="000000">
              <a:alpha val="0"/>
            </a:srgbClr>
          </a:solidFill>
          <a:ln w="2286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44F1AEDA-3A47-4512-8422-5BBF8ACA6DBB}"/>
              </a:ext>
            </a:extLst>
          </p:cNvPr>
          <p:cNvSpPr>
            <a:spLocks noGrp="1"/>
          </p:cNvSpPr>
          <p:nvPr/>
        </p:nvSpPr>
        <p:spPr>
          <a:xfrm>
            <a:off x="647700" y="400050"/>
            <a:ext cx="78105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85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ODT 2.0 Architecture and Tech Stack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7B33EF70-7D6B-4EF2-A458-1C550E266B32}"/>
              </a:ext>
            </a:extLst>
          </p:cNvPr>
          <p:cNvSpPr>
            <a:spLocks noGrp="1"/>
          </p:cNvSpPr>
          <p:nvPr/>
        </p:nvSpPr>
        <p:spPr>
          <a:xfrm>
            <a:off x="666750" y="866775"/>
            <a:ext cx="7429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 i="0">
                <a:solidFill>
                  <a:srgbClr val="D1D5DB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D1D5DB"/>
                </a:solidFill>
                <a:latin typeface="Aptos"/>
                <a:ea typeface="Aptos"/>
                <a:cs typeface="Aptos"/>
              </a:rPr>
              <a:t>Human + AI collaboration across the governed development lifecycle</a:t>
            </a:r>
          </a:p>
        </p:txBody>
      </p:sp>
      <p:sp>
        <p:nvSpPr>
          <p:cNvPr id="67" name="Rounded Rectangle 66">
            <a:extLst>
              <a:ext uri="{FF2B5EF4-FFF2-40B4-BE49-F238E27FC236}">
                <a16:creationId xmlns:a16="http://schemas.microsoft.com/office/drawing/2014/main" id="{C2BFABDC-022F-433D-882F-9407A5B3383D}"/>
              </a:ext>
            </a:extLst>
          </p:cNvPr>
          <p:cNvSpPr>
            <a:spLocks noGrp="1"/>
          </p:cNvSpPr>
          <p:nvPr/>
        </p:nvSpPr>
        <p:spPr>
          <a:xfrm>
            <a:off x="552450" y="1333500"/>
            <a:ext cx="1809750" cy="1600200"/>
          </a:xfrm>
          <a:prstGeom prst="roundRect">
            <a:avLst>
              <a:gd name="adj" fmla="val 4762"/>
            </a:avLst>
          </a:prstGeom>
          <a:solidFill>
            <a:srgbClr val="FFFFFF">
              <a:alpha val="6275"/>
            </a:srgbClr>
          </a:solidFill>
          <a:ln w="13335">
            <a:solidFill>
              <a:srgbClr val="4CC9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6D68713E-0E94-4C18-8221-28EFF91B5D60}"/>
              </a:ext>
            </a:extLst>
          </p:cNvPr>
          <p:cNvSpPr>
            <a:spLocks noGrp="1"/>
          </p:cNvSpPr>
          <p:nvPr/>
        </p:nvSpPr>
        <p:spPr>
          <a:xfrm>
            <a:off x="552450" y="1333500"/>
            <a:ext cx="1809750" cy="66675"/>
          </a:xfrm>
          <a:prstGeom prst="rect">
            <a:avLst/>
          </a:prstGeom>
          <a:solidFill>
            <a:srgbClr val="4CC9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0A91F3BF-47B3-43B0-9178-C1FFBA412F2A}"/>
              </a:ext>
            </a:extLst>
          </p:cNvPr>
          <p:cNvSpPr>
            <a:spLocks noGrp="1"/>
          </p:cNvSpPr>
          <p:nvPr/>
        </p:nvSpPr>
        <p:spPr>
          <a:xfrm>
            <a:off x="723900" y="1524000"/>
            <a:ext cx="14668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1. Frontend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994CE4B6-EB0A-4D65-B14C-0BF631095E9B}"/>
              </a:ext>
            </a:extLst>
          </p:cNvPr>
          <p:cNvSpPr>
            <a:spLocks noGrp="1"/>
          </p:cNvSpPr>
          <p:nvPr/>
        </p:nvSpPr>
        <p:spPr>
          <a:xfrm>
            <a:off x="723900" y="1828800"/>
            <a:ext cx="1466850" cy="1028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 i="0">
                <a:solidFill>
                  <a:srgbClr val="D1D5DB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D1D5DB"/>
                </a:solidFill>
                <a:latin typeface="Aptos"/>
                <a:ea typeface="Aptos"/>
                <a:cs typeface="Aptos"/>
              </a:rPr>
              <a:t>React 18 + Vite</a:t>
            </a:r>
          </a:p>
          <a:p>
            <a:pPr algn="l">
              <a:defRPr sz="1050" b="0" i="0">
                <a:solidFill>
                  <a:srgbClr val="D1D5DB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D1D5DB"/>
                </a:solidFill>
                <a:latin typeface="Aptos"/>
                <a:ea typeface="Aptos"/>
                <a:cs typeface="Aptos"/>
              </a:rPr>
              <a:t>Workbench UI</a:t>
            </a:r>
          </a:p>
          <a:p>
            <a:pPr algn="l">
              <a:defRPr sz="1050" b="0" i="0">
                <a:solidFill>
                  <a:srgbClr val="D1D5DB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D1D5DB"/>
                </a:solidFill>
                <a:latin typeface="Aptos"/>
                <a:ea typeface="Aptos"/>
                <a:cs typeface="Aptos"/>
              </a:rPr>
              <a:t>workflow pages</a:t>
            </a:r>
          </a:p>
          <a:p>
            <a:pPr algn="l">
              <a:defRPr sz="1050" b="0" i="0">
                <a:solidFill>
                  <a:srgbClr val="D1D5DB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D1D5DB"/>
                </a:solidFill>
                <a:latin typeface="Aptos"/>
                <a:ea typeface="Aptos"/>
                <a:cs typeface="Aptos"/>
              </a:rPr>
              <a:t>operator controls</a:t>
            </a:r>
          </a:p>
        </p:txBody>
      </p:sp>
      <p:sp>
        <p:nvSpPr>
          <p:cNvPr id="71" name="Rounded Rectangle 70">
            <a:extLst>
              <a:ext uri="{FF2B5EF4-FFF2-40B4-BE49-F238E27FC236}">
                <a16:creationId xmlns:a16="http://schemas.microsoft.com/office/drawing/2014/main" id="{46CD9EAD-BF74-4B04-BAC6-E8D3FEA7C0B9}"/>
              </a:ext>
            </a:extLst>
          </p:cNvPr>
          <p:cNvSpPr>
            <a:spLocks noGrp="1"/>
          </p:cNvSpPr>
          <p:nvPr/>
        </p:nvSpPr>
        <p:spPr>
          <a:xfrm>
            <a:off x="2724150" y="1333500"/>
            <a:ext cx="1809750" cy="1600200"/>
          </a:xfrm>
          <a:prstGeom prst="roundRect">
            <a:avLst>
              <a:gd name="adj" fmla="val 4762"/>
            </a:avLst>
          </a:prstGeom>
          <a:solidFill>
            <a:srgbClr val="FFFFFF">
              <a:alpha val="6275"/>
            </a:srgbClr>
          </a:solidFill>
          <a:ln w="13335">
            <a:solidFill>
              <a:srgbClr val="91C8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EA01CDE1-E28D-4562-93E2-F729147EBC30}"/>
              </a:ext>
            </a:extLst>
          </p:cNvPr>
          <p:cNvSpPr>
            <a:spLocks noGrp="1"/>
          </p:cNvSpPr>
          <p:nvPr/>
        </p:nvSpPr>
        <p:spPr>
          <a:xfrm>
            <a:off x="2724150" y="1333500"/>
            <a:ext cx="1809750" cy="66675"/>
          </a:xfrm>
          <a:prstGeom prst="rect">
            <a:avLst/>
          </a:prstGeom>
          <a:solidFill>
            <a:srgbClr val="91C8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5B322A8D-14D2-4288-A695-49F9EFB05CFE}"/>
              </a:ext>
            </a:extLst>
          </p:cNvPr>
          <p:cNvSpPr>
            <a:spLocks noGrp="1"/>
          </p:cNvSpPr>
          <p:nvPr/>
        </p:nvSpPr>
        <p:spPr>
          <a:xfrm>
            <a:off x="2895600" y="1524000"/>
            <a:ext cx="14668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2. Backend API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41EF1B81-98D3-4DF3-A0C7-44922B58C016}"/>
              </a:ext>
            </a:extLst>
          </p:cNvPr>
          <p:cNvSpPr>
            <a:spLocks noGrp="1"/>
          </p:cNvSpPr>
          <p:nvPr/>
        </p:nvSpPr>
        <p:spPr>
          <a:xfrm>
            <a:off x="2895600" y="1828800"/>
            <a:ext cx="1466850" cy="1028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 i="0">
                <a:solidFill>
                  <a:srgbClr val="D1D5DB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D1D5DB"/>
                </a:solidFill>
                <a:latin typeface="Aptos"/>
                <a:ea typeface="Aptos"/>
                <a:cs typeface="Aptos"/>
              </a:rPr>
              <a:t>Node.js 24</a:t>
            </a:r>
          </a:p>
          <a:p>
            <a:pPr algn="l">
              <a:defRPr sz="1050" b="0" i="0">
                <a:solidFill>
                  <a:srgbClr val="D1D5DB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D1D5DB"/>
                </a:solidFill>
                <a:latin typeface="Aptos"/>
                <a:ea typeface="Aptos"/>
                <a:cs typeface="Aptos"/>
              </a:rPr>
              <a:t>local HTTP API</a:t>
            </a:r>
          </a:p>
          <a:p>
            <a:pPr algn="l">
              <a:defRPr sz="1050" b="0" i="0">
                <a:solidFill>
                  <a:srgbClr val="D1D5DB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D1D5DB"/>
                </a:solidFill>
                <a:latin typeface="Aptos"/>
                <a:ea typeface="Aptos"/>
                <a:cs typeface="Aptos"/>
              </a:rPr>
              <a:t>node:sqlite</a:t>
            </a:r>
          </a:p>
          <a:p>
            <a:pPr algn="l">
              <a:defRPr sz="1050" b="0" i="0">
                <a:solidFill>
                  <a:srgbClr val="D1D5DB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D1D5DB"/>
                </a:solidFill>
                <a:latin typeface="Aptos"/>
                <a:ea typeface="Aptos"/>
                <a:cs typeface="Aptos"/>
              </a:rPr>
              <a:t>evidence services</a:t>
            </a:r>
          </a:p>
        </p:txBody>
      </p:sp>
      <p:sp>
        <p:nvSpPr>
          <p:cNvPr id="75" name="Rounded Rectangle 74">
            <a:extLst>
              <a:ext uri="{FF2B5EF4-FFF2-40B4-BE49-F238E27FC236}">
                <a16:creationId xmlns:a16="http://schemas.microsoft.com/office/drawing/2014/main" id="{29DFAE93-57A7-4102-9470-D5186531E26B}"/>
              </a:ext>
            </a:extLst>
          </p:cNvPr>
          <p:cNvSpPr>
            <a:spLocks noGrp="1"/>
          </p:cNvSpPr>
          <p:nvPr/>
        </p:nvSpPr>
        <p:spPr>
          <a:xfrm>
            <a:off x="4895850" y="1333500"/>
            <a:ext cx="2133600" cy="1600200"/>
          </a:xfrm>
          <a:prstGeom prst="roundRect">
            <a:avLst>
              <a:gd name="adj" fmla="val 4762"/>
            </a:avLst>
          </a:prstGeom>
          <a:solidFill>
            <a:srgbClr val="FFFFFF">
              <a:alpha val="6275"/>
            </a:srgbClr>
          </a:solidFill>
          <a:ln w="13335">
            <a:solidFill>
              <a:srgbClr val="C746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2D028F64-A24D-49E9-A134-3F400223BDB7}"/>
              </a:ext>
            </a:extLst>
          </p:cNvPr>
          <p:cNvSpPr>
            <a:spLocks noGrp="1"/>
          </p:cNvSpPr>
          <p:nvPr/>
        </p:nvSpPr>
        <p:spPr>
          <a:xfrm>
            <a:off x="4895850" y="1333500"/>
            <a:ext cx="2133600" cy="66675"/>
          </a:xfrm>
          <a:prstGeom prst="rect">
            <a:avLst/>
          </a:prstGeom>
          <a:solidFill>
            <a:srgbClr val="C7463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B8B48339-CA41-4DB4-B215-0D6D7F8B9950}"/>
              </a:ext>
            </a:extLst>
          </p:cNvPr>
          <p:cNvSpPr>
            <a:spLocks noGrp="1"/>
          </p:cNvSpPr>
          <p:nvPr/>
        </p:nvSpPr>
        <p:spPr>
          <a:xfrm>
            <a:off x="5067300" y="1524000"/>
            <a:ext cx="17907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3. Governance Engine</a:t>
            </a: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CE180188-08CD-4608-8563-3DE73C88FE1C}"/>
              </a:ext>
            </a:extLst>
          </p:cNvPr>
          <p:cNvSpPr>
            <a:spLocks noGrp="1"/>
          </p:cNvSpPr>
          <p:nvPr/>
        </p:nvSpPr>
        <p:spPr>
          <a:xfrm>
            <a:off x="5067300" y="1828800"/>
            <a:ext cx="1790700" cy="1028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 i="0">
                <a:solidFill>
                  <a:srgbClr val="D1D5DB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D1D5DB"/>
                </a:solidFill>
                <a:latin typeface="Aptos"/>
                <a:ea typeface="Aptos"/>
                <a:cs typeface="Aptos"/>
              </a:rPr>
              <a:t>standards gates</a:t>
            </a:r>
          </a:p>
          <a:p>
            <a:pPr algn="l">
              <a:defRPr sz="1050" b="0" i="0">
                <a:solidFill>
                  <a:srgbClr val="D1D5DB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D1D5DB"/>
                </a:solidFill>
                <a:latin typeface="Aptos"/>
                <a:ea typeface="Aptos"/>
                <a:cs typeface="Aptos"/>
              </a:rPr>
              <a:t>approval state</a:t>
            </a:r>
          </a:p>
          <a:p>
            <a:pPr algn="l">
              <a:defRPr sz="1050" b="0" i="0">
                <a:solidFill>
                  <a:srgbClr val="D1D5DB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D1D5DB"/>
                </a:solidFill>
                <a:latin typeface="Aptos"/>
                <a:ea typeface="Aptos"/>
                <a:cs typeface="Aptos"/>
              </a:rPr>
              <a:t>accepted risk</a:t>
            </a:r>
          </a:p>
          <a:p>
            <a:pPr algn="l">
              <a:defRPr sz="1050" b="0" i="0">
                <a:solidFill>
                  <a:srgbClr val="D1D5DB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D1D5DB"/>
                </a:solidFill>
                <a:latin typeface="Aptos"/>
                <a:ea typeface="Aptos"/>
                <a:cs typeface="Aptos"/>
              </a:rPr>
              <a:t>PR readiness</a:t>
            </a:r>
          </a:p>
        </p:txBody>
      </p:sp>
      <p:sp>
        <p:nvSpPr>
          <p:cNvPr id="79" name="Rounded Rectangle 78">
            <a:extLst>
              <a:ext uri="{FF2B5EF4-FFF2-40B4-BE49-F238E27FC236}">
                <a16:creationId xmlns:a16="http://schemas.microsoft.com/office/drawing/2014/main" id="{EA9D1F80-28DB-4257-A620-34A44B26EBF0}"/>
              </a:ext>
            </a:extLst>
          </p:cNvPr>
          <p:cNvSpPr>
            <a:spLocks noGrp="1"/>
          </p:cNvSpPr>
          <p:nvPr/>
        </p:nvSpPr>
        <p:spPr>
          <a:xfrm>
            <a:off x="7391400" y="1333500"/>
            <a:ext cx="1809750" cy="1600200"/>
          </a:xfrm>
          <a:prstGeom prst="roundRect">
            <a:avLst>
              <a:gd name="adj" fmla="val 4762"/>
            </a:avLst>
          </a:prstGeom>
          <a:solidFill>
            <a:srgbClr val="FFFFFF">
              <a:alpha val="6275"/>
            </a:srgbClr>
          </a:solidFill>
          <a:ln w="13335">
            <a:solidFill>
              <a:srgbClr val="4CC9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8905A2CE-CE78-43E3-9A92-C605BA4F9C63}"/>
              </a:ext>
            </a:extLst>
          </p:cNvPr>
          <p:cNvSpPr>
            <a:spLocks noGrp="1"/>
          </p:cNvSpPr>
          <p:nvPr/>
        </p:nvSpPr>
        <p:spPr>
          <a:xfrm>
            <a:off x="7391400" y="1333500"/>
            <a:ext cx="1809750" cy="66675"/>
          </a:xfrm>
          <a:prstGeom prst="rect">
            <a:avLst/>
          </a:prstGeom>
          <a:solidFill>
            <a:srgbClr val="4CC9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2A826700-5D69-4069-92F1-A6B56A9EC271}"/>
              </a:ext>
            </a:extLst>
          </p:cNvPr>
          <p:cNvSpPr>
            <a:spLocks noGrp="1"/>
          </p:cNvSpPr>
          <p:nvPr/>
        </p:nvSpPr>
        <p:spPr>
          <a:xfrm>
            <a:off x="7562850" y="1524000"/>
            <a:ext cx="14668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4. Evidence Store</a:t>
            </a: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46F5E8FE-0F5B-4A83-965A-472B806CA4C3}"/>
              </a:ext>
            </a:extLst>
          </p:cNvPr>
          <p:cNvSpPr>
            <a:spLocks noGrp="1"/>
          </p:cNvSpPr>
          <p:nvPr/>
        </p:nvSpPr>
        <p:spPr>
          <a:xfrm>
            <a:off x="7562850" y="1828800"/>
            <a:ext cx="1466850" cy="1028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 i="0">
                <a:solidFill>
                  <a:srgbClr val="D1D5DB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D1D5DB"/>
                </a:solidFill>
                <a:latin typeface="Aptos"/>
                <a:ea typeface="Aptos"/>
                <a:cs typeface="Aptos"/>
              </a:rPr>
              <a:t>SQLite today</a:t>
            </a:r>
          </a:p>
          <a:p>
            <a:pPr algn="l">
              <a:defRPr sz="1050" b="0" i="0">
                <a:solidFill>
                  <a:srgbClr val="D1D5DB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D1D5DB"/>
                </a:solidFill>
                <a:latin typeface="Aptos"/>
                <a:ea typeface="Aptos"/>
                <a:cs typeface="Aptos"/>
              </a:rPr>
              <a:t>artifacts</a:t>
            </a:r>
          </a:p>
          <a:p>
            <a:pPr algn="l">
              <a:defRPr sz="1050" b="0" i="0">
                <a:solidFill>
                  <a:srgbClr val="D1D5DB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D1D5DB"/>
                </a:solidFill>
                <a:latin typeface="Aptos"/>
                <a:ea typeface="Aptos"/>
                <a:cs typeface="Aptos"/>
              </a:rPr>
              <a:t>logs</a:t>
            </a:r>
          </a:p>
          <a:p>
            <a:pPr algn="l">
              <a:defRPr sz="1050" b="0" i="0">
                <a:solidFill>
                  <a:srgbClr val="D1D5DB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D1D5DB"/>
                </a:solidFill>
                <a:latin typeface="Aptos"/>
                <a:ea typeface="Aptos"/>
                <a:cs typeface="Aptos"/>
              </a:rPr>
              <a:t>future enterprise DB</a:t>
            </a:r>
          </a:p>
        </p:txBody>
      </p:sp>
      <p:sp>
        <p:nvSpPr>
          <p:cNvPr id="83" name="Rounded Rectangle 82">
            <a:extLst>
              <a:ext uri="{FF2B5EF4-FFF2-40B4-BE49-F238E27FC236}">
                <a16:creationId xmlns:a16="http://schemas.microsoft.com/office/drawing/2014/main" id="{AD454C62-ED51-484B-A315-5E227CE05B6B}"/>
              </a:ext>
            </a:extLst>
          </p:cNvPr>
          <p:cNvSpPr>
            <a:spLocks noGrp="1"/>
          </p:cNvSpPr>
          <p:nvPr/>
        </p:nvSpPr>
        <p:spPr>
          <a:xfrm>
            <a:off x="9563100" y="1333500"/>
            <a:ext cx="1885950" cy="1600200"/>
          </a:xfrm>
          <a:prstGeom prst="roundRect">
            <a:avLst>
              <a:gd name="adj" fmla="val 4762"/>
            </a:avLst>
          </a:prstGeom>
          <a:solidFill>
            <a:srgbClr val="FFFFFF">
              <a:alpha val="6275"/>
            </a:srgbClr>
          </a:solidFill>
          <a:ln w="13335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7356CB70-0112-4CAC-A890-604A04CC4ED6}"/>
              </a:ext>
            </a:extLst>
          </p:cNvPr>
          <p:cNvSpPr>
            <a:spLocks noGrp="1"/>
          </p:cNvSpPr>
          <p:nvPr/>
        </p:nvSpPr>
        <p:spPr>
          <a:xfrm>
            <a:off x="9563100" y="1333500"/>
            <a:ext cx="1885950" cy="66675"/>
          </a:xfrm>
          <a:prstGeom prst="rect">
            <a:avLst/>
          </a:prstGeom>
          <a:solidFill>
            <a:srgbClr val="A78BF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325D0FD0-F044-4766-A36E-2F9280CF017E}"/>
              </a:ext>
            </a:extLst>
          </p:cNvPr>
          <p:cNvSpPr>
            <a:spLocks noGrp="1"/>
          </p:cNvSpPr>
          <p:nvPr/>
        </p:nvSpPr>
        <p:spPr>
          <a:xfrm>
            <a:off x="9734550" y="1524000"/>
            <a:ext cx="15430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5. Connectors</a:t>
            </a: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37A2B6D9-F605-40B7-89A8-6AB98C9012A5}"/>
              </a:ext>
            </a:extLst>
          </p:cNvPr>
          <p:cNvSpPr>
            <a:spLocks noGrp="1"/>
          </p:cNvSpPr>
          <p:nvPr/>
        </p:nvSpPr>
        <p:spPr>
          <a:xfrm>
            <a:off x="9734550" y="1828800"/>
            <a:ext cx="1543050" cy="1028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 i="0">
                <a:solidFill>
                  <a:srgbClr val="D1D5DB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D1D5DB"/>
                </a:solidFill>
                <a:latin typeface="Aptos"/>
                <a:ea typeface="Aptos"/>
                <a:cs typeface="Aptos"/>
              </a:rPr>
              <a:t>Jira2 today</a:t>
            </a:r>
          </a:p>
          <a:p>
            <a:pPr algn="l">
              <a:defRPr sz="1050" b="0" i="0">
                <a:solidFill>
                  <a:srgbClr val="D1D5DB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D1D5DB"/>
                </a:solidFill>
                <a:latin typeface="Aptos"/>
                <a:ea typeface="Aptos"/>
                <a:cs typeface="Aptos"/>
              </a:rPr>
              <a:t>Git/SCM next</a:t>
            </a:r>
          </a:p>
          <a:p>
            <a:pPr algn="l">
              <a:defRPr sz="1050" b="0" i="0">
                <a:solidFill>
                  <a:srgbClr val="D1D5DB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D1D5DB"/>
                </a:solidFill>
                <a:latin typeface="Aptos"/>
                <a:ea typeface="Aptos"/>
                <a:cs typeface="Aptos"/>
              </a:rPr>
              <a:t>build service</a:t>
            </a:r>
          </a:p>
          <a:p>
            <a:pPr algn="l">
              <a:defRPr sz="1050" b="0" i="0">
                <a:solidFill>
                  <a:srgbClr val="D1D5DB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D1D5DB"/>
                </a:solidFill>
                <a:latin typeface="Aptos"/>
                <a:ea typeface="Aptos"/>
                <a:cs typeface="Aptos"/>
              </a:rPr>
              <a:t>MCP gateway</a:t>
            </a:r>
          </a:p>
        </p:txBody>
      </p:sp>
      <p:sp>
        <p:nvSpPr>
          <p:cNvPr id="87" name="Right Arrow 86">
            <a:extLst>
              <a:ext uri="{FF2B5EF4-FFF2-40B4-BE49-F238E27FC236}">
                <a16:creationId xmlns:a16="http://schemas.microsoft.com/office/drawing/2014/main" id="{98B44C22-74D9-44BF-A341-1E17BC43E8B9}"/>
              </a:ext>
            </a:extLst>
          </p:cNvPr>
          <p:cNvSpPr>
            <a:spLocks noGrp="1"/>
          </p:cNvSpPr>
          <p:nvPr/>
        </p:nvSpPr>
        <p:spPr>
          <a:xfrm>
            <a:off x="2400300" y="2019300"/>
            <a:ext cx="323850" cy="171450"/>
          </a:xfrm>
          <a:prstGeom prst="rightArrow">
            <a:avLst/>
          </a:prstGeom>
          <a:solidFill>
            <a:srgbClr val="D1D5DB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8" name="Right Arrow 87">
            <a:extLst>
              <a:ext uri="{FF2B5EF4-FFF2-40B4-BE49-F238E27FC236}">
                <a16:creationId xmlns:a16="http://schemas.microsoft.com/office/drawing/2014/main" id="{62F2A637-3196-424E-AEDB-8D25177735E4}"/>
              </a:ext>
            </a:extLst>
          </p:cNvPr>
          <p:cNvSpPr>
            <a:spLocks noGrp="1"/>
          </p:cNvSpPr>
          <p:nvPr/>
        </p:nvSpPr>
        <p:spPr>
          <a:xfrm>
            <a:off x="4572000" y="2019300"/>
            <a:ext cx="323850" cy="171450"/>
          </a:xfrm>
          <a:prstGeom prst="rightArrow">
            <a:avLst/>
          </a:prstGeom>
          <a:solidFill>
            <a:srgbClr val="D1D5DB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9" name="Right Arrow 88">
            <a:extLst>
              <a:ext uri="{FF2B5EF4-FFF2-40B4-BE49-F238E27FC236}">
                <a16:creationId xmlns:a16="http://schemas.microsoft.com/office/drawing/2014/main" id="{EF8B9F70-3AF6-461E-A00F-E59305E18C9B}"/>
              </a:ext>
            </a:extLst>
          </p:cNvPr>
          <p:cNvSpPr>
            <a:spLocks noGrp="1"/>
          </p:cNvSpPr>
          <p:nvPr/>
        </p:nvSpPr>
        <p:spPr>
          <a:xfrm>
            <a:off x="7067550" y="2019300"/>
            <a:ext cx="323850" cy="171450"/>
          </a:xfrm>
          <a:prstGeom prst="rightArrow">
            <a:avLst/>
          </a:prstGeom>
          <a:solidFill>
            <a:srgbClr val="D1D5DB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" name="Right Arrow 89">
            <a:extLst>
              <a:ext uri="{FF2B5EF4-FFF2-40B4-BE49-F238E27FC236}">
                <a16:creationId xmlns:a16="http://schemas.microsoft.com/office/drawing/2014/main" id="{43231FE6-0A00-4C9F-8655-B687B251B5F7}"/>
              </a:ext>
            </a:extLst>
          </p:cNvPr>
          <p:cNvSpPr>
            <a:spLocks noGrp="1"/>
          </p:cNvSpPr>
          <p:nvPr/>
        </p:nvSpPr>
        <p:spPr>
          <a:xfrm>
            <a:off x="9239250" y="2019300"/>
            <a:ext cx="323850" cy="171450"/>
          </a:xfrm>
          <a:prstGeom prst="rightArrow">
            <a:avLst/>
          </a:prstGeom>
          <a:solidFill>
            <a:srgbClr val="D1D5DB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1" name="Rounded Rectangle 90">
            <a:extLst>
              <a:ext uri="{FF2B5EF4-FFF2-40B4-BE49-F238E27FC236}">
                <a16:creationId xmlns:a16="http://schemas.microsoft.com/office/drawing/2014/main" id="{4C71FC1F-E75C-4105-9E5C-B7AE65C4338D}"/>
              </a:ext>
            </a:extLst>
          </p:cNvPr>
          <p:cNvSpPr>
            <a:spLocks noGrp="1"/>
          </p:cNvSpPr>
          <p:nvPr/>
        </p:nvSpPr>
        <p:spPr>
          <a:xfrm>
            <a:off x="1238250" y="3676650"/>
            <a:ext cx="2305050" cy="1409700"/>
          </a:xfrm>
          <a:prstGeom prst="roundRect">
            <a:avLst>
              <a:gd name="adj" fmla="val 5405"/>
            </a:avLst>
          </a:prstGeom>
          <a:solidFill>
            <a:srgbClr val="FFFFFF">
              <a:alpha val="6275"/>
            </a:srgbClr>
          </a:solidFill>
          <a:ln w="1333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123486BE-C70F-42C0-93F0-51B1A8C9B12E}"/>
              </a:ext>
            </a:extLst>
          </p:cNvPr>
          <p:cNvSpPr>
            <a:spLocks noGrp="1"/>
          </p:cNvSpPr>
          <p:nvPr/>
        </p:nvSpPr>
        <p:spPr>
          <a:xfrm>
            <a:off x="1238250" y="3676650"/>
            <a:ext cx="2305050" cy="66675"/>
          </a:xfrm>
          <a:prstGeom prst="rect">
            <a:avLst/>
          </a:prstGeom>
          <a:solidFill>
            <a:srgbClr val="F59E0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07718753-AA11-4ABE-99E8-6284B47A088A}"/>
              </a:ext>
            </a:extLst>
          </p:cNvPr>
          <p:cNvSpPr>
            <a:spLocks noGrp="1"/>
          </p:cNvSpPr>
          <p:nvPr/>
        </p:nvSpPr>
        <p:spPr>
          <a:xfrm>
            <a:off x="1409700" y="3867150"/>
            <a:ext cx="19621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6. Agent Orchestrator</a:t>
            </a: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EBE9EDB2-B002-4CA6-8FF0-60C11C15C088}"/>
              </a:ext>
            </a:extLst>
          </p:cNvPr>
          <p:cNvSpPr>
            <a:spLocks noGrp="1"/>
          </p:cNvSpPr>
          <p:nvPr/>
        </p:nvSpPr>
        <p:spPr>
          <a:xfrm>
            <a:off x="1409700" y="4171950"/>
            <a:ext cx="1962150" cy="838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 i="0">
                <a:solidFill>
                  <a:srgbClr val="D1D5DB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D1D5DB"/>
                </a:solidFill>
                <a:latin typeface="Aptos"/>
                <a:ea typeface="Aptos"/>
                <a:cs typeface="Aptos"/>
              </a:rPr>
              <a:t>planner, full stack dev,</a:t>
            </a:r>
          </a:p>
          <a:p>
            <a:pPr algn="l">
              <a:defRPr sz="1050" b="0" i="0">
                <a:solidFill>
                  <a:srgbClr val="D1D5DB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D1D5DB"/>
                </a:solidFill>
                <a:latin typeface="Aptos"/>
                <a:ea typeface="Aptos"/>
                <a:cs typeface="Aptos"/>
              </a:rPr>
              <a:t>reviewer, build verifier</a:t>
            </a:r>
          </a:p>
          <a:p>
            <a:pPr algn="l">
              <a:defRPr sz="1050" b="0" i="0">
                <a:solidFill>
                  <a:srgbClr val="D1D5DB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D1D5DB"/>
                </a:solidFill>
                <a:latin typeface="Aptos"/>
                <a:ea typeface="Aptos"/>
                <a:cs typeface="Aptos"/>
              </a:rPr>
              <a:t>worker launch / stop / ingest</a:t>
            </a:r>
          </a:p>
        </p:txBody>
      </p:sp>
      <p:sp>
        <p:nvSpPr>
          <p:cNvPr id="95" name="Rounded Rectangle 94">
            <a:extLst>
              <a:ext uri="{FF2B5EF4-FFF2-40B4-BE49-F238E27FC236}">
                <a16:creationId xmlns:a16="http://schemas.microsoft.com/office/drawing/2014/main" id="{D3AC8E2E-77E4-4C13-8CD3-ED0F1D32D39A}"/>
              </a:ext>
            </a:extLst>
          </p:cNvPr>
          <p:cNvSpPr>
            <a:spLocks noGrp="1"/>
          </p:cNvSpPr>
          <p:nvPr/>
        </p:nvSpPr>
        <p:spPr>
          <a:xfrm>
            <a:off x="4133850" y="3676650"/>
            <a:ext cx="2305050" cy="1409700"/>
          </a:xfrm>
          <a:prstGeom prst="roundRect">
            <a:avLst>
              <a:gd name="adj" fmla="val 5405"/>
            </a:avLst>
          </a:prstGeom>
          <a:solidFill>
            <a:srgbClr val="FFFFFF">
              <a:alpha val="6275"/>
            </a:srgbClr>
          </a:solidFill>
          <a:ln w="13335">
            <a:solidFill>
              <a:srgbClr val="C746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0194FA0C-6774-484F-9785-89B7553FD36A}"/>
              </a:ext>
            </a:extLst>
          </p:cNvPr>
          <p:cNvSpPr>
            <a:spLocks noGrp="1"/>
          </p:cNvSpPr>
          <p:nvPr/>
        </p:nvSpPr>
        <p:spPr>
          <a:xfrm>
            <a:off x="4133850" y="3676650"/>
            <a:ext cx="2305050" cy="66675"/>
          </a:xfrm>
          <a:prstGeom prst="rect">
            <a:avLst/>
          </a:prstGeom>
          <a:solidFill>
            <a:srgbClr val="C7463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46779680-D212-4BE0-9647-90C37EA92524}"/>
              </a:ext>
            </a:extLst>
          </p:cNvPr>
          <p:cNvSpPr>
            <a:spLocks noGrp="1"/>
          </p:cNvSpPr>
          <p:nvPr/>
        </p:nvSpPr>
        <p:spPr>
          <a:xfrm>
            <a:off x="4305300" y="3867150"/>
            <a:ext cx="19621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7. Worker Engines</a:t>
            </a: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7160934A-C0D0-4875-960D-C9F29D51B1DD}"/>
              </a:ext>
            </a:extLst>
          </p:cNvPr>
          <p:cNvSpPr>
            <a:spLocks noGrp="1"/>
          </p:cNvSpPr>
          <p:nvPr/>
        </p:nvSpPr>
        <p:spPr>
          <a:xfrm>
            <a:off x="4305300" y="4171950"/>
            <a:ext cx="1962150" cy="838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 i="0">
                <a:solidFill>
                  <a:srgbClr val="D1D5DB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D1D5DB"/>
                </a:solidFill>
                <a:latin typeface="Aptos"/>
                <a:ea typeface="Aptos"/>
                <a:cs typeface="Aptos"/>
              </a:rPr>
              <a:t>Codex wired today</a:t>
            </a:r>
          </a:p>
          <a:p>
            <a:pPr algn="l">
              <a:defRPr sz="1050" b="0" i="0">
                <a:solidFill>
                  <a:srgbClr val="D1D5DB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D1D5DB"/>
                </a:solidFill>
                <a:latin typeface="Aptos"/>
                <a:ea typeface="Aptos"/>
                <a:cs typeface="Aptos"/>
              </a:rPr>
              <a:t>Cline adapter planned</a:t>
            </a:r>
          </a:p>
          <a:p>
            <a:pPr algn="l">
              <a:defRPr sz="1050" b="0" i="0">
                <a:solidFill>
                  <a:srgbClr val="D1D5DB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D1D5DB"/>
                </a:solidFill>
                <a:latin typeface="Aptos"/>
                <a:ea typeface="Aptos"/>
                <a:cs typeface="Aptos"/>
              </a:rPr>
              <a:t>OCA / model workers</a:t>
            </a:r>
          </a:p>
        </p:txBody>
      </p:sp>
      <p:sp>
        <p:nvSpPr>
          <p:cNvPr id="99" name="Rounded Rectangle 98">
            <a:extLst>
              <a:ext uri="{FF2B5EF4-FFF2-40B4-BE49-F238E27FC236}">
                <a16:creationId xmlns:a16="http://schemas.microsoft.com/office/drawing/2014/main" id="{FEBB4FCA-C623-44EA-99C4-E3B018B6444B}"/>
              </a:ext>
            </a:extLst>
          </p:cNvPr>
          <p:cNvSpPr>
            <a:spLocks noGrp="1"/>
          </p:cNvSpPr>
          <p:nvPr/>
        </p:nvSpPr>
        <p:spPr>
          <a:xfrm>
            <a:off x="7029450" y="3676650"/>
            <a:ext cx="2305050" cy="1409700"/>
          </a:xfrm>
          <a:prstGeom prst="roundRect">
            <a:avLst>
              <a:gd name="adj" fmla="val 5405"/>
            </a:avLst>
          </a:prstGeom>
          <a:solidFill>
            <a:srgbClr val="FFFFFF">
              <a:alpha val="6275"/>
            </a:srgbClr>
          </a:solidFill>
          <a:ln w="13335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5ACB31BC-82A2-49D3-B6AB-29B09771B57F}"/>
              </a:ext>
            </a:extLst>
          </p:cNvPr>
          <p:cNvSpPr>
            <a:spLocks noGrp="1"/>
          </p:cNvSpPr>
          <p:nvPr/>
        </p:nvSpPr>
        <p:spPr>
          <a:xfrm>
            <a:off x="7029450" y="3676650"/>
            <a:ext cx="2305050" cy="66675"/>
          </a:xfrm>
          <a:prstGeom prst="rect">
            <a:avLst/>
          </a:prstGeom>
          <a:solidFill>
            <a:srgbClr val="A78BF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9018A4A3-A267-470F-A6E6-D07E9652FDA2}"/>
              </a:ext>
            </a:extLst>
          </p:cNvPr>
          <p:cNvSpPr>
            <a:spLocks noGrp="1"/>
          </p:cNvSpPr>
          <p:nvPr/>
        </p:nvSpPr>
        <p:spPr>
          <a:xfrm>
            <a:off x="7200900" y="3867150"/>
            <a:ext cx="19621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8. AI Providers</a:t>
            </a: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A4E9633E-9BB8-41D9-BAEB-C60870F7BC75}"/>
              </a:ext>
            </a:extLst>
          </p:cNvPr>
          <p:cNvSpPr>
            <a:spLocks noGrp="1"/>
          </p:cNvSpPr>
          <p:nvPr/>
        </p:nvSpPr>
        <p:spPr>
          <a:xfrm>
            <a:off x="7200900" y="4171950"/>
            <a:ext cx="1962150" cy="838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 i="0">
                <a:solidFill>
                  <a:srgbClr val="D1D5DB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D1D5DB"/>
                </a:solidFill>
                <a:latin typeface="Aptos"/>
                <a:ea typeface="Aptos"/>
                <a:cs typeface="Aptos"/>
              </a:rPr>
              <a:t>local deterministic</a:t>
            </a:r>
          </a:p>
          <a:p>
            <a:pPr algn="l">
              <a:defRPr sz="1050" b="0" i="0">
                <a:solidFill>
                  <a:srgbClr val="D1D5DB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D1D5DB"/>
                </a:solidFill>
                <a:latin typeface="Aptos"/>
                <a:ea typeface="Aptos"/>
                <a:cs typeface="Aptos"/>
              </a:rPr>
              <a:t>OCI GenAI</a:t>
            </a:r>
          </a:p>
          <a:p>
            <a:pPr algn="l">
              <a:defRPr sz="1050" b="0" i="0">
                <a:solidFill>
                  <a:srgbClr val="D1D5DB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D1D5DB"/>
                </a:solidFill>
                <a:latin typeface="Aptos"/>
                <a:ea typeface="Aptos"/>
                <a:cs typeface="Aptos"/>
              </a:rPr>
              <a:t>Ollama</a:t>
            </a:r>
          </a:p>
          <a:p>
            <a:pPr algn="l">
              <a:defRPr sz="1050" b="0" i="0">
                <a:solidFill>
                  <a:srgbClr val="D1D5DB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D1D5DB"/>
                </a:solidFill>
                <a:latin typeface="Aptos"/>
                <a:ea typeface="Aptos"/>
                <a:cs typeface="Aptos"/>
              </a:rPr>
              <a:t>OpenAI-compatible</a:t>
            </a:r>
          </a:p>
        </p:txBody>
      </p:sp>
      <p:sp>
        <p:nvSpPr>
          <p:cNvPr id="103" name="Rounded Rectangle 102">
            <a:extLst>
              <a:ext uri="{FF2B5EF4-FFF2-40B4-BE49-F238E27FC236}">
                <a16:creationId xmlns:a16="http://schemas.microsoft.com/office/drawing/2014/main" id="{64F9CBE5-A539-40CE-8CA2-FAEC3F4D07AD}"/>
              </a:ext>
            </a:extLst>
          </p:cNvPr>
          <p:cNvSpPr>
            <a:spLocks noGrp="1"/>
          </p:cNvSpPr>
          <p:nvPr/>
        </p:nvSpPr>
        <p:spPr>
          <a:xfrm>
            <a:off x="9925050" y="3676650"/>
            <a:ext cx="1485900" cy="1409700"/>
          </a:xfrm>
          <a:prstGeom prst="roundRect">
            <a:avLst>
              <a:gd name="adj" fmla="val 5405"/>
            </a:avLst>
          </a:prstGeom>
          <a:solidFill>
            <a:srgbClr val="FFFFFF">
              <a:alpha val="6275"/>
            </a:srgbClr>
          </a:solidFill>
          <a:ln w="13335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E86A5423-BABD-4F26-89A0-69AEF39DCA6F}"/>
              </a:ext>
            </a:extLst>
          </p:cNvPr>
          <p:cNvSpPr>
            <a:spLocks noGrp="1"/>
          </p:cNvSpPr>
          <p:nvPr/>
        </p:nvSpPr>
        <p:spPr>
          <a:xfrm>
            <a:off x="9925050" y="3676650"/>
            <a:ext cx="1485900" cy="66675"/>
          </a:xfrm>
          <a:prstGeom prst="rect">
            <a:avLst/>
          </a:prstGeom>
          <a:solidFill>
            <a:srgbClr val="34D39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CEAE618C-E165-4E40-925A-F32581774AC7}"/>
              </a:ext>
            </a:extLst>
          </p:cNvPr>
          <p:cNvSpPr>
            <a:spLocks noGrp="1"/>
          </p:cNvSpPr>
          <p:nvPr/>
        </p:nvSpPr>
        <p:spPr>
          <a:xfrm>
            <a:off x="10096500" y="3867150"/>
            <a:ext cx="1143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9. Output</a:t>
            </a: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ACEBD741-73AB-4988-BC39-90D823F17877}"/>
              </a:ext>
            </a:extLst>
          </p:cNvPr>
          <p:cNvSpPr>
            <a:spLocks noGrp="1"/>
          </p:cNvSpPr>
          <p:nvPr/>
        </p:nvSpPr>
        <p:spPr>
          <a:xfrm>
            <a:off x="10096500" y="4171950"/>
            <a:ext cx="1143000" cy="838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 i="0">
                <a:solidFill>
                  <a:srgbClr val="D1D5DB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D1D5DB"/>
                </a:solidFill>
                <a:latin typeface="Aptos"/>
                <a:ea typeface="Aptos"/>
                <a:cs typeface="Aptos"/>
              </a:rPr>
              <a:t>review</a:t>
            </a:r>
          </a:p>
          <a:p>
            <a:pPr algn="l">
              <a:defRPr sz="1050" b="0" i="0">
                <a:solidFill>
                  <a:srgbClr val="D1D5DB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D1D5DB"/>
                </a:solidFill>
                <a:latin typeface="Aptos"/>
                <a:ea typeface="Aptos"/>
                <a:cs typeface="Aptos"/>
              </a:rPr>
              <a:t>rework</a:t>
            </a:r>
          </a:p>
          <a:p>
            <a:pPr algn="l">
              <a:defRPr sz="1050" b="0" i="0">
                <a:solidFill>
                  <a:srgbClr val="D1D5DB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D1D5DB"/>
                </a:solidFill>
                <a:latin typeface="Aptos"/>
                <a:ea typeface="Aptos"/>
                <a:cs typeface="Aptos"/>
              </a:rPr>
              <a:t>build proof</a:t>
            </a:r>
          </a:p>
          <a:p>
            <a:pPr algn="l">
              <a:defRPr sz="1050" b="0" i="0">
                <a:solidFill>
                  <a:srgbClr val="D1D5DB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D1D5DB"/>
                </a:solidFill>
                <a:latin typeface="Aptos"/>
                <a:ea typeface="Aptos"/>
                <a:cs typeface="Aptos"/>
              </a:rPr>
              <a:t>PR package</a:t>
            </a:r>
          </a:p>
        </p:txBody>
      </p:sp>
      <p:sp>
        <p:nvSpPr>
          <p:cNvPr id="107" name="Right Arrow 106">
            <a:extLst>
              <a:ext uri="{FF2B5EF4-FFF2-40B4-BE49-F238E27FC236}">
                <a16:creationId xmlns:a16="http://schemas.microsoft.com/office/drawing/2014/main" id="{FA0D48A0-9D0D-4483-9A21-E50A48ED88EB}"/>
              </a:ext>
            </a:extLst>
          </p:cNvPr>
          <p:cNvSpPr>
            <a:spLocks noGrp="1"/>
          </p:cNvSpPr>
          <p:nvPr/>
        </p:nvSpPr>
        <p:spPr>
          <a:xfrm>
            <a:off x="3581400" y="4305300"/>
            <a:ext cx="381000" cy="190500"/>
          </a:xfrm>
          <a:prstGeom prst="rightArrow">
            <a:avLst/>
          </a:prstGeom>
          <a:solidFill>
            <a:srgbClr val="D1D5DB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8" name="Right Arrow 107">
            <a:extLst>
              <a:ext uri="{FF2B5EF4-FFF2-40B4-BE49-F238E27FC236}">
                <a16:creationId xmlns:a16="http://schemas.microsoft.com/office/drawing/2014/main" id="{EAC5645E-0396-4048-9A9F-457631DB11ED}"/>
              </a:ext>
            </a:extLst>
          </p:cNvPr>
          <p:cNvSpPr>
            <a:spLocks noGrp="1"/>
          </p:cNvSpPr>
          <p:nvPr/>
        </p:nvSpPr>
        <p:spPr>
          <a:xfrm>
            <a:off x="6477000" y="4305300"/>
            <a:ext cx="381000" cy="190500"/>
          </a:xfrm>
          <a:prstGeom prst="rightArrow">
            <a:avLst/>
          </a:prstGeom>
          <a:solidFill>
            <a:srgbClr val="D1D5DB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9" name="Right Arrow 108">
            <a:extLst>
              <a:ext uri="{FF2B5EF4-FFF2-40B4-BE49-F238E27FC236}">
                <a16:creationId xmlns:a16="http://schemas.microsoft.com/office/drawing/2014/main" id="{9F34BB59-5265-4A44-A798-0D7EABC1E2B6}"/>
              </a:ext>
            </a:extLst>
          </p:cNvPr>
          <p:cNvSpPr>
            <a:spLocks noGrp="1"/>
          </p:cNvSpPr>
          <p:nvPr/>
        </p:nvSpPr>
        <p:spPr>
          <a:xfrm>
            <a:off x="9372600" y="4305300"/>
            <a:ext cx="381000" cy="190500"/>
          </a:xfrm>
          <a:prstGeom prst="rightArrow">
            <a:avLst/>
          </a:prstGeom>
          <a:solidFill>
            <a:srgbClr val="D1D5DB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0" name="Rounded Rectangle 109">
            <a:extLst>
              <a:ext uri="{FF2B5EF4-FFF2-40B4-BE49-F238E27FC236}">
                <a16:creationId xmlns:a16="http://schemas.microsoft.com/office/drawing/2014/main" id="{C06E789E-8FE4-446C-B333-5E9A2F5E64B2}"/>
              </a:ext>
            </a:extLst>
          </p:cNvPr>
          <p:cNvSpPr>
            <a:spLocks noGrp="1"/>
          </p:cNvSpPr>
          <p:nvPr/>
        </p:nvSpPr>
        <p:spPr>
          <a:xfrm>
            <a:off x="723900" y="5657850"/>
            <a:ext cx="10382250" cy="495300"/>
          </a:xfrm>
          <a:prstGeom prst="roundRect">
            <a:avLst>
              <a:gd name="adj" fmla="val 15385"/>
            </a:avLst>
          </a:prstGeom>
          <a:solidFill>
            <a:srgbClr val="FFFFFF">
              <a:alpha val="5098"/>
            </a:srgbClr>
          </a:solidFill>
          <a:ln w="9525">
            <a:solidFill>
              <a:srgbClr val="FFFFFF">
                <a:alpha val="13333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E5ECD223-1368-46DE-92D4-3B7CEE65E553}"/>
              </a:ext>
            </a:extLst>
          </p:cNvPr>
          <p:cNvSpPr>
            <a:spLocks noGrp="1"/>
          </p:cNvSpPr>
          <p:nvPr/>
        </p:nvSpPr>
        <p:spPr>
          <a:xfrm>
            <a:off x="990600" y="5791200"/>
            <a:ext cx="14668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Design principle</a:t>
            </a: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1B469A8D-6D9A-4BC8-A942-31400F66BADF}"/>
              </a:ext>
            </a:extLst>
          </p:cNvPr>
          <p:cNvSpPr>
            <a:spLocks noGrp="1"/>
          </p:cNvSpPr>
          <p:nvPr/>
        </p:nvSpPr>
        <p:spPr>
          <a:xfrm>
            <a:off x="2457450" y="5791200"/>
            <a:ext cx="8096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 i="0">
                <a:solidFill>
                  <a:srgbClr val="D1D5DB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D1D5DB"/>
                </a:solidFill>
                <a:latin typeface="Aptos"/>
                <a:ea typeface="Aptos"/>
                <a:cs typeface="Aptos"/>
              </a:rPr>
              <a:t>Analyze locally first, compile scoped context, delegate only after governance gates, and store every result as evidence.</a:t>
            </a:r>
          </a:p>
        </p:txBody>
      </p:sp>
    </p:spTree>
    <p:extLst>
      <p:ext uri="{BB962C8B-B14F-4D97-AF65-F5344CB8AC3E}">
        <p14:creationId xmlns:p14="http://schemas.microsoft.com/office/powerpoint/2010/main" val="10094194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Rectangle 102">
            <a:extLst>
              <a:ext uri="{FF2B5EF4-FFF2-40B4-BE49-F238E27FC236}">
                <a16:creationId xmlns:a16="http://schemas.microsoft.com/office/drawing/2014/main" id="{FABCAC88-0BC0-4A54-9531-B8FDC627BC9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B8371797-7C56-4CB2-9314-9679F6B04892}"/>
              </a:ext>
            </a:extLst>
          </p:cNvPr>
          <p:cNvSpPr>
            <a:spLocks noGrp="1"/>
          </p:cNvSpPr>
          <p:nvPr/>
        </p:nvSpPr>
        <p:spPr>
          <a:xfrm>
            <a:off x="6858000" y="323850"/>
            <a:ext cx="1714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E7FF5E03-2185-41A8-AAFF-6118991F3FB9}"/>
              </a:ext>
            </a:extLst>
          </p:cNvPr>
          <p:cNvSpPr>
            <a:spLocks noGrp="1"/>
          </p:cNvSpPr>
          <p:nvPr/>
        </p:nvSpPr>
        <p:spPr>
          <a:xfrm>
            <a:off x="7105650" y="361950"/>
            <a:ext cx="26670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9B5B14E4-922F-4F47-8BC2-00226FB972D9}"/>
              </a:ext>
            </a:extLst>
          </p:cNvPr>
          <p:cNvSpPr>
            <a:spLocks noGrp="1"/>
          </p:cNvSpPr>
          <p:nvPr/>
        </p:nvSpPr>
        <p:spPr>
          <a:xfrm>
            <a:off x="7353300" y="400050"/>
            <a:ext cx="3619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253144AB-6D7F-48F8-99B9-78F811B83CD6}"/>
              </a:ext>
            </a:extLst>
          </p:cNvPr>
          <p:cNvSpPr>
            <a:spLocks noGrp="1"/>
          </p:cNvSpPr>
          <p:nvPr/>
        </p:nvSpPr>
        <p:spPr>
          <a:xfrm>
            <a:off x="7600950" y="323850"/>
            <a:ext cx="45720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28B0A680-045D-4916-8694-3D7D95649E2A}"/>
              </a:ext>
            </a:extLst>
          </p:cNvPr>
          <p:cNvSpPr>
            <a:spLocks noGrp="1"/>
          </p:cNvSpPr>
          <p:nvPr/>
        </p:nvSpPr>
        <p:spPr>
          <a:xfrm>
            <a:off x="7848600" y="361950"/>
            <a:ext cx="5524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1F559615-5253-4FD9-A833-A806A23B8CB0}"/>
              </a:ext>
            </a:extLst>
          </p:cNvPr>
          <p:cNvSpPr>
            <a:spLocks noGrp="1"/>
          </p:cNvSpPr>
          <p:nvPr/>
        </p:nvSpPr>
        <p:spPr>
          <a:xfrm>
            <a:off x="8096250" y="400050"/>
            <a:ext cx="1714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3BCAB76E-7A0C-4866-9561-65A50095631E}"/>
              </a:ext>
            </a:extLst>
          </p:cNvPr>
          <p:cNvSpPr>
            <a:spLocks noGrp="1"/>
          </p:cNvSpPr>
          <p:nvPr/>
        </p:nvSpPr>
        <p:spPr>
          <a:xfrm>
            <a:off x="8343900" y="323850"/>
            <a:ext cx="26670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A2115073-0191-4ABC-9EF9-595CD391224F}"/>
              </a:ext>
            </a:extLst>
          </p:cNvPr>
          <p:cNvSpPr>
            <a:spLocks noGrp="1"/>
          </p:cNvSpPr>
          <p:nvPr/>
        </p:nvSpPr>
        <p:spPr>
          <a:xfrm>
            <a:off x="8591550" y="361950"/>
            <a:ext cx="3619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1DBA9D48-912E-4E2B-BA43-E5A1935191A3}"/>
              </a:ext>
            </a:extLst>
          </p:cNvPr>
          <p:cNvSpPr>
            <a:spLocks noGrp="1"/>
          </p:cNvSpPr>
          <p:nvPr/>
        </p:nvSpPr>
        <p:spPr>
          <a:xfrm>
            <a:off x="8839200" y="400050"/>
            <a:ext cx="45720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2482725B-E380-438C-AE38-E8B1F82D84C2}"/>
              </a:ext>
            </a:extLst>
          </p:cNvPr>
          <p:cNvSpPr>
            <a:spLocks noGrp="1"/>
          </p:cNvSpPr>
          <p:nvPr/>
        </p:nvSpPr>
        <p:spPr>
          <a:xfrm>
            <a:off x="9086850" y="323850"/>
            <a:ext cx="5524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98211EC6-36C9-4CEB-AB45-D1C80D84ED65}"/>
              </a:ext>
            </a:extLst>
          </p:cNvPr>
          <p:cNvSpPr>
            <a:spLocks noGrp="1"/>
          </p:cNvSpPr>
          <p:nvPr/>
        </p:nvSpPr>
        <p:spPr>
          <a:xfrm>
            <a:off x="9334500" y="361950"/>
            <a:ext cx="1714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A5987859-54EE-47CB-81AA-3CAC300D4597}"/>
              </a:ext>
            </a:extLst>
          </p:cNvPr>
          <p:cNvSpPr>
            <a:spLocks noGrp="1"/>
          </p:cNvSpPr>
          <p:nvPr/>
        </p:nvSpPr>
        <p:spPr>
          <a:xfrm>
            <a:off x="9582150" y="400050"/>
            <a:ext cx="26670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233CB247-A8EF-49E6-86FB-AA91C3CFE6EE}"/>
              </a:ext>
            </a:extLst>
          </p:cNvPr>
          <p:cNvSpPr>
            <a:spLocks noGrp="1"/>
          </p:cNvSpPr>
          <p:nvPr/>
        </p:nvSpPr>
        <p:spPr>
          <a:xfrm>
            <a:off x="9829800" y="323850"/>
            <a:ext cx="3619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FB094C31-F653-45F1-9618-3C47FE8A5F7F}"/>
              </a:ext>
            </a:extLst>
          </p:cNvPr>
          <p:cNvSpPr>
            <a:spLocks noGrp="1"/>
          </p:cNvSpPr>
          <p:nvPr/>
        </p:nvSpPr>
        <p:spPr>
          <a:xfrm>
            <a:off x="10077450" y="361950"/>
            <a:ext cx="45720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D32828AF-3121-4C4F-B824-25E5448D4B8B}"/>
              </a:ext>
            </a:extLst>
          </p:cNvPr>
          <p:cNvSpPr>
            <a:spLocks noGrp="1"/>
          </p:cNvSpPr>
          <p:nvPr/>
        </p:nvSpPr>
        <p:spPr>
          <a:xfrm>
            <a:off x="10325100" y="400050"/>
            <a:ext cx="5524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DE4CF5A7-3EC3-44E4-A1B6-C81FCDFA47F7}"/>
              </a:ext>
            </a:extLst>
          </p:cNvPr>
          <p:cNvSpPr>
            <a:spLocks noGrp="1"/>
          </p:cNvSpPr>
          <p:nvPr/>
        </p:nvSpPr>
        <p:spPr>
          <a:xfrm>
            <a:off x="10572750" y="323850"/>
            <a:ext cx="1714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A6D3F9CD-6572-4438-A69D-4346D1AAB4F2}"/>
              </a:ext>
            </a:extLst>
          </p:cNvPr>
          <p:cNvSpPr>
            <a:spLocks noGrp="1"/>
          </p:cNvSpPr>
          <p:nvPr/>
        </p:nvSpPr>
        <p:spPr>
          <a:xfrm>
            <a:off x="6972300" y="552450"/>
            <a:ext cx="26670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6CFC1E9C-7CAD-4E1E-95F7-ECF1D64ACA89}"/>
              </a:ext>
            </a:extLst>
          </p:cNvPr>
          <p:cNvSpPr>
            <a:spLocks noGrp="1"/>
          </p:cNvSpPr>
          <p:nvPr/>
        </p:nvSpPr>
        <p:spPr>
          <a:xfrm>
            <a:off x="7219950" y="590550"/>
            <a:ext cx="3619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E6A3FFD5-BB81-43D8-BF0E-F65B29224CAF}"/>
              </a:ext>
            </a:extLst>
          </p:cNvPr>
          <p:cNvSpPr>
            <a:spLocks noGrp="1"/>
          </p:cNvSpPr>
          <p:nvPr/>
        </p:nvSpPr>
        <p:spPr>
          <a:xfrm>
            <a:off x="7467600" y="628650"/>
            <a:ext cx="45720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61AA4245-C2DA-4159-89E9-E9A739878931}"/>
              </a:ext>
            </a:extLst>
          </p:cNvPr>
          <p:cNvSpPr>
            <a:spLocks noGrp="1"/>
          </p:cNvSpPr>
          <p:nvPr/>
        </p:nvSpPr>
        <p:spPr>
          <a:xfrm>
            <a:off x="7715250" y="552450"/>
            <a:ext cx="5524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01B03FF5-F9A9-4D56-AD99-A8B4A0CE559A}"/>
              </a:ext>
            </a:extLst>
          </p:cNvPr>
          <p:cNvSpPr>
            <a:spLocks noGrp="1"/>
          </p:cNvSpPr>
          <p:nvPr/>
        </p:nvSpPr>
        <p:spPr>
          <a:xfrm>
            <a:off x="7962900" y="590550"/>
            <a:ext cx="1714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0A58BF32-3B93-4B7C-8582-E0E13545E4D8}"/>
              </a:ext>
            </a:extLst>
          </p:cNvPr>
          <p:cNvSpPr>
            <a:spLocks noGrp="1"/>
          </p:cNvSpPr>
          <p:nvPr/>
        </p:nvSpPr>
        <p:spPr>
          <a:xfrm>
            <a:off x="8210550" y="628650"/>
            <a:ext cx="26670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101F0CE0-0FBE-4D93-88DD-FE33FB282AB8}"/>
              </a:ext>
            </a:extLst>
          </p:cNvPr>
          <p:cNvSpPr>
            <a:spLocks noGrp="1"/>
          </p:cNvSpPr>
          <p:nvPr/>
        </p:nvSpPr>
        <p:spPr>
          <a:xfrm>
            <a:off x="8458200" y="552450"/>
            <a:ext cx="3619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1A58B8CC-8766-40A6-8DE7-B755B7D15CFD}"/>
              </a:ext>
            </a:extLst>
          </p:cNvPr>
          <p:cNvSpPr>
            <a:spLocks noGrp="1"/>
          </p:cNvSpPr>
          <p:nvPr/>
        </p:nvSpPr>
        <p:spPr>
          <a:xfrm>
            <a:off x="8705850" y="590550"/>
            <a:ext cx="45720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021DEA97-C9ED-4915-96BB-44F70A65DE73}"/>
              </a:ext>
            </a:extLst>
          </p:cNvPr>
          <p:cNvSpPr>
            <a:spLocks noGrp="1"/>
          </p:cNvSpPr>
          <p:nvPr/>
        </p:nvSpPr>
        <p:spPr>
          <a:xfrm>
            <a:off x="8953500" y="628650"/>
            <a:ext cx="5524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F8F7A311-283A-4971-8749-DBF35696D386}"/>
              </a:ext>
            </a:extLst>
          </p:cNvPr>
          <p:cNvSpPr>
            <a:spLocks noGrp="1"/>
          </p:cNvSpPr>
          <p:nvPr/>
        </p:nvSpPr>
        <p:spPr>
          <a:xfrm>
            <a:off x="9201150" y="552450"/>
            <a:ext cx="1714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45D71E94-34E0-4605-AC71-FF3E73E768A9}"/>
              </a:ext>
            </a:extLst>
          </p:cNvPr>
          <p:cNvSpPr>
            <a:spLocks noGrp="1"/>
          </p:cNvSpPr>
          <p:nvPr/>
        </p:nvSpPr>
        <p:spPr>
          <a:xfrm>
            <a:off x="9448800" y="590550"/>
            <a:ext cx="26670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15CC2A95-BEFB-4ABC-B6A1-E99CB1FC0BAA}"/>
              </a:ext>
            </a:extLst>
          </p:cNvPr>
          <p:cNvSpPr>
            <a:spLocks noGrp="1"/>
          </p:cNvSpPr>
          <p:nvPr/>
        </p:nvSpPr>
        <p:spPr>
          <a:xfrm>
            <a:off x="9696450" y="628650"/>
            <a:ext cx="3619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996E7041-EA19-4767-95F7-7081A3BC4086}"/>
              </a:ext>
            </a:extLst>
          </p:cNvPr>
          <p:cNvSpPr>
            <a:spLocks noGrp="1"/>
          </p:cNvSpPr>
          <p:nvPr/>
        </p:nvSpPr>
        <p:spPr>
          <a:xfrm>
            <a:off x="9944100" y="552450"/>
            <a:ext cx="45720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174985A0-D50C-4187-9367-31CD45693B33}"/>
              </a:ext>
            </a:extLst>
          </p:cNvPr>
          <p:cNvSpPr>
            <a:spLocks noGrp="1"/>
          </p:cNvSpPr>
          <p:nvPr/>
        </p:nvSpPr>
        <p:spPr>
          <a:xfrm>
            <a:off x="10191750" y="590550"/>
            <a:ext cx="5524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D8412148-05A5-42E2-9D11-7ACF6E0179C5}"/>
              </a:ext>
            </a:extLst>
          </p:cNvPr>
          <p:cNvSpPr>
            <a:spLocks noGrp="1"/>
          </p:cNvSpPr>
          <p:nvPr/>
        </p:nvSpPr>
        <p:spPr>
          <a:xfrm>
            <a:off x="10439400" y="628650"/>
            <a:ext cx="1714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F9E025BF-2C7A-4D08-B40D-0852F1DB91BB}"/>
              </a:ext>
            </a:extLst>
          </p:cNvPr>
          <p:cNvSpPr>
            <a:spLocks noGrp="1"/>
          </p:cNvSpPr>
          <p:nvPr/>
        </p:nvSpPr>
        <p:spPr>
          <a:xfrm>
            <a:off x="10687050" y="552450"/>
            <a:ext cx="26670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B20D17A4-2C41-43F0-A237-12A4D84640A0}"/>
              </a:ext>
            </a:extLst>
          </p:cNvPr>
          <p:cNvSpPr>
            <a:spLocks noGrp="1"/>
          </p:cNvSpPr>
          <p:nvPr/>
        </p:nvSpPr>
        <p:spPr>
          <a:xfrm>
            <a:off x="6858000" y="781050"/>
            <a:ext cx="3619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78D5AD3C-9FE9-4921-A2B2-9BC43E746189}"/>
              </a:ext>
            </a:extLst>
          </p:cNvPr>
          <p:cNvSpPr>
            <a:spLocks noGrp="1"/>
          </p:cNvSpPr>
          <p:nvPr/>
        </p:nvSpPr>
        <p:spPr>
          <a:xfrm>
            <a:off x="7105650" y="819150"/>
            <a:ext cx="45720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8FB77784-16D9-48C5-9F40-9500E4E1669D}"/>
              </a:ext>
            </a:extLst>
          </p:cNvPr>
          <p:cNvSpPr>
            <a:spLocks noGrp="1"/>
          </p:cNvSpPr>
          <p:nvPr/>
        </p:nvSpPr>
        <p:spPr>
          <a:xfrm>
            <a:off x="7353300" y="857250"/>
            <a:ext cx="5524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1F3C0D43-F6C9-474C-BA59-8B9CDDC7C66F}"/>
              </a:ext>
            </a:extLst>
          </p:cNvPr>
          <p:cNvSpPr>
            <a:spLocks noGrp="1"/>
          </p:cNvSpPr>
          <p:nvPr/>
        </p:nvSpPr>
        <p:spPr>
          <a:xfrm>
            <a:off x="7600950" y="781050"/>
            <a:ext cx="1714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35E7DB2B-C2B0-4456-B2BF-101E0350AAF0}"/>
              </a:ext>
            </a:extLst>
          </p:cNvPr>
          <p:cNvSpPr>
            <a:spLocks noGrp="1"/>
          </p:cNvSpPr>
          <p:nvPr/>
        </p:nvSpPr>
        <p:spPr>
          <a:xfrm>
            <a:off x="7848600" y="819150"/>
            <a:ext cx="26670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27DFEBA0-61DE-47A5-9E6F-DE4FCC315F25}"/>
              </a:ext>
            </a:extLst>
          </p:cNvPr>
          <p:cNvSpPr>
            <a:spLocks noGrp="1"/>
          </p:cNvSpPr>
          <p:nvPr/>
        </p:nvSpPr>
        <p:spPr>
          <a:xfrm>
            <a:off x="8096250" y="857250"/>
            <a:ext cx="3619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24857A77-C212-4926-9044-6E71BAB5F6EE}"/>
              </a:ext>
            </a:extLst>
          </p:cNvPr>
          <p:cNvSpPr>
            <a:spLocks noGrp="1"/>
          </p:cNvSpPr>
          <p:nvPr/>
        </p:nvSpPr>
        <p:spPr>
          <a:xfrm>
            <a:off x="8343900" y="781050"/>
            <a:ext cx="45720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C75D64DE-19F1-4A4A-8984-ACD82A85FE78}"/>
              </a:ext>
            </a:extLst>
          </p:cNvPr>
          <p:cNvSpPr>
            <a:spLocks noGrp="1"/>
          </p:cNvSpPr>
          <p:nvPr/>
        </p:nvSpPr>
        <p:spPr>
          <a:xfrm>
            <a:off x="8591550" y="819150"/>
            <a:ext cx="5524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CA281D85-4EEB-4EF2-9D93-5A40E28D1B33}"/>
              </a:ext>
            </a:extLst>
          </p:cNvPr>
          <p:cNvSpPr>
            <a:spLocks noGrp="1"/>
          </p:cNvSpPr>
          <p:nvPr/>
        </p:nvSpPr>
        <p:spPr>
          <a:xfrm>
            <a:off x="8839200" y="857250"/>
            <a:ext cx="1714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70734466-5C00-40E4-B254-85DBFFA08681}"/>
              </a:ext>
            </a:extLst>
          </p:cNvPr>
          <p:cNvSpPr>
            <a:spLocks noGrp="1"/>
          </p:cNvSpPr>
          <p:nvPr/>
        </p:nvSpPr>
        <p:spPr>
          <a:xfrm>
            <a:off x="9086850" y="781050"/>
            <a:ext cx="26670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CFD3E30D-5046-4171-9414-64904A1025DA}"/>
              </a:ext>
            </a:extLst>
          </p:cNvPr>
          <p:cNvSpPr>
            <a:spLocks noGrp="1"/>
          </p:cNvSpPr>
          <p:nvPr/>
        </p:nvSpPr>
        <p:spPr>
          <a:xfrm>
            <a:off x="9334500" y="819150"/>
            <a:ext cx="3619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Rounded Rectangle 44">
            <a:extLst>
              <a:ext uri="{FF2B5EF4-FFF2-40B4-BE49-F238E27FC236}">
                <a16:creationId xmlns:a16="http://schemas.microsoft.com/office/drawing/2014/main" id="{4DC7B01F-D677-4C6B-AAA6-FC19B085AA56}"/>
              </a:ext>
            </a:extLst>
          </p:cNvPr>
          <p:cNvSpPr>
            <a:spLocks noGrp="1"/>
          </p:cNvSpPr>
          <p:nvPr/>
        </p:nvSpPr>
        <p:spPr>
          <a:xfrm>
            <a:off x="9582150" y="857250"/>
            <a:ext cx="45720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Rounded Rectangle 45">
            <a:extLst>
              <a:ext uri="{FF2B5EF4-FFF2-40B4-BE49-F238E27FC236}">
                <a16:creationId xmlns:a16="http://schemas.microsoft.com/office/drawing/2014/main" id="{3C1CFA0D-390B-40F0-B32A-1D5CB74FFAAE}"/>
              </a:ext>
            </a:extLst>
          </p:cNvPr>
          <p:cNvSpPr>
            <a:spLocks noGrp="1"/>
          </p:cNvSpPr>
          <p:nvPr/>
        </p:nvSpPr>
        <p:spPr>
          <a:xfrm>
            <a:off x="9829800" y="781050"/>
            <a:ext cx="5524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Rounded Rectangle 46">
            <a:extLst>
              <a:ext uri="{FF2B5EF4-FFF2-40B4-BE49-F238E27FC236}">
                <a16:creationId xmlns:a16="http://schemas.microsoft.com/office/drawing/2014/main" id="{E5247691-32B4-4FE8-B468-4867393A8183}"/>
              </a:ext>
            </a:extLst>
          </p:cNvPr>
          <p:cNvSpPr>
            <a:spLocks noGrp="1"/>
          </p:cNvSpPr>
          <p:nvPr/>
        </p:nvSpPr>
        <p:spPr>
          <a:xfrm>
            <a:off x="10077450" y="819150"/>
            <a:ext cx="1714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Rounded Rectangle 47">
            <a:extLst>
              <a:ext uri="{FF2B5EF4-FFF2-40B4-BE49-F238E27FC236}">
                <a16:creationId xmlns:a16="http://schemas.microsoft.com/office/drawing/2014/main" id="{C4490BF2-B9AA-41C4-AA09-B6966509CFE4}"/>
              </a:ext>
            </a:extLst>
          </p:cNvPr>
          <p:cNvSpPr>
            <a:spLocks noGrp="1"/>
          </p:cNvSpPr>
          <p:nvPr/>
        </p:nvSpPr>
        <p:spPr>
          <a:xfrm>
            <a:off x="10325100" y="857250"/>
            <a:ext cx="26670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Rounded Rectangle 48">
            <a:extLst>
              <a:ext uri="{FF2B5EF4-FFF2-40B4-BE49-F238E27FC236}">
                <a16:creationId xmlns:a16="http://schemas.microsoft.com/office/drawing/2014/main" id="{299C9D39-C07B-4564-9B40-A80600407ADC}"/>
              </a:ext>
            </a:extLst>
          </p:cNvPr>
          <p:cNvSpPr>
            <a:spLocks noGrp="1"/>
          </p:cNvSpPr>
          <p:nvPr/>
        </p:nvSpPr>
        <p:spPr>
          <a:xfrm>
            <a:off x="10572750" y="781050"/>
            <a:ext cx="3619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Rounded Rectangle 49">
            <a:extLst>
              <a:ext uri="{FF2B5EF4-FFF2-40B4-BE49-F238E27FC236}">
                <a16:creationId xmlns:a16="http://schemas.microsoft.com/office/drawing/2014/main" id="{D3D3355E-0FA7-4315-93E5-5C7F547027E8}"/>
              </a:ext>
            </a:extLst>
          </p:cNvPr>
          <p:cNvSpPr>
            <a:spLocks noGrp="1"/>
          </p:cNvSpPr>
          <p:nvPr/>
        </p:nvSpPr>
        <p:spPr>
          <a:xfrm>
            <a:off x="6972300" y="1009650"/>
            <a:ext cx="45720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Rounded Rectangle 50">
            <a:extLst>
              <a:ext uri="{FF2B5EF4-FFF2-40B4-BE49-F238E27FC236}">
                <a16:creationId xmlns:a16="http://schemas.microsoft.com/office/drawing/2014/main" id="{AB5CDA2B-B36A-4E02-ACF7-7E447A85BD9A}"/>
              </a:ext>
            </a:extLst>
          </p:cNvPr>
          <p:cNvSpPr>
            <a:spLocks noGrp="1"/>
          </p:cNvSpPr>
          <p:nvPr/>
        </p:nvSpPr>
        <p:spPr>
          <a:xfrm>
            <a:off x="7219950" y="1047750"/>
            <a:ext cx="5524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Rounded Rectangle 51">
            <a:extLst>
              <a:ext uri="{FF2B5EF4-FFF2-40B4-BE49-F238E27FC236}">
                <a16:creationId xmlns:a16="http://schemas.microsoft.com/office/drawing/2014/main" id="{5EB1A7A6-B64E-4FBC-BB7E-F30945E0AA7E}"/>
              </a:ext>
            </a:extLst>
          </p:cNvPr>
          <p:cNvSpPr>
            <a:spLocks noGrp="1"/>
          </p:cNvSpPr>
          <p:nvPr/>
        </p:nvSpPr>
        <p:spPr>
          <a:xfrm>
            <a:off x="7467600" y="1085850"/>
            <a:ext cx="1714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Rounded Rectangle 52">
            <a:extLst>
              <a:ext uri="{FF2B5EF4-FFF2-40B4-BE49-F238E27FC236}">
                <a16:creationId xmlns:a16="http://schemas.microsoft.com/office/drawing/2014/main" id="{D131F95F-4EA1-4B1D-A97A-9FAD6D989032}"/>
              </a:ext>
            </a:extLst>
          </p:cNvPr>
          <p:cNvSpPr>
            <a:spLocks noGrp="1"/>
          </p:cNvSpPr>
          <p:nvPr/>
        </p:nvSpPr>
        <p:spPr>
          <a:xfrm>
            <a:off x="7715250" y="1009650"/>
            <a:ext cx="26670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Rounded Rectangle 53">
            <a:extLst>
              <a:ext uri="{FF2B5EF4-FFF2-40B4-BE49-F238E27FC236}">
                <a16:creationId xmlns:a16="http://schemas.microsoft.com/office/drawing/2014/main" id="{B2800D39-20A2-4550-A79D-2BE5EC73A586}"/>
              </a:ext>
            </a:extLst>
          </p:cNvPr>
          <p:cNvSpPr>
            <a:spLocks noGrp="1"/>
          </p:cNvSpPr>
          <p:nvPr/>
        </p:nvSpPr>
        <p:spPr>
          <a:xfrm>
            <a:off x="7962900" y="1047750"/>
            <a:ext cx="3619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Rounded Rectangle 54">
            <a:extLst>
              <a:ext uri="{FF2B5EF4-FFF2-40B4-BE49-F238E27FC236}">
                <a16:creationId xmlns:a16="http://schemas.microsoft.com/office/drawing/2014/main" id="{71B16050-D254-4BD1-8885-EC393AB2EB6F}"/>
              </a:ext>
            </a:extLst>
          </p:cNvPr>
          <p:cNvSpPr>
            <a:spLocks noGrp="1"/>
          </p:cNvSpPr>
          <p:nvPr/>
        </p:nvSpPr>
        <p:spPr>
          <a:xfrm>
            <a:off x="8210550" y="1085850"/>
            <a:ext cx="45720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Rounded Rectangle 55">
            <a:extLst>
              <a:ext uri="{FF2B5EF4-FFF2-40B4-BE49-F238E27FC236}">
                <a16:creationId xmlns:a16="http://schemas.microsoft.com/office/drawing/2014/main" id="{6278B2B2-67C8-4E29-B5BF-28509C226014}"/>
              </a:ext>
            </a:extLst>
          </p:cNvPr>
          <p:cNvSpPr>
            <a:spLocks noGrp="1"/>
          </p:cNvSpPr>
          <p:nvPr/>
        </p:nvSpPr>
        <p:spPr>
          <a:xfrm>
            <a:off x="8458200" y="1009650"/>
            <a:ext cx="5524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Rounded Rectangle 56">
            <a:extLst>
              <a:ext uri="{FF2B5EF4-FFF2-40B4-BE49-F238E27FC236}">
                <a16:creationId xmlns:a16="http://schemas.microsoft.com/office/drawing/2014/main" id="{5ADA9332-663F-4F2E-8B18-788C0EB74C60}"/>
              </a:ext>
            </a:extLst>
          </p:cNvPr>
          <p:cNvSpPr>
            <a:spLocks noGrp="1"/>
          </p:cNvSpPr>
          <p:nvPr/>
        </p:nvSpPr>
        <p:spPr>
          <a:xfrm>
            <a:off x="8705850" y="1047750"/>
            <a:ext cx="1714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Rounded Rectangle 57">
            <a:extLst>
              <a:ext uri="{FF2B5EF4-FFF2-40B4-BE49-F238E27FC236}">
                <a16:creationId xmlns:a16="http://schemas.microsoft.com/office/drawing/2014/main" id="{78A753F3-9726-43CF-A883-B44C2C7B6208}"/>
              </a:ext>
            </a:extLst>
          </p:cNvPr>
          <p:cNvSpPr>
            <a:spLocks noGrp="1"/>
          </p:cNvSpPr>
          <p:nvPr/>
        </p:nvSpPr>
        <p:spPr>
          <a:xfrm>
            <a:off x="8953500" y="1085850"/>
            <a:ext cx="26670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Rounded Rectangle 58">
            <a:extLst>
              <a:ext uri="{FF2B5EF4-FFF2-40B4-BE49-F238E27FC236}">
                <a16:creationId xmlns:a16="http://schemas.microsoft.com/office/drawing/2014/main" id="{F3A2A57C-F5E1-4B70-B6D3-FB328D14A125}"/>
              </a:ext>
            </a:extLst>
          </p:cNvPr>
          <p:cNvSpPr>
            <a:spLocks noGrp="1"/>
          </p:cNvSpPr>
          <p:nvPr/>
        </p:nvSpPr>
        <p:spPr>
          <a:xfrm>
            <a:off x="9201150" y="1009650"/>
            <a:ext cx="3619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2FBFBED6-E08D-45E2-BC59-EFB8517A8CE5}"/>
              </a:ext>
            </a:extLst>
          </p:cNvPr>
          <p:cNvSpPr>
            <a:spLocks noGrp="1"/>
          </p:cNvSpPr>
          <p:nvPr/>
        </p:nvSpPr>
        <p:spPr>
          <a:xfrm>
            <a:off x="342900" y="76200"/>
            <a:ext cx="342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 i="0">
                <a:solidFill>
                  <a:srgbClr val="8A8580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8A8580"/>
                </a:solidFill>
                <a:latin typeface="Aptos"/>
                <a:ea typeface="Aptos"/>
                <a:cs typeface="Aptos"/>
              </a:rPr>
              <a:t>Confidential - Oracle Restricted (Employees Only)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5C6E8C82-33D0-4DDF-BB40-7BAA6AE530FE}"/>
              </a:ext>
            </a:extLst>
          </p:cNvPr>
          <p:cNvSpPr>
            <a:spLocks noGrp="1"/>
          </p:cNvSpPr>
          <p:nvPr/>
        </p:nvSpPr>
        <p:spPr>
          <a:xfrm>
            <a:off x="342900" y="6572250"/>
            <a:ext cx="2476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 i="0">
                <a:solidFill>
                  <a:srgbClr val="807A76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807A76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79924C62-A8E1-45C7-93DF-D8D8153E9E2A}"/>
              </a:ext>
            </a:extLst>
          </p:cNvPr>
          <p:cNvSpPr>
            <a:spLocks noGrp="1"/>
          </p:cNvSpPr>
          <p:nvPr/>
        </p:nvSpPr>
        <p:spPr>
          <a:xfrm>
            <a:off x="723900" y="6572250"/>
            <a:ext cx="4381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 i="0">
                <a:solidFill>
                  <a:srgbClr val="807A76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807A76"/>
                </a:solidFill>
                <a:latin typeface="Aptos"/>
                <a:ea typeface="Aptos"/>
                <a:cs typeface="Aptos"/>
              </a:rPr>
              <a:t>Governance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BAF0D563-5A6D-4D12-8257-108322DEC8C8}"/>
              </a:ext>
            </a:extLst>
          </p:cNvPr>
          <p:cNvSpPr>
            <a:spLocks noGrp="1"/>
          </p:cNvSpPr>
          <p:nvPr/>
        </p:nvSpPr>
        <p:spPr>
          <a:xfrm>
            <a:off x="11334750" y="6419850"/>
            <a:ext cx="419100" cy="419100"/>
          </a:xfrm>
          <a:prstGeom prst="rect">
            <a:avLst/>
          </a:prstGeom>
          <a:solidFill>
            <a:srgbClr val="C7463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Rounded Rectangle 63">
            <a:extLst>
              <a:ext uri="{FF2B5EF4-FFF2-40B4-BE49-F238E27FC236}">
                <a16:creationId xmlns:a16="http://schemas.microsoft.com/office/drawing/2014/main" id="{2B7F53AD-9768-4050-8729-07CF5DDA0C85}"/>
              </a:ext>
            </a:extLst>
          </p:cNvPr>
          <p:cNvSpPr>
            <a:spLocks noGrp="1"/>
          </p:cNvSpPr>
          <p:nvPr/>
        </p:nvSpPr>
        <p:spPr>
          <a:xfrm>
            <a:off x="11430000" y="6562725"/>
            <a:ext cx="228600" cy="114300"/>
          </a:xfrm>
          <a:prstGeom prst="roundRect">
            <a:avLst>
              <a:gd name="adj" fmla="val 50000"/>
            </a:avLst>
          </a:prstGeom>
          <a:solidFill>
            <a:srgbClr val="000000">
              <a:alpha val="0"/>
            </a:srgbClr>
          </a:solidFill>
          <a:ln w="2286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C28B5BFC-9AEF-4690-BA91-0A496612AD69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99060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 i="0">
                <a:solidFill>
                  <a:srgbClr val="2B2B2B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 i="0">
                <a:solidFill>
                  <a:srgbClr val="2B2B2B"/>
                </a:solidFill>
                <a:latin typeface="Aptos Display"/>
                <a:ea typeface="Aptos Display"/>
                <a:cs typeface="Aptos Display"/>
              </a:rPr>
              <a:t>Enterprise value comes from customizable governance, not hardcoded prompts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974629C1-4531-4BBC-BBFB-0EABB23279D6}"/>
              </a:ext>
            </a:extLst>
          </p:cNvPr>
          <p:cNvSpPr>
            <a:spLocks noGrp="1"/>
          </p:cNvSpPr>
          <p:nvPr/>
        </p:nvSpPr>
        <p:spPr>
          <a:xfrm>
            <a:off x="609600" y="1219200"/>
            <a:ext cx="99060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 i="0">
                <a:solidFill>
                  <a:srgbClr val="333333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333333"/>
                </a:solidFill>
                <a:latin typeface="Aptos"/>
                <a:ea typeface="Aptos"/>
                <a:cs typeface="Aptos"/>
              </a:rPr>
              <a:t>ODT should let teams encode standards, gates, and do/don't rules once, then reuse them across work.</a:t>
            </a:r>
          </a:p>
        </p:txBody>
      </p:sp>
      <p:sp>
        <p:nvSpPr>
          <p:cNvPr id="67" name="Rounded Rectangle 66">
            <a:extLst>
              <a:ext uri="{FF2B5EF4-FFF2-40B4-BE49-F238E27FC236}">
                <a16:creationId xmlns:a16="http://schemas.microsoft.com/office/drawing/2014/main" id="{4C62EC04-FC59-47D2-BC98-1F828300CA0C}"/>
              </a:ext>
            </a:extLst>
          </p:cNvPr>
          <p:cNvSpPr>
            <a:spLocks noGrp="1"/>
          </p:cNvSpPr>
          <p:nvPr/>
        </p:nvSpPr>
        <p:spPr>
          <a:xfrm>
            <a:off x="704850" y="1581150"/>
            <a:ext cx="2686050" cy="1276350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1430">
            <a:solidFill>
              <a:srgbClr val="DED8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9872A53A-A486-406E-9FFC-748AABA88634}"/>
              </a:ext>
            </a:extLst>
          </p:cNvPr>
          <p:cNvSpPr>
            <a:spLocks noGrp="1"/>
          </p:cNvSpPr>
          <p:nvPr/>
        </p:nvSpPr>
        <p:spPr>
          <a:xfrm>
            <a:off x="704850" y="1581150"/>
            <a:ext cx="76200" cy="1276350"/>
          </a:xfrm>
          <a:prstGeom prst="rect">
            <a:avLst/>
          </a:prstGeom>
          <a:solidFill>
            <a:srgbClr val="C7463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DF599BB4-A72D-4FDD-A4CB-559ED4196BA2}"/>
              </a:ext>
            </a:extLst>
          </p:cNvPr>
          <p:cNvSpPr>
            <a:spLocks noGrp="1"/>
          </p:cNvSpPr>
          <p:nvPr/>
        </p:nvSpPr>
        <p:spPr>
          <a:xfrm>
            <a:off x="914400" y="1752600"/>
            <a:ext cx="2286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 i="0">
                <a:solidFill>
                  <a:srgbClr val="8C1D18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8C1D18"/>
                </a:solidFill>
                <a:latin typeface="Aptos"/>
                <a:ea typeface="Aptos"/>
                <a:cs typeface="Aptos"/>
              </a:rPr>
              <a:t>Company policy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533D2174-EFD0-4B24-9A1E-C5834AC8C73F}"/>
              </a:ext>
            </a:extLst>
          </p:cNvPr>
          <p:cNvSpPr>
            <a:spLocks noGrp="1"/>
          </p:cNvSpPr>
          <p:nvPr/>
        </p:nvSpPr>
        <p:spPr>
          <a:xfrm>
            <a:off x="914400" y="2057400"/>
            <a:ext cx="22860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 i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2B2B2B"/>
                </a:solidFill>
                <a:latin typeface="Aptos"/>
                <a:ea typeface="Aptos"/>
                <a:cs typeface="Aptos"/>
              </a:rPr>
              <a:t>Security, dependency, data handling, accessibility, VPAT/WCAG, and approval expectations.</a:t>
            </a:r>
          </a:p>
        </p:txBody>
      </p:sp>
      <p:sp>
        <p:nvSpPr>
          <p:cNvPr id="71" name="Right Arrow 70">
            <a:extLst>
              <a:ext uri="{FF2B5EF4-FFF2-40B4-BE49-F238E27FC236}">
                <a16:creationId xmlns:a16="http://schemas.microsoft.com/office/drawing/2014/main" id="{49E40415-DD9E-4639-8A68-A5B72EFC6E04}"/>
              </a:ext>
            </a:extLst>
          </p:cNvPr>
          <p:cNvSpPr>
            <a:spLocks noGrp="1"/>
          </p:cNvSpPr>
          <p:nvPr/>
        </p:nvSpPr>
        <p:spPr>
          <a:xfrm>
            <a:off x="3571875" y="2114550"/>
            <a:ext cx="438150" cy="190500"/>
          </a:xfrm>
          <a:prstGeom prst="rightArrow">
            <a:avLst/>
          </a:prstGeom>
          <a:solidFill>
            <a:srgbClr val="C74634"/>
          </a:solidFill>
          <a:ln w="9525">
            <a:solidFill>
              <a:srgbClr val="C746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Rounded Rectangle 71">
            <a:extLst>
              <a:ext uri="{FF2B5EF4-FFF2-40B4-BE49-F238E27FC236}">
                <a16:creationId xmlns:a16="http://schemas.microsoft.com/office/drawing/2014/main" id="{60123CA9-6872-4018-B737-CD6A2EFA0BED}"/>
              </a:ext>
            </a:extLst>
          </p:cNvPr>
          <p:cNvSpPr>
            <a:spLocks noGrp="1"/>
          </p:cNvSpPr>
          <p:nvPr/>
        </p:nvSpPr>
        <p:spPr>
          <a:xfrm>
            <a:off x="4229100" y="1581150"/>
            <a:ext cx="2686050" cy="1276350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1430">
            <a:solidFill>
              <a:srgbClr val="DED8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40D11FF7-197C-4BBE-9228-0E9D418F9ED1}"/>
              </a:ext>
            </a:extLst>
          </p:cNvPr>
          <p:cNvSpPr>
            <a:spLocks noGrp="1"/>
          </p:cNvSpPr>
          <p:nvPr/>
        </p:nvSpPr>
        <p:spPr>
          <a:xfrm>
            <a:off x="4229100" y="1581150"/>
            <a:ext cx="76200" cy="1276350"/>
          </a:xfrm>
          <a:prstGeom prst="rect">
            <a:avLst/>
          </a:prstGeom>
          <a:solidFill>
            <a:srgbClr val="2E5F8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0A799F55-9BB4-430F-8E3D-3EC47B33A24C}"/>
              </a:ext>
            </a:extLst>
          </p:cNvPr>
          <p:cNvSpPr>
            <a:spLocks noGrp="1"/>
          </p:cNvSpPr>
          <p:nvPr/>
        </p:nvSpPr>
        <p:spPr>
          <a:xfrm>
            <a:off x="4438650" y="1752600"/>
            <a:ext cx="2286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 i="0">
                <a:solidFill>
                  <a:srgbClr val="8C1D18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8C1D18"/>
                </a:solidFill>
                <a:latin typeface="Aptos"/>
                <a:ea typeface="Aptos"/>
                <a:cs typeface="Aptos"/>
              </a:rPr>
              <a:t>Org / team pack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D64BAECE-2661-42D3-B42F-0382300EE5C0}"/>
              </a:ext>
            </a:extLst>
          </p:cNvPr>
          <p:cNvSpPr>
            <a:spLocks noGrp="1"/>
          </p:cNvSpPr>
          <p:nvPr/>
        </p:nvSpPr>
        <p:spPr>
          <a:xfrm>
            <a:off x="4438650" y="2057400"/>
            <a:ext cx="22860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 i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2B2B2B"/>
                </a:solidFill>
                <a:latin typeface="Aptos"/>
                <a:ea typeface="Aptos"/>
                <a:cs typeface="Aptos"/>
              </a:rPr>
              <a:t>Team-specific coding standards, test expectations, review ownership, and release rules.</a:t>
            </a:r>
          </a:p>
        </p:txBody>
      </p:sp>
      <p:sp>
        <p:nvSpPr>
          <p:cNvPr id="76" name="Right Arrow 75">
            <a:extLst>
              <a:ext uri="{FF2B5EF4-FFF2-40B4-BE49-F238E27FC236}">
                <a16:creationId xmlns:a16="http://schemas.microsoft.com/office/drawing/2014/main" id="{0FA5C283-BF14-4D37-ACE0-BDBF007B8007}"/>
              </a:ext>
            </a:extLst>
          </p:cNvPr>
          <p:cNvSpPr>
            <a:spLocks noGrp="1"/>
          </p:cNvSpPr>
          <p:nvPr/>
        </p:nvSpPr>
        <p:spPr>
          <a:xfrm>
            <a:off x="7096125" y="2114550"/>
            <a:ext cx="438150" cy="190500"/>
          </a:xfrm>
          <a:prstGeom prst="rightArrow">
            <a:avLst/>
          </a:prstGeom>
          <a:solidFill>
            <a:srgbClr val="C74634"/>
          </a:solidFill>
          <a:ln w="9525">
            <a:solidFill>
              <a:srgbClr val="C746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Rounded Rectangle 76">
            <a:extLst>
              <a:ext uri="{FF2B5EF4-FFF2-40B4-BE49-F238E27FC236}">
                <a16:creationId xmlns:a16="http://schemas.microsoft.com/office/drawing/2014/main" id="{49BFBDDF-0A17-4EAF-8FD2-2293EA9BF198}"/>
              </a:ext>
            </a:extLst>
          </p:cNvPr>
          <p:cNvSpPr>
            <a:spLocks noGrp="1"/>
          </p:cNvSpPr>
          <p:nvPr/>
        </p:nvSpPr>
        <p:spPr>
          <a:xfrm>
            <a:off x="7753350" y="1581150"/>
            <a:ext cx="2686050" cy="1276350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1430">
            <a:solidFill>
              <a:srgbClr val="DED8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1571D16E-1A93-4A69-8453-3B53E8ED321B}"/>
              </a:ext>
            </a:extLst>
          </p:cNvPr>
          <p:cNvSpPr>
            <a:spLocks noGrp="1"/>
          </p:cNvSpPr>
          <p:nvPr/>
        </p:nvSpPr>
        <p:spPr>
          <a:xfrm>
            <a:off x="7753350" y="1581150"/>
            <a:ext cx="76200" cy="1276350"/>
          </a:xfrm>
          <a:prstGeom prst="rect">
            <a:avLst/>
          </a:prstGeom>
          <a:solidFill>
            <a:srgbClr val="2F7D4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1C7CEB6D-79C9-406C-B1DE-5F0D2AB64256}"/>
              </a:ext>
            </a:extLst>
          </p:cNvPr>
          <p:cNvSpPr>
            <a:spLocks noGrp="1"/>
          </p:cNvSpPr>
          <p:nvPr/>
        </p:nvSpPr>
        <p:spPr>
          <a:xfrm>
            <a:off x="7962900" y="1752600"/>
            <a:ext cx="2286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 i="0">
                <a:solidFill>
                  <a:srgbClr val="8C1D18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8C1D18"/>
                </a:solidFill>
                <a:latin typeface="Aptos"/>
                <a:ea typeface="Aptos"/>
                <a:cs typeface="Aptos"/>
              </a:rPr>
              <a:t>Repo / task rules</a:t>
            </a: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0F091082-FD94-48DF-A417-8C8A1CA6CCCF}"/>
              </a:ext>
            </a:extLst>
          </p:cNvPr>
          <p:cNvSpPr>
            <a:spLocks noGrp="1"/>
          </p:cNvSpPr>
          <p:nvPr/>
        </p:nvSpPr>
        <p:spPr>
          <a:xfrm>
            <a:off x="7962900" y="2057400"/>
            <a:ext cx="22860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 i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2B2B2B"/>
                </a:solidFill>
                <a:latin typeface="Aptos"/>
                <a:ea typeface="Aptos"/>
                <a:cs typeface="Aptos"/>
              </a:rPr>
              <a:t>Local constraints, restricted paths, approved commands, known risk areas, and task-specific gates.</a:t>
            </a:r>
          </a:p>
        </p:txBody>
      </p:sp>
      <p:sp>
        <p:nvSpPr>
          <p:cNvPr id="81" name="Rounded Rectangle 80">
            <a:extLst>
              <a:ext uri="{FF2B5EF4-FFF2-40B4-BE49-F238E27FC236}">
                <a16:creationId xmlns:a16="http://schemas.microsoft.com/office/drawing/2014/main" id="{C643BFD8-1FF1-4C49-AF13-C88CF11112C9}"/>
              </a:ext>
            </a:extLst>
          </p:cNvPr>
          <p:cNvSpPr>
            <a:spLocks noGrp="1"/>
          </p:cNvSpPr>
          <p:nvPr/>
        </p:nvSpPr>
        <p:spPr>
          <a:xfrm>
            <a:off x="1066800" y="3543300"/>
            <a:ext cx="9525000" cy="1352550"/>
          </a:xfrm>
          <a:prstGeom prst="roundRect">
            <a:avLst>
              <a:gd name="adj" fmla="val 5634"/>
            </a:avLst>
          </a:prstGeom>
          <a:solidFill>
            <a:srgbClr val="FFFDFC"/>
          </a:solidFill>
          <a:ln w="11430">
            <a:solidFill>
              <a:srgbClr val="DED8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Rounded Rectangle 81">
            <a:extLst>
              <a:ext uri="{FF2B5EF4-FFF2-40B4-BE49-F238E27FC236}">
                <a16:creationId xmlns:a16="http://schemas.microsoft.com/office/drawing/2014/main" id="{CB686030-A12E-4A72-8230-0DEAC72AF85E}"/>
              </a:ext>
            </a:extLst>
          </p:cNvPr>
          <p:cNvSpPr>
            <a:spLocks noGrp="1"/>
          </p:cNvSpPr>
          <p:nvPr/>
        </p:nvSpPr>
        <p:spPr>
          <a:xfrm>
            <a:off x="1409700" y="3924300"/>
            <a:ext cx="1219200" cy="457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DED8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06CE026B-F128-43BF-A765-F31657832A6C}"/>
              </a:ext>
            </a:extLst>
          </p:cNvPr>
          <p:cNvSpPr>
            <a:spLocks noGrp="1"/>
          </p:cNvSpPr>
          <p:nvPr/>
        </p:nvSpPr>
        <p:spPr>
          <a:xfrm>
            <a:off x="1524000" y="4057650"/>
            <a:ext cx="152400" cy="152400"/>
          </a:xfrm>
          <a:prstGeom prst="ellipse">
            <a:avLst/>
          </a:prstGeom>
          <a:solidFill>
            <a:srgbClr val="C7463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782E954D-EC88-444A-A31B-6B6C04A8341A}"/>
              </a:ext>
            </a:extLst>
          </p:cNvPr>
          <p:cNvSpPr>
            <a:spLocks noGrp="1"/>
          </p:cNvSpPr>
          <p:nvPr/>
        </p:nvSpPr>
        <p:spPr>
          <a:xfrm>
            <a:off x="1733550" y="4038600"/>
            <a:ext cx="8001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1" i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2B2B2B"/>
                </a:solidFill>
                <a:latin typeface="Aptos"/>
                <a:ea typeface="Aptos"/>
                <a:cs typeface="Aptos"/>
              </a:rPr>
              <a:t>Accessibility</a:t>
            </a:r>
          </a:p>
        </p:txBody>
      </p:sp>
      <p:sp>
        <p:nvSpPr>
          <p:cNvPr id="85" name="Rounded Rectangle 84">
            <a:extLst>
              <a:ext uri="{FF2B5EF4-FFF2-40B4-BE49-F238E27FC236}">
                <a16:creationId xmlns:a16="http://schemas.microsoft.com/office/drawing/2014/main" id="{EE6C1701-315F-47D2-9EEC-152723F110E0}"/>
              </a:ext>
            </a:extLst>
          </p:cNvPr>
          <p:cNvSpPr>
            <a:spLocks noGrp="1"/>
          </p:cNvSpPr>
          <p:nvPr/>
        </p:nvSpPr>
        <p:spPr>
          <a:xfrm>
            <a:off x="2876550" y="3924300"/>
            <a:ext cx="1219200" cy="457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DED8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02F5BF8D-C38F-40F0-A131-C5A7E5E4E59C}"/>
              </a:ext>
            </a:extLst>
          </p:cNvPr>
          <p:cNvSpPr>
            <a:spLocks noGrp="1"/>
          </p:cNvSpPr>
          <p:nvPr/>
        </p:nvSpPr>
        <p:spPr>
          <a:xfrm>
            <a:off x="2990850" y="4057650"/>
            <a:ext cx="152400" cy="152400"/>
          </a:xfrm>
          <a:prstGeom prst="ellipse">
            <a:avLst/>
          </a:prstGeom>
          <a:solidFill>
            <a:srgbClr val="8C1D1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EF8D391D-ECF4-4FED-93A4-9C26CA6E4F41}"/>
              </a:ext>
            </a:extLst>
          </p:cNvPr>
          <p:cNvSpPr>
            <a:spLocks noGrp="1"/>
          </p:cNvSpPr>
          <p:nvPr/>
        </p:nvSpPr>
        <p:spPr>
          <a:xfrm>
            <a:off x="3200400" y="4038600"/>
            <a:ext cx="8001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1" i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2B2B2B"/>
                </a:solidFill>
                <a:latin typeface="Aptos"/>
                <a:ea typeface="Aptos"/>
                <a:cs typeface="Aptos"/>
              </a:rPr>
              <a:t>Security</a:t>
            </a:r>
          </a:p>
        </p:txBody>
      </p:sp>
      <p:sp>
        <p:nvSpPr>
          <p:cNvPr id="88" name="Rounded Rectangle 87">
            <a:extLst>
              <a:ext uri="{FF2B5EF4-FFF2-40B4-BE49-F238E27FC236}">
                <a16:creationId xmlns:a16="http://schemas.microsoft.com/office/drawing/2014/main" id="{EA955A66-188E-49EA-B023-0B10401E2C03}"/>
              </a:ext>
            </a:extLst>
          </p:cNvPr>
          <p:cNvSpPr>
            <a:spLocks noGrp="1"/>
          </p:cNvSpPr>
          <p:nvPr/>
        </p:nvSpPr>
        <p:spPr>
          <a:xfrm>
            <a:off x="4343400" y="3924300"/>
            <a:ext cx="1219200" cy="457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DED8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246B9131-6FE1-45B0-81C5-7BFD2E1B0F6A}"/>
              </a:ext>
            </a:extLst>
          </p:cNvPr>
          <p:cNvSpPr>
            <a:spLocks noGrp="1"/>
          </p:cNvSpPr>
          <p:nvPr/>
        </p:nvSpPr>
        <p:spPr>
          <a:xfrm>
            <a:off x="4457700" y="4057650"/>
            <a:ext cx="152400" cy="152400"/>
          </a:xfrm>
          <a:prstGeom prst="ellipse">
            <a:avLst/>
          </a:prstGeom>
          <a:solidFill>
            <a:srgbClr val="D99B2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5378E443-B8AD-4D0F-A9FA-A3B51BCC5026}"/>
              </a:ext>
            </a:extLst>
          </p:cNvPr>
          <p:cNvSpPr>
            <a:spLocks noGrp="1"/>
          </p:cNvSpPr>
          <p:nvPr/>
        </p:nvSpPr>
        <p:spPr>
          <a:xfrm>
            <a:off x="4667250" y="4038600"/>
            <a:ext cx="8001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1" i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2B2B2B"/>
                </a:solidFill>
                <a:latin typeface="Aptos"/>
                <a:ea typeface="Aptos"/>
                <a:cs typeface="Aptos"/>
              </a:rPr>
              <a:t>Dependency</a:t>
            </a:r>
          </a:p>
        </p:txBody>
      </p:sp>
      <p:sp>
        <p:nvSpPr>
          <p:cNvPr id="91" name="Rounded Rectangle 90">
            <a:extLst>
              <a:ext uri="{FF2B5EF4-FFF2-40B4-BE49-F238E27FC236}">
                <a16:creationId xmlns:a16="http://schemas.microsoft.com/office/drawing/2014/main" id="{166FDDD6-6EF4-4CD8-9CEC-D4152C8D24C0}"/>
              </a:ext>
            </a:extLst>
          </p:cNvPr>
          <p:cNvSpPr>
            <a:spLocks noGrp="1"/>
          </p:cNvSpPr>
          <p:nvPr/>
        </p:nvSpPr>
        <p:spPr>
          <a:xfrm>
            <a:off x="5810250" y="3924300"/>
            <a:ext cx="1219200" cy="457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DED8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2" name="Oval 91">
            <a:extLst>
              <a:ext uri="{FF2B5EF4-FFF2-40B4-BE49-F238E27FC236}">
                <a16:creationId xmlns:a16="http://schemas.microsoft.com/office/drawing/2014/main" id="{6FBF5CEE-D5A6-48C3-A1B1-B70EECCFFB0F}"/>
              </a:ext>
            </a:extLst>
          </p:cNvPr>
          <p:cNvSpPr>
            <a:spLocks noGrp="1"/>
          </p:cNvSpPr>
          <p:nvPr/>
        </p:nvSpPr>
        <p:spPr>
          <a:xfrm>
            <a:off x="5924550" y="4057650"/>
            <a:ext cx="152400" cy="152400"/>
          </a:xfrm>
          <a:prstGeom prst="ellipse">
            <a:avLst/>
          </a:prstGeom>
          <a:solidFill>
            <a:srgbClr val="2E5F8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1D42A6E5-BF1B-41F0-9096-3B26AE75E484}"/>
              </a:ext>
            </a:extLst>
          </p:cNvPr>
          <p:cNvSpPr>
            <a:spLocks noGrp="1"/>
          </p:cNvSpPr>
          <p:nvPr/>
        </p:nvSpPr>
        <p:spPr>
          <a:xfrm>
            <a:off x="6134100" y="4038600"/>
            <a:ext cx="8001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1" i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2B2B2B"/>
                </a:solidFill>
                <a:latin typeface="Aptos"/>
                <a:ea typeface="Aptos"/>
                <a:cs typeface="Aptos"/>
              </a:rPr>
              <a:t>Testing</a:t>
            </a:r>
          </a:p>
        </p:txBody>
      </p:sp>
      <p:sp>
        <p:nvSpPr>
          <p:cNvPr id="94" name="Rounded Rectangle 93">
            <a:extLst>
              <a:ext uri="{FF2B5EF4-FFF2-40B4-BE49-F238E27FC236}">
                <a16:creationId xmlns:a16="http://schemas.microsoft.com/office/drawing/2014/main" id="{37B16566-5F63-45B8-A508-8AB4806CC5F4}"/>
              </a:ext>
            </a:extLst>
          </p:cNvPr>
          <p:cNvSpPr>
            <a:spLocks noGrp="1"/>
          </p:cNvSpPr>
          <p:nvPr/>
        </p:nvSpPr>
        <p:spPr>
          <a:xfrm>
            <a:off x="7277100" y="3924300"/>
            <a:ext cx="1219200" cy="457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DED8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5" name="Oval 94">
            <a:extLst>
              <a:ext uri="{FF2B5EF4-FFF2-40B4-BE49-F238E27FC236}">
                <a16:creationId xmlns:a16="http://schemas.microsoft.com/office/drawing/2014/main" id="{0B719D55-F529-47BE-BE63-1932406221A4}"/>
              </a:ext>
            </a:extLst>
          </p:cNvPr>
          <p:cNvSpPr>
            <a:spLocks noGrp="1"/>
          </p:cNvSpPr>
          <p:nvPr/>
        </p:nvSpPr>
        <p:spPr>
          <a:xfrm>
            <a:off x="7391400" y="4057650"/>
            <a:ext cx="152400" cy="152400"/>
          </a:xfrm>
          <a:prstGeom prst="ellipse">
            <a:avLst/>
          </a:prstGeom>
          <a:solidFill>
            <a:srgbClr val="2F7D4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91CD7B2C-F550-45C0-B5F2-DB3F46ED1DC5}"/>
              </a:ext>
            </a:extLst>
          </p:cNvPr>
          <p:cNvSpPr>
            <a:spLocks noGrp="1"/>
          </p:cNvSpPr>
          <p:nvPr/>
        </p:nvSpPr>
        <p:spPr>
          <a:xfrm>
            <a:off x="7600950" y="4038600"/>
            <a:ext cx="8001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1" i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2B2B2B"/>
                </a:solidFill>
                <a:latin typeface="Aptos"/>
                <a:ea typeface="Aptos"/>
                <a:cs typeface="Aptos"/>
              </a:rPr>
              <a:t>Review</a:t>
            </a:r>
          </a:p>
        </p:txBody>
      </p:sp>
      <p:sp>
        <p:nvSpPr>
          <p:cNvPr id="97" name="Rounded Rectangle 96">
            <a:extLst>
              <a:ext uri="{FF2B5EF4-FFF2-40B4-BE49-F238E27FC236}">
                <a16:creationId xmlns:a16="http://schemas.microsoft.com/office/drawing/2014/main" id="{78979FBD-7B39-488C-8E9E-BFB7011CCBAA}"/>
              </a:ext>
            </a:extLst>
          </p:cNvPr>
          <p:cNvSpPr>
            <a:spLocks noGrp="1"/>
          </p:cNvSpPr>
          <p:nvPr/>
        </p:nvSpPr>
        <p:spPr>
          <a:xfrm>
            <a:off x="8743950" y="3924300"/>
            <a:ext cx="1219200" cy="457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DED8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8" name="Oval 97">
            <a:extLst>
              <a:ext uri="{FF2B5EF4-FFF2-40B4-BE49-F238E27FC236}">
                <a16:creationId xmlns:a16="http://schemas.microsoft.com/office/drawing/2014/main" id="{0D7831DA-5AFE-4943-AEE8-CAD45BF21E0D}"/>
              </a:ext>
            </a:extLst>
          </p:cNvPr>
          <p:cNvSpPr>
            <a:spLocks noGrp="1"/>
          </p:cNvSpPr>
          <p:nvPr/>
        </p:nvSpPr>
        <p:spPr>
          <a:xfrm>
            <a:off x="8858250" y="4057650"/>
            <a:ext cx="152400" cy="152400"/>
          </a:xfrm>
          <a:prstGeom prst="ellipse">
            <a:avLst/>
          </a:prstGeom>
          <a:solidFill>
            <a:srgbClr val="7A5AC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944330AF-8959-4374-A68A-C64BD1328D86}"/>
              </a:ext>
            </a:extLst>
          </p:cNvPr>
          <p:cNvSpPr>
            <a:spLocks noGrp="1"/>
          </p:cNvSpPr>
          <p:nvPr/>
        </p:nvSpPr>
        <p:spPr>
          <a:xfrm>
            <a:off x="9067800" y="4038600"/>
            <a:ext cx="8001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1" i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2B2B2B"/>
                </a:solidFill>
                <a:latin typeface="Aptos"/>
                <a:ea typeface="Aptos"/>
                <a:cs typeface="Aptos"/>
              </a:rPr>
              <a:t>PR readiness</a:t>
            </a: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66F8A646-18C6-4E11-8133-BEA183AA9924}"/>
              </a:ext>
            </a:extLst>
          </p:cNvPr>
          <p:cNvSpPr>
            <a:spLocks noGrp="1"/>
          </p:cNvSpPr>
          <p:nvPr/>
        </p:nvSpPr>
        <p:spPr>
          <a:xfrm>
            <a:off x="1466850" y="4591050"/>
            <a:ext cx="8096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 i="0">
                <a:solidFill>
                  <a:srgbClr val="8C1D18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8C1D18"/>
                </a:solidFill>
                <a:latin typeface="Aptos"/>
                <a:ea typeface="Aptos"/>
                <a:cs typeface="Aptos"/>
              </a:rPr>
              <a:t>Policy packs turn ODT from one team's workflow into an enterprise reusable governance layer.</a:t>
            </a: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BA956708-DF96-4615-9D78-B72F43768CA5}"/>
              </a:ext>
            </a:extLst>
          </p:cNvPr>
          <p:cNvSpPr>
            <a:spLocks noGrp="1"/>
          </p:cNvSpPr>
          <p:nvPr/>
        </p:nvSpPr>
        <p:spPr>
          <a:xfrm>
            <a:off x="838200" y="5562600"/>
            <a:ext cx="10477500" cy="438150"/>
          </a:xfrm>
          <a:prstGeom prst="rect">
            <a:avLst/>
          </a:prstGeom>
          <a:solidFill>
            <a:srgbClr val="FFF4D6"/>
          </a:solidFill>
          <a:ln w="9525">
            <a:solidFill>
              <a:srgbClr val="E9C8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901A7D8E-5E73-4226-9A72-9BFF6FB37733}"/>
              </a:ext>
            </a:extLst>
          </p:cNvPr>
          <p:cNvSpPr>
            <a:spLocks noGrp="1"/>
          </p:cNvSpPr>
          <p:nvPr/>
        </p:nvSpPr>
        <p:spPr>
          <a:xfrm>
            <a:off x="1009650" y="5657850"/>
            <a:ext cx="101346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650" b="0" i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650" b="0" i="0">
                <a:solidFill>
                  <a:srgbClr val="2B2B2B"/>
                </a:solidFill>
                <a:latin typeface="Aptos"/>
                <a:ea typeface="Aptos"/>
                <a:cs typeface="Aptos"/>
              </a:rPr>
              <a:t>Key differentiator: teams can customize rules while keeping the approval and evidence model consistent.</a:t>
            </a:r>
          </a:p>
        </p:txBody>
      </p:sp>
    </p:spTree>
    <p:extLst>
      <p:ext uri="{BB962C8B-B14F-4D97-AF65-F5344CB8AC3E}">
        <p14:creationId xmlns:p14="http://schemas.microsoft.com/office/powerpoint/2010/main" val="10565018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Rectangle 85">
            <a:extLst>
              <a:ext uri="{FF2B5EF4-FFF2-40B4-BE49-F238E27FC236}">
                <a16:creationId xmlns:a16="http://schemas.microsoft.com/office/drawing/2014/main" id="{AE827BDA-856E-4FB9-8C2C-5C1BE59EAB6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3A18BC6E-5776-4D58-8656-6F0216A481B7}"/>
              </a:ext>
            </a:extLst>
          </p:cNvPr>
          <p:cNvSpPr>
            <a:spLocks noGrp="1"/>
          </p:cNvSpPr>
          <p:nvPr/>
        </p:nvSpPr>
        <p:spPr>
          <a:xfrm>
            <a:off x="6858000" y="323850"/>
            <a:ext cx="1714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DB01ED0C-AC81-44F2-AEC8-DB1367E736F4}"/>
              </a:ext>
            </a:extLst>
          </p:cNvPr>
          <p:cNvSpPr>
            <a:spLocks noGrp="1"/>
          </p:cNvSpPr>
          <p:nvPr/>
        </p:nvSpPr>
        <p:spPr>
          <a:xfrm>
            <a:off x="7105650" y="361950"/>
            <a:ext cx="26670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573789BA-561C-4324-B910-C43FCBA260C8}"/>
              </a:ext>
            </a:extLst>
          </p:cNvPr>
          <p:cNvSpPr>
            <a:spLocks noGrp="1"/>
          </p:cNvSpPr>
          <p:nvPr/>
        </p:nvSpPr>
        <p:spPr>
          <a:xfrm>
            <a:off x="7353300" y="400050"/>
            <a:ext cx="3619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5268C6C0-C4A7-4F9A-BEAC-4F9C826784F5}"/>
              </a:ext>
            </a:extLst>
          </p:cNvPr>
          <p:cNvSpPr>
            <a:spLocks noGrp="1"/>
          </p:cNvSpPr>
          <p:nvPr/>
        </p:nvSpPr>
        <p:spPr>
          <a:xfrm>
            <a:off x="7600950" y="323850"/>
            <a:ext cx="45720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7384B0B3-0CF3-4E5E-811F-1FAFBE7D4B25}"/>
              </a:ext>
            </a:extLst>
          </p:cNvPr>
          <p:cNvSpPr>
            <a:spLocks noGrp="1"/>
          </p:cNvSpPr>
          <p:nvPr/>
        </p:nvSpPr>
        <p:spPr>
          <a:xfrm>
            <a:off x="7848600" y="361950"/>
            <a:ext cx="5524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DD641CC0-675A-460C-BC68-B2A519C43DB2}"/>
              </a:ext>
            </a:extLst>
          </p:cNvPr>
          <p:cNvSpPr>
            <a:spLocks noGrp="1"/>
          </p:cNvSpPr>
          <p:nvPr/>
        </p:nvSpPr>
        <p:spPr>
          <a:xfrm>
            <a:off x="8096250" y="400050"/>
            <a:ext cx="1714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25A60CE5-DCB5-484D-9A98-C0C8E1045D51}"/>
              </a:ext>
            </a:extLst>
          </p:cNvPr>
          <p:cNvSpPr>
            <a:spLocks noGrp="1"/>
          </p:cNvSpPr>
          <p:nvPr/>
        </p:nvSpPr>
        <p:spPr>
          <a:xfrm>
            <a:off x="8343900" y="323850"/>
            <a:ext cx="26670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6FE10710-34E6-4D9F-AFD2-FFAA26F6FDA0}"/>
              </a:ext>
            </a:extLst>
          </p:cNvPr>
          <p:cNvSpPr>
            <a:spLocks noGrp="1"/>
          </p:cNvSpPr>
          <p:nvPr/>
        </p:nvSpPr>
        <p:spPr>
          <a:xfrm>
            <a:off x="8591550" y="361950"/>
            <a:ext cx="3619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9804F6C3-89E2-4C80-9535-A7AD2A65A77D}"/>
              </a:ext>
            </a:extLst>
          </p:cNvPr>
          <p:cNvSpPr>
            <a:spLocks noGrp="1"/>
          </p:cNvSpPr>
          <p:nvPr/>
        </p:nvSpPr>
        <p:spPr>
          <a:xfrm>
            <a:off x="8839200" y="400050"/>
            <a:ext cx="45720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650174C1-683D-46D4-87D9-815F0268D15F}"/>
              </a:ext>
            </a:extLst>
          </p:cNvPr>
          <p:cNvSpPr>
            <a:spLocks noGrp="1"/>
          </p:cNvSpPr>
          <p:nvPr/>
        </p:nvSpPr>
        <p:spPr>
          <a:xfrm>
            <a:off x="9086850" y="323850"/>
            <a:ext cx="5524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0A77EABD-4276-41C4-B883-69CC1AA35F46}"/>
              </a:ext>
            </a:extLst>
          </p:cNvPr>
          <p:cNvSpPr>
            <a:spLocks noGrp="1"/>
          </p:cNvSpPr>
          <p:nvPr/>
        </p:nvSpPr>
        <p:spPr>
          <a:xfrm>
            <a:off x="9334500" y="361950"/>
            <a:ext cx="1714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6D3B4BC4-69FE-4DA4-8B53-026366D50AA5}"/>
              </a:ext>
            </a:extLst>
          </p:cNvPr>
          <p:cNvSpPr>
            <a:spLocks noGrp="1"/>
          </p:cNvSpPr>
          <p:nvPr/>
        </p:nvSpPr>
        <p:spPr>
          <a:xfrm>
            <a:off x="9582150" y="400050"/>
            <a:ext cx="26670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D7B57AC7-ED34-4684-BFEE-E58F4518CDDF}"/>
              </a:ext>
            </a:extLst>
          </p:cNvPr>
          <p:cNvSpPr>
            <a:spLocks noGrp="1"/>
          </p:cNvSpPr>
          <p:nvPr/>
        </p:nvSpPr>
        <p:spPr>
          <a:xfrm>
            <a:off x="9829800" y="323850"/>
            <a:ext cx="3619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F003B82D-F6D5-4DB5-BE1B-E9048220085E}"/>
              </a:ext>
            </a:extLst>
          </p:cNvPr>
          <p:cNvSpPr>
            <a:spLocks noGrp="1"/>
          </p:cNvSpPr>
          <p:nvPr/>
        </p:nvSpPr>
        <p:spPr>
          <a:xfrm>
            <a:off x="10077450" y="361950"/>
            <a:ext cx="45720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2D481A41-B7F9-44BD-B5D1-5F36C4B65F3A}"/>
              </a:ext>
            </a:extLst>
          </p:cNvPr>
          <p:cNvSpPr>
            <a:spLocks noGrp="1"/>
          </p:cNvSpPr>
          <p:nvPr/>
        </p:nvSpPr>
        <p:spPr>
          <a:xfrm>
            <a:off x="10325100" y="400050"/>
            <a:ext cx="5524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181E1129-6AF9-467C-B079-71B17DD24208}"/>
              </a:ext>
            </a:extLst>
          </p:cNvPr>
          <p:cNvSpPr>
            <a:spLocks noGrp="1"/>
          </p:cNvSpPr>
          <p:nvPr/>
        </p:nvSpPr>
        <p:spPr>
          <a:xfrm>
            <a:off x="10572750" y="323850"/>
            <a:ext cx="1714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B5F6A712-7B07-4FE5-8DFB-67A195375301}"/>
              </a:ext>
            </a:extLst>
          </p:cNvPr>
          <p:cNvSpPr>
            <a:spLocks noGrp="1"/>
          </p:cNvSpPr>
          <p:nvPr/>
        </p:nvSpPr>
        <p:spPr>
          <a:xfrm>
            <a:off x="6972300" y="552450"/>
            <a:ext cx="26670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42D82F2D-42DE-4530-B994-A8AD5573FF18}"/>
              </a:ext>
            </a:extLst>
          </p:cNvPr>
          <p:cNvSpPr>
            <a:spLocks noGrp="1"/>
          </p:cNvSpPr>
          <p:nvPr/>
        </p:nvSpPr>
        <p:spPr>
          <a:xfrm>
            <a:off x="7219950" y="590550"/>
            <a:ext cx="3619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5EB4F7E4-630D-47A7-9935-E906C2BA3C08}"/>
              </a:ext>
            </a:extLst>
          </p:cNvPr>
          <p:cNvSpPr>
            <a:spLocks noGrp="1"/>
          </p:cNvSpPr>
          <p:nvPr/>
        </p:nvSpPr>
        <p:spPr>
          <a:xfrm>
            <a:off x="7467600" y="628650"/>
            <a:ext cx="45720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D76A58B5-03A5-4D5F-AE17-BA830AB7ED2D}"/>
              </a:ext>
            </a:extLst>
          </p:cNvPr>
          <p:cNvSpPr>
            <a:spLocks noGrp="1"/>
          </p:cNvSpPr>
          <p:nvPr/>
        </p:nvSpPr>
        <p:spPr>
          <a:xfrm>
            <a:off x="7715250" y="552450"/>
            <a:ext cx="5524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D020C748-5F55-4F5B-8A6B-1EFFE270CD50}"/>
              </a:ext>
            </a:extLst>
          </p:cNvPr>
          <p:cNvSpPr>
            <a:spLocks noGrp="1"/>
          </p:cNvSpPr>
          <p:nvPr/>
        </p:nvSpPr>
        <p:spPr>
          <a:xfrm>
            <a:off x="7962900" y="590550"/>
            <a:ext cx="1714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C229AC3A-5905-4536-B501-7C59129355AC}"/>
              </a:ext>
            </a:extLst>
          </p:cNvPr>
          <p:cNvSpPr>
            <a:spLocks noGrp="1"/>
          </p:cNvSpPr>
          <p:nvPr/>
        </p:nvSpPr>
        <p:spPr>
          <a:xfrm>
            <a:off x="8210550" y="628650"/>
            <a:ext cx="26670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06A5D31B-AFCE-4F5D-A849-DDF6E21507D4}"/>
              </a:ext>
            </a:extLst>
          </p:cNvPr>
          <p:cNvSpPr>
            <a:spLocks noGrp="1"/>
          </p:cNvSpPr>
          <p:nvPr/>
        </p:nvSpPr>
        <p:spPr>
          <a:xfrm>
            <a:off x="8458200" y="552450"/>
            <a:ext cx="3619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6D45CA31-E05B-4CCC-8444-9678E53E09F9}"/>
              </a:ext>
            </a:extLst>
          </p:cNvPr>
          <p:cNvSpPr>
            <a:spLocks noGrp="1"/>
          </p:cNvSpPr>
          <p:nvPr/>
        </p:nvSpPr>
        <p:spPr>
          <a:xfrm>
            <a:off x="8705850" y="590550"/>
            <a:ext cx="45720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94A0A9CE-655D-4EF0-AE0B-2ECC45AA9BE1}"/>
              </a:ext>
            </a:extLst>
          </p:cNvPr>
          <p:cNvSpPr>
            <a:spLocks noGrp="1"/>
          </p:cNvSpPr>
          <p:nvPr/>
        </p:nvSpPr>
        <p:spPr>
          <a:xfrm>
            <a:off x="8953500" y="628650"/>
            <a:ext cx="5524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E536FC16-2F88-4707-8A19-BE9233815051}"/>
              </a:ext>
            </a:extLst>
          </p:cNvPr>
          <p:cNvSpPr>
            <a:spLocks noGrp="1"/>
          </p:cNvSpPr>
          <p:nvPr/>
        </p:nvSpPr>
        <p:spPr>
          <a:xfrm>
            <a:off x="9201150" y="552450"/>
            <a:ext cx="1714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1D1E7E1C-3279-4D21-B948-AE31FF428114}"/>
              </a:ext>
            </a:extLst>
          </p:cNvPr>
          <p:cNvSpPr>
            <a:spLocks noGrp="1"/>
          </p:cNvSpPr>
          <p:nvPr/>
        </p:nvSpPr>
        <p:spPr>
          <a:xfrm>
            <a:off x="9448800" y="590550"/>
            <a:ext cx="26670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498ADB28-1DD4-4AB1-B701-DF9FA2EFB0E2}"/>
              </a:ext>
            </a:extLst>
          </p:cNvPr>
          <p:cNvSpPr>
            <a:spLocks noGrp="1"/>
          </p:cNvSpPr>
          <p:nvPr/>
        </p:nvSpPr>
        <p:spPr>
          <a:xfrm>
            <a:off x="9696450" y="628650"/>
            <a:ext cx="3619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47FB846D-5D9E-4362-9F5C-F9969FB11876}"/>
              </a:ext>
            </a:extLst>
          </p:cNvPr>
          <p:cNvSpPr>
            <a:spLocks noGrp="1"/>
          </p:cNvSpPr>
          <p:nvPr/>
        </p:nvSpPr>
        <p:spPr>
          <a:xfrm>
            <a:off x="9944100" y="552450"/>
            <a:ext cx="45720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10156196-14C5-422D-BCC1-9CBAFA85E8DE}"/>
              </a:ext>
            </a:extLst>
          </p:cNvPr>
          <p:cNvSpPr>
            <a:spLocks noGrp="1"/>
          </p:cNvSpPr>
          <p:nvPr/>
        </p:nvSpPr>
        <p:spPr>
          <a:xfrm>
            <a:off x="10191750" y="590550"/>
            <a:ext cx="5524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D11C919A-B2BE-42A3-8F85-A1A5AB31B5E2}"/>
              </a:ext>
            </a:extLst>
          </p:cNvPr>
          <p:cNvSpPr>
            <a:spLocks noGrp="1"/>
          </p:cNvSpPr>
          <p:nvPr/>
        </p:nvSpPr>
        <p:spPr>
          <a:xfrm>
            <a:off x="10439400" y="628650"/>
            <a:ext cx="1714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BC08F8F8-90E0-48C6-841B-E38AD1C0C970}"/>
              </a:ext>
            </a:extLst>
          </p:cNvPr>
          <p:cNvSpPr>
            <a:spLocks noGrp="1"/>
          </p:cNvSpPr>
          <p:nvPr/>
        </p:nvSpPr>
        <p:spPr>
          <a:xfrm>
            <a:off x="10687050" y="552450"/>
            <a:ext cx="26670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7A04C720-9989-42CE-A499-D5732DA0FF43}"/>
              </a:ext>
            </a:extLst>
          </p:cNvPr>
          <p:cNvSpPr>
            <a:spLocks noGrp="1"/>
          </p:cNvSpPr>
          <p:nvPr/>
        </p:nvSpPr>
        <p:spPr>
          <a:xfrm>
            <a:off x="6858000" y="781050"/>
            <a:ext cx="3619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8C181FB7-D57B-4D8B-ACEC-80ABE8F691D8}"/>
              </a:ext>
            </a:extLst>
          </p:cNvPr>
          <p:cNvSpPr>
            <a:spLocks noGrp="1"/>
          </p:cNvSpPr>
          <p:nvPr/>
        </p:nvSpPr>
        <p:spPr>
          <a:xfrm>
            <a:off x="7105650" y="819150"/>
            <a:ext cx="45720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744A99B8-F50C-4E7D-914A-DEA9F0D1FE64}"/>
              </a:ext>
            </a:extLst>
          </p:cNvPr>
          <p:cNvSpPr>
            <a:spLocks noGrp="1"/>
          </p:cNvSpPr>
          <p:nvPr/>
        </p:nvSpPr>
        <p:spPr>
          <a:xfrm>
            <a:off x="7353300" y="857250"/>
            <a:ext cx="5524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77EDDC39-C793-4298-B02A-26BF0B7BAF20}"/>
              </a:ext>
            </a:extLst>
          </p:cNvPr>
          <p:cNvSpPr>
            <a:spLocks noGrp="1"/>
          </p:cNvSpPr>
          <p:nvPr/>
        </p:nvSpPr>
        <p:spPr>
          <a:xfrm>
            <a:off x="7600950" y="781050"/>
            <a:ext cx="1714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CFA1FB9F-CE76-44DF-8596-8C1ACEB840B1}"/>
              </a:ext>
            </a:extLst>
          </p:cNvPr>
          <p:cNvSpPr>
            <a:spLocks noGrp="1"/>
          </p:cNvSpPr>
          <p:nvPr/>
        </p:nvSpPr>
        <p:spPr>
          <a:xfrm>
            <a:off x="7848600" y="819150"/>
            <a:ext cx="26670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97B31D9C-7AD7-4316-8FF4-00B720E75FCB}"/>
              </a:ext>
            </a:extLst>
          </p:cNvPr>
          <p:cNvSpPr>
            <a:spLocks noGrp="1"/>
          </p:cNvSpPr>
          <p:nvPr/>
        </p:nvSpPr>
        <p:spPr>
          <a:xfrm>
            <a:off x="8096250" y="857250"/>
            <a:ext cx="3619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42B02C2A-B128-4DE3-A12A-A5115F484019}"/>
              </a:ext>
            </a:extLst>
          </p:cNvPr>
          <p:cNvSpPr>
            <a:spLocks noGrp="1"/>
          </p:cNvSpPr>
          <p:nvPr/>
        </p:nvSpPr>
        <p:spPr>
          <a:xfrm>
            <a:off x="8343900" y="781050"/>
            <a:ext cx="45720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51ED9884-AF85-43A5-A16E-B92BB9B75417}"/>
              </a:ext>
            </a:extLst>
          </p:cNvPr>
          <p:cNvSpPr>
            <a:spLocks noGrp="1"/>
          </p:cNvSpPr>
          <p:nvPr/>
        </p:nvSpPr>
        <p:spPr>
          <a:xfrm>
            <a:off x="8591550" y="819150"/>
            <a:ext cx="5524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ADD90604-AA77-46C0-B6D5-72B48D26E920}"/>
              </a:ext>
            </a:extLst>
          </p:cNvPr>
          <p:cNvSpPr>
            <a:spLocks noGrp="1"/>
          </p:cNvSpPr>
          <p:nvPr/>
        </p:nvSpPr>
        <p:spPr>
          <a:xfrm>
            <a:off x="8839200" y="857250"/>
            <a:ext cx="1714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9399C781-6C9B-4122-93C7-613F1C2E89E1}"/>
              </a:ext>
            </a:extLst>
          </p:cNvPr>
          <p:cNvSpPr>
            <a:spLocks noGrp="1"/>
          </p:cNvSpPr>
          <p:nvPr/>
        </p:nvSpPr>
        <p:spPr>
          <a:xfrm>
            <a:off x="9086850" y="781050"/>
            <a:ext cx="26670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62902426-2459-485B-9E62-D9570C873E6A}"/>
              </a:ext>
            </a:extLst>
          </p:cNvPr>
          <p:cNvSpPr>
            <a:spLocks noGrp="1"/>
          </p:cNvSpPr>
          <p:nvPr/>
        </p:nvSpPr>
        <p:spPr>
          <a:xfrm>
            <a:off x="9334500" y="819150"/>
            <a:ext cx="3619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Rounded Rectangle 44">
            <a:extLst>
              <a:ext uri="{FF2B5EF4-FFF2-40B4-BE49-F238E27FC236}">
                <a16:creationId xmlns:a16="http://schemas.microsoft.com/office/drawing/2014/main" id="{D571AB8A-F843-4299-B753-A51B4DA227BF}"/>
              </a:ext>
            </a:extLst>
          </p:cNvPr>
          <p:cNvSpPr>
            <a:spLocks noGrp="1"/>
          </p:cNvSpPr>
          <p:nvPr/>
        </p:nvSpPr>
        <p:spPr>
          <a:xfrm>
            <a:off x="9582150" y="857250"/>
            <a:ext cx="45720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Rounded Rectangle 45">
            <a:extLst>
              <a:ext uri="{FF2B5EF4-FFF2-40B4-BE49-F238E27FC236}">
                <a16:creationId xmlns:a16="http://schemas.microsoft.com/office/drawing/2014/main" id="{5A38D9AA-F4EB-4E58-8919-6E69EC25D2BA}"/>
              </a:ext>
            </a:extLst>
          </p:cNvPr>
          <p:cNvSpPr>
            <a:spLocks noGrp="1"/>
          </p:cNvSpPr>
          <p:nvPr/>
        </p:nvSpPr>
        <p:spPr>
          <a:xfrm>
            <a:off x="9829800" y="781050"/>
            <a:ext cx="5524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Rounded Rectangle 46">
            <a:extLst>
              <a:ext uri="{FF2B5EF4-FFF2-40B4-BE49-F238E27FC236}">
                <a16:creationId xmlns:a16="http://schemas.microsoft.com/office/drawing/2014/main" id="{9CE8669D-3AE3-4EB2-9E9C-3FAA97544937}"/>
              </a:ext>
            </a:extLst>
          </p:cNvPr>
          <p:cNvSpPr>
            <a:spLocks noGrp="1"/>
          </p:cNvSpPr>
          <p:nvPr/>
        </p:nvSpPr>
        <p:spPr>
          <a:xfrm>
            <a:off x="10077450" y="819150"/>
            <a:ext cx="1714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Rounded Rectangle 47">
            <a:extLst>
              <a:ext uri="{FF2B5EF4-FFF2-40B4-BE49-F238E27FC236}">
                <a16:creationId xmlns:a16="http://schemas.microsoft.com/office/drawing/2014/main" id="{80099BB1-BCD8-4D8B-880D-9A20F0C83540}"/>
              </a:ext>
            </a:extLst>
          </p:cNvPr>
          <p:cNvSpPr>
            <a:spLocks noGrp="1"/>
          </p:cNvSpPr>
          <p:nvPr/>
        </p:nvSpPr>
        <p:spPr>
          <a:xfrm>
            <a:off x="10325100" y="857250"/>
            <a:ext cx="26670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Rounded Rectangle 48">
            <a:extLst>
              <a:ext uri="{FF2B5EF4-FFF2-40B4-BE49-F238E27FC236}">
                <a16:creationId xmlns:a16="http://schemas.microsoft.com/office/drawing/2014/main" id="{0BA43852-0BDD-491B-863A-C0D7632EA13F}"/>
              </a:ext>
            </a:extLst>
          </p:cNvPr>
          <p:cNvSpPr>
            <a:spLocks noGrp="1"/>
          </p:cNvSpPr>
          <p:nvPr/>
        </p:nvSpPr>
        <p:spPr>
          <a:xfrm>
            <a:off x="10572750" y="781050"/>
            <a:ext cx="3619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Rounded Rectangle 49">
            <a:extLst>
              <a:ext uri="{FF2B5EF4-FFF2-40B4-BE49-F238E27FC236}">
                <a16:creationId xmlns:a16="http://schemas.microsoft.com/office/drawing/2014/main" id="{DC9465E8-5AF5-4199-B644-610062658FB5}"/>
              </a:ext>
            </a:extLst>
          </p:cNvPr>
          <p:cNvSpPr>
            <a:spLocks noGrp="1"/>
          </p:cNvSpPr>
          <p:nvPr/>
        </p:nvSpPr>
        <p:spPr>
          <a:xfrm>
            <a:off x="6972300" y="1009650"/>
            <a:ext cx="45720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Rounded Rectangle 50">
            <a:extLst>
              <a:ext uri="{FF2B5EF4-FFF2-40B4-BE49-F238E27FC236}">
                <a16:creationId xmlns:a16="http://schemas.microsoft.com/office/drawing/2014/main" id="{85A28D8E-03FF-476E-BF13-A67B5BBA1224}"/>
              </a:ext>
            </a:extLst>
          </p:cNvPr>
          <p:cNvSpPr>
            <a:spLocks noGrp="1"/>
          </p:cNvSpPr>
          <p:nvPr/>
        </p:nvSpPr>
        <p:spPr>
          <a:xfrm>
            <a:off x="7219950" y="1047750"/>
            <a:ext cx="5524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Rounded Rectangle 51">
            <a:extLst>
              <a:ext uri="{FF2B5EF4-FFF2-40B4-BE49-F238E27FC236}">
                <a16:creationId xmlns:a16="http://schemas.microsoft.com/office/drawing/2014/main" id="{2986C972-B314-4C62-A5F0-938180DD163C}"/>
              </a:ext>
            </a:extLst>
          </p:cNvPr>
          <p:cNvSpPr>
            <a:spLocks noGrp="1"/>
          </p:cNvSpPr>
          <p:nvPr/>
        </p:nvSpPr>
        <p:spPr>
          <a:xfrm>
            <a:off x="7467600" y="1085850"/>
            <a:ext cx="1714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Rounded Rectangle 52">
            <a:extLst>
              <a:ext uri="{FF2B5EF4-FFF2-40B4-BE49-F238E27FC236}">
                <a16:creationId xmlns:a16="http://schemas.microsoft.com/office/drawing/2014/main" id="{C19E9915-9369-4BBE-A34A-0DCF24CED435}"/>
              </a:ext>
            </a:extLst>
          </p:cNvPr>
          <p:cNvSpPr>
            <a:spLocks noGrp="1"/>
          </p:cNvSpPr>
          <p:nvPr/>
        </p:nvSpPr>
        <p:spPr>
          <a:xfrm>
            <a:off x="7715250" y="1009650"/>
            <a:ext cx="26670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Rounded Rectangle 53">
            <a:extLst>
              <a:ext uri="{FF2B5EF4-FFF2-40B4-BE49-F238E27FC236}">
                <a16:creationId xmlns:a16="http://schemas.microsoft.com/office/drawing/2014/main" id="{60EDB9B8-2304-4C37-B7DF-F609D3791EAE}"/>
              </a:ext>
            </a:extLst>
          </p:cNvPr>
          <p:cNvSpPr>
            <a:spLocks noGrp="1"/>
          </p:cNvSpPr>
          <p:nvPr/>
        </p:nvSpPr>
        <p:spPr>
          <a:xfrm>
            <a:off x="7962900" y="1047750"/>
            <a:ext cx="3619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Rounded Rectangle 54">
            <a:extLst>
              <a:ext uri="{FF2B5EF4-FFF2-40B4-BE49-F238E27FC236}">
                <a16:creationId xmlns:a16="http://schemas.microsoft.com/office/drawing/2014/main" id="{4C549459-5E95-4DA1-8BDC-CD91F533FA89}"/>
              </a:ext>
            </a:extLst>
          </p:cNvPr>
          <p:cNvSpPr>
            <a:spLocks noGrp="1"/>
          </p:cNvSpPr>
          <p:nvPr/>
        </p:nvSpPr>
        <p:spPr>
          <a:xfrm>
            <a:off x="8210550" y="1085850"/>
            <a:ext cx="45720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Rounded Rectangle 55">
            <a:extLst>
              <a:ext uri="{FF2B5EF4-FFF2-40B4-BE49-F238E27FC236}">
                <a16:creationId xmlns:a16="http://schemas.microsoft.com/office/drawing/2014/main" id="{D98C6510-9BE8-4AEC-AFC1-281ACAFB3774}"/>
              </a:ext>
            </a:extLst>
          </p:cNvPr>
          <p:cNvSpPr>
            <a:spLocks noGrp="1"/>
          </p:cNvSpPr>
          <p:nvPr/>
        </p:nvSpPr>
        <p:spPr>
          <a:xfrm>
            <a:off x="8458200" y="1009650"/>
            <a:ext cx="5524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Rounded Rectangle 56">
            <a:extLst>
              <a:ext uri="{FF2B5EF4-FFF2-40B4-BE49-F238E27FC236}">
                <a16:creationId xmlns:a16="http://schemas.microsoft.com/office/drawing/2014/main" id="{62B470FA-C627-484A-820F-1069A8E0BBF8}"/>
              </a:ext>
            </a:extLst>
          </p:cNvPr>
          <p:cNvSpPr>
            <a:spLocks noGrp="1"/>
          </p:cNvSpPr>
          <p:nvPr/>
        </p:nvSpPr>
        <p:spPr>
          <a:xfrm>
            <a:off x="8705850" y="1047750"/>
            <a:ext cx="1714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Rounded Rectangle 57">
            <a:extLst>
              <a:ext uri="{FF2B5EF4-FFF2-40B4-BE49-F238E27FC236}">
                <a16:creationId xmlns:a16="http://schemas.microsoft.com/office/drawing/2014/main" id="{4AD99CBF-63C5-4708-8738-61704314831C}"/>
              </a:ext>
            </a:extLst>
          </p:cNvPr>
          <p:cNvSpPr>
            <a:spLocks noGrp="1"/>
          </p:cNvSpPr>
          <p:nvPr/>
        </p:nvSpPr>
        <p:spPr>
          <a:xfrm>
            <a:off x="8953500" y="1085850"/>
            <a:ext cx="26670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Rounded Rectangle 58">
            <a:extLst>
              <a:ext uri="{FF2B5EF4-FFF2-40B4-BE49-F238E27FC236}">
                <a16:creationId xmlns:a16="http://schemas.microsoft.com/office/drawing/2014/main" id="{3DC16CFB-1514-48FB-A887-F451CA006E01}"/>
              </a:ext>
            </a:extLst>
          </p:cNvPr>
          <p:cNvSpPr>
            <a:spLocks noGrp="1"/>
          </p:cNvSpPr>
          <p:nvPr/>
        </p:nvSpPr>
        <p:spPr>
          <a:xfrm>
            <a:off x="9201150" y="1009650"/>
            <a:ext cx="3619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FC4CC01B-9514-488F-8039-328CE4CBBC00}"/>
              </a:ext>
            </a:extLst>
          </p:cNvPr>
          <p:cNvSpPr>
            <a:spLocks noGrp="1"/>
          </p:cNvSpPr>
          <p:nvPr/>
        </p:nvSpPr>
        <p:spPr>
          <a:xfrm>
            <a:off x="342900" y="76200"/>
            <a:ext cx="342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 i="0">
                <a:solidFill>
                  <a:srgbClr val="8A8580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8A8580"/>
                </a:solidFill>
                <a:latin typeface="Aptos"/>
                <a:ea typeface="Aptos"/>
                <a:cs typeface="Aptos"/>
              </a:rPr>
              <a:t>Confidential - Oracle Restricted (Employees Only)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AEDE3258-A9F7-477E-8A0B-7751710060F0}"/>
              </a:ext>
            </a:extLst>
          </p:cNvPr>
          <p:cNvSpPr>
            <a:spLocks noGrp="1"/>
          </p:cNvSpPr>
          <p:nvPr/>
        </p:nvSpPr>
        <p:spPr>
          <a:xfrm>
            <a:off x="342900" y="6572250"/>
            <a:ext cx="2476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 i="0">
                <a:solidFill>
                  <a:srgbClr val="807A76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807A76"/>
                </a:solidFill>
                <a:latin typeface="Aptos"/>
                <a:ea typeface="Aptos"/>
                <a:cs typeface="Aptos"/>
              </a:rPr>
              <a:t>9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6DE49D7A-9019-44B6-8E8F-AABF3BE30367}"/>
              </a:ext>
            </a:extLst>
          </p:cNvPr>
          <p:cNvSpPr>
            <a:spLocks noGrp="1"/>
          </p:cNvSpPr>
          <p:nvPr/>
        </p:nvSpPr>
        <p:spPr>
          <a:xfrm>
            <a:off x="723900" y="6572250"/>
            <a:ext cx="4381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 i="0">
                <a:solidFill>
                  <a:srgbClr val="807A76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807A76"/>
                </a:solidFill>
                <a:latin typeface="Aptos"/>
                <a:ea typeface="Aptos"/>
                <a:cs typeface="Aptos"/>
              </a:rPr>
              <a:t>Privacy and Cost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467771B9-4185-443D-A5B8-4D334DD47E3A}"/>
              </a:ext>
            </a:extLst>
          </p:cNvPr>
          <p:cNvSpPr>
            <a:spLocks noGrp="1"/>
          </p:cNvSpPr>
          <p:nvPr/>
        </p:nvSpPr>
        <p:spPr>
          <a:xfrm>
            <a:off x="11334750" y="6419850"/>
            <a:ext cx="419100" cy="419100"/>
          </a:xfrm>
          <a:prstGeom prst="rect">
            <a:avLst/>
          </a:prstGeom>
          <a:solidFill>
            <a:srgbClr val="C7463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Rounded Rectangle 63">
            <a:extLst>
              <a:ext uri="{FF2B5EF4-FFF2-40B4-BE49-F238E27FC236}">
                <a16:creationId xmlns:a16="http://schemas.microsoft.com/office/drawing/2014/main" id="{8CE4460A-947C-41D3-9B40-8A8D74BCC7FB}"/>
              </a:ext>
            </a:extLst>
          </p:cNvPr>
          <p:cNvSpPr>
            <a:spLocks noGrp="1"/>
          </p:cNvSpPr>
          <p:nvPr/>
        </p:nvSpPr>
        <p:spPr>
          <a:xfrm>
            <a:off x="11430000" y="6562725"/>
            <a:ext cx="228600" cy="114300"/>
          </a:xfrm>
          <a:prstGeom prst="roundRect">
            <a:avLst>
              <a:gd name="adj" fmla="val 50000"/>
            </a:avLst>
          </a:prstGeom>
          <a:solidFill>
            <a:srgbClr val="000000">
              <a:alpha val="0"/>
            </a:srgbClr>
          </a:solidFill>
          <a:ln w="2286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D2A09AFD-C050-496C-84AF-D244453337AC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99060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 i="0">
                <a:solidFill>
                  <a:srgbClr val="2B2B2B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 i="0">
                <a:solidFill>
                  <a:srgbClr val="2B2B2B"/>
                </a:solidFill>
                <a:latin typeface="Aptos Display"/>
                <a:ea typeface="Aptos Display"/>
                <a:cs typeface="Aptos Display"/>
              </a:rPr>
              <a:t>ODT reduces token cost and privacy risk by compiling scoped context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35667E77-50DF-4C58-95D6-832A49ACAF6F}"/>
              </a:ext>
            </a:extLst>
          </p:cNvPr>
          <p:cNvSpPr>
            <a:spLocks noGrp="1"/>
          </p:cNvSpPr>
          <p:nvPr/>
        </p:nvSpPr>
        <p:spPr>
          <a:xfrm>
            <a:off x="609600" y="1219200"/>
            <a:ext cx="99060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 i="0">
                <a:solidFill>
                  <a:srgbClr val="333333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333333"/>
                </a:solidFill>
                <a:latin typeface="Aptos"/>
                <a:ea typeface="Aptos"/>
                <a:cs typeface="Aptos"/>
              </a:rPr>
              <a:t>Instead of sending everything to every model, ODT analyzes locally and gives each worker only what it needs.</a:t>
            </a:r>
          </a:p>
        </p:txBody>
      </p:sp>
      <p:sp>
        <p:nvSpPr>
          <p:cNvPr id="67" name="Rounded Rectangle 66">
            <a:extLst>
              <a:ext uri="{FF2B5EF4-FFF2-40B4-BE49-F238E27FC236}">
                <a16:creationId xmlns:a16="http://schemas.microsoft.com/office/drawing/2014/main" id="{5551C1FA-D1A6-4FD1-9077-11F93AF513C3}"/>
              </a:ext>
            </a:extLst>
          </p:cNvPr>
          <p:cNvSpPr>
            <a:spLocks noGrp="1"/>
          </p:cNvSpPr>
          <p:nvPr/>
        </p:nvSpPr>
        <p:spPr>
          <a:xfrm>
            <a:off x="742950" y="1600200"/>
            <a:ext cx="2381250" cy="160020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1430">
            <a:solidFill>
              <a:srgbClr val="DED8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44572E95-A031-42D0-832B-E7E611F09FC9}"/>
              </a:ext>
            </a:extLst>
          </p:cNvPr>
          <p:cNvSpPr>
            <a:spLocks noGrp="1"/>
          </p:cNvSpPr>
          <p:nvPr/>
        </p:nvSpPr>
        <p:spPr>
          <a:xfrm>
            <a:off x="742950" y="1600200"/>
            <a:ext cx="76200" cy="1600200"/>
          </a:xfrm>
          <a:prstGeom prst="rect">
            <a:avLst/>
          </a:prstGeom>
          <a:solidFill>
            <a:srgbClr val="2F7D4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81390CD2-C1AE-44D8-A451-FEB65E7F1E23}"/>
              </a:ext>
            </a:extLst>
          </p:cNvPr>
          <p:cNvSpPr>
            <a:spLocks noGrp="1"/>
          </p:cNvSpPr>
          <p:nvPr/>
        </p:nvSpPr>
        <p:spPr>
          <a:xfrm>
            <a:off x="952500" y="1771650"/>
            <a:ext cx="19812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 i="0">
                <a:solidFill>
                  <a:srgbClr val="8C1D18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8C1D18"/>
                </a:solidFill>
                <a:latin typeface="Aptos"/>
                <a:ea typeface="Aptos"/>
                <a:cs typeface="Aptos"/>
              </a:rPr>
              <a:t>Local evidence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3808065D-E3E8-4E30-B2E7-F8B3C026CF1F}"/>
              </a:ext>
            </a:extLst>
          </p:cNvPr>
          <p:cNvSpPr>
            <a:spLocks noGrp="1"/>
          </p:cNvSpPr>
          <p:nvPr/>
        </p:nvSpPr>
        <p:spPr>
          <a:xfrm>
            <a:off x="952500" y="2076450"/>
            <a:ext cx="1981200" cy="1009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 i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2B2B2B"/>
                </a:solidFill>
                <a:latin typeface="Aptos"/>
                <a:ea typeface="Aptos"/>
                <a:cs typeface="Aptos"/>
              </a:rPr>
              <a:t>Jira, repo scan, standards, worker logs, review notes, and artifacts are collected locally or in approved infrastructure.</a:t>
            </a:r>
          </a:p>
        </p:txBody>
      </p:sp>
      <p:sp>
        <p:nvSpPr>
          <p:cNvPr id="71" name="Right Arrow 70">
            <a:extLst>
              <a:ext uri="{FF2B5EF4-FFF2-40B4-BE49-F238E27FC236}">
                <a16:creationId xmlns:a16="http://schemas.microsoft.com/office/drawing/2014/main" id="{2077F94C-E854-4E67-8D09-ABE635AB8E2D}"/>
              </a:ext>
            </a:extLst>
          </p:cNvPr>
          <p:cNvSpPr>
            <a:spLocks noGrp="1"/>
          </p:cNvSpPr>
          <p:nvPr/>
        </p:nvSpPr>
        <p:spPr>
          <a:xfrm>
            <a:off x="3352800" y="2266950"/>
            <a:ext cx="457200" cy="209550"/>
          </a:xfrm>
          <a:prstGeom prst="rightArrow">
            <a:avLst/>
          </a:prstGeom>
          <a:solidFill>
            <a:srgbClr val="C74634"/>
          </a:solidFill>
          <a:ln w="9525">
            <a:solidFill>
              <a:srgbClr val="C746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Rounded Rectangle 71">
            <a:extLst>
              <a:ext uri="{FF2B5EF4-FFF2-40B4-BE49-F238E27FC236}">
                <a16:creationId xmlns:a16="http://schemas.microsoft.com/office/drawing/2014/main" id="{428ECEFF-B7F9-41B6-A8E7-72A919228441}"/>
              </a:ext>
            </a:extLst>
          </p:cNvPr>
          <p:cNvSpPr>
            <a:spLocks noGrp="1"/>
          </p:cNvSpPr>
          <p:nvPr/>
        </p:nvSpPr>
        <p:spPr>
          <a:xfrm>
            <a:off x="4038600" y="1600200"/>
            <a:ext cx="2381250" cy="160020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1430">
            <a:solidFill>
              <a:srgbClr val="DED8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14C6E96F-CC12-4212-A373-2B1BF5AD27F3}"/>
              </a:ext>
            </a:extLst>
          </p:cNvPr>
          <p:cNvSpPr>
            <a:spLocks noGrp="1"/>
          </p:cNvSpPr>
          <p:nvPr/>
        </p:nvSpPr>
        <p:spPr>
          <a:xfrm>
            <a:off x="4038600" y="1600200"/>
            <a:ext cx="76200" cy="1600200"/>
          </a:xfrm>
          <a:prstGeom prst="rect">
            <a:avLst/>
          </a:prstGeom>
          <a:solidFill>
            <a:srgbClr val="C7463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4F06BD97-89AC-4C16-83F9-CB95192B2211}"/>
              </a:ext>
            </a:extLst>
          </p:cNvPr>
          <p:cNvSpPr>
            <a:spLocks noGrp="1"/>
          </p:cNvSpPr>
          <p:nvPr/>
        </p:nvSpPr>
        <p:spPr>
          <a:xfrm>
            <a:off x="4248150" y="1771650"/>
            <a:ext cx="19812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 i="0">
                <a:solidFill>
                  <a:srgbClr val="8C1D18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8C1D18"/>
                </a:solidFill>
                <a:latin typeface="Aptos"/>
                <a:ea typeface="Aptos"/>
                <a:cs typeface="Aptos"/>
              </a:rPr>
              <a:t>Context compiler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7FB94E2B-955E-4E70-B9A0-9331AC090294}"/>
              </a:ext>
            </a:extLst>
          </p:cNvPr>
          <p:cNvSpPr>
            <a:spLocks noGrp="1"/>
          </p:cNvSpPr>
          <p:nvPr/>
        </p:nvSpPr>
        <p:spPr>
          <a:xfrm>
            <a:off x="4248150" y="2076450"/>
            <a:ext cx="1981200" cy="1009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 i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2B2B2B"/>
                </a:solidFill>
                <a:latin typeface="Aptos"/>
                <a:ea typeface="Aptos"/>
                <a:cs typeface="Aptos"/>
              </a:rPr>
              <a:t>ODT selects relevant requirement, code evidence, standards, and open questions for each worker role.</a:t>
            </a:r>
          </a:p>
        </p:txBody>
      </p:sp>
      <p:sp>
        <p:nvSpPr>
          <p:cNvPr id="76" name="Right Arrow 75">
            <a:extLst>
              <a:ext uri="{FF2B5EF4-FFF2-40B4-BE49-F238E27FC236}">
                <a16:creationId xmlns:a16="http://schemas.microsoft.com/office/drawing/2014/main" id="{008912C5-AD83-4255-85F4-3782913123C9}"/>
              </a:ext>
            </a:extLst>
          </p:cNvPr>
          <p:cNvSpPr>
            <a:spLocks noGrp="1"/>
          </p:cNvSpPr>
          <p:nvPr/>
        </p:nvSpPr>
        <p:spPr>
          <a:xfrm>
            <a:off x="6648450" y="2266950"/>
            <a:ext cx="457200" cy="209550"/>
          </a:xfrm>
          <a:prstGeom prst="rightArrow">
            <a:avLst/>
          </a:prstGeom>
          <a:solidFill>
            <a:srgbClr val="C74634"/>
          </a:solidFill>
          <a:ln w="9525">
            <a:solidFill>
              <a:srgbClr val="C746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Rounded Rectangle 76">
            <a:extLst>
              <a:ext uri="{FF2B5EF4-FFF2-40B4-BE49-F238E27FC236}">
                <a16:creationId xmlns:a16="http://schemas.microsoft.com/office/drawing/2014/main" id="{9156D1BE-B090-4800-9855-AA9ECFC28B2B}"/>
              </a:ext>
            </a:extLst>
          </p:cNvPr>
          <p:cNvSpPr>
            <a:spLocks noGrp="1"/>
          </p:cNvSpPr>
          <p:nvPr/>
        </p:nvSpPr>
        <p:spPr>
          <a:xfrm>
            <a:off x="7334250" y="1600200"/>
            <a:ext cx="2381250" cy="160020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1430">
            <a:solidFill>
              <a:srgbClr val="DED8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1493A495-1FD1-4B14-AC9E-ECD9E3479EB4}"/>
              </a:ext>
            </a:extLst>
          </p:cNvPr>
          <p:cNvSpPr>
            <a:spLocks noGrp="1"/>
          </p:cNvSpPr>
          <p:nvPr/>
        </p:nvSpPr>
        <p:spPr>
          <a:xfrm>
            <a:off x="7334250" y="1600200"/>
            <a:ext cx="76200" cy="1600200"/>
          </a:xfrm>
          <a:prstGeom prst="rect">
            <a:avLst/>
          </a:prstGeom>
          <a:solidFill>
            <a:srgbClr val="2E5F8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C7D97E73-FBA8-41EC-9103-0F35A056E941}"/>
              </a:ext>
            </a:extLst>
          </p:cNvPr>
          <p:cNvSpPr>
            <a:spLocks noGrp="1"/>
          </p:cNvSpPr>
          <p:nvPr/>
        </p:nvSpPr>
        <p:spPr>
          <a:xfrm>
            <a:off x="7543800" y="1771650"/>
            <a:ext cx="19812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 i="0">
                <a:solidFill>
                  <a:srgbClr val="8C1D18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8C1D18"/>
                </a:solidFill>
                <a:latin typeface="Aptos"/>
                <a:ea typeface="Aptos"/>
                <a:cs typeface="Aptos"/>
              </a:rPr>
              <a:t>Scoped worker prompt</a:t>
            </a: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C03F9C76-72E5-41A3-B4E7-F8DDF1C4D567}"/>
              </a:ext>
            </a:extLst>
          </p:cNvPr>
          <p:cNvSpPr>
            <a:spLocks noGrp="1"/>
          </p:cNvSpPr>
          <p:nvPr/>
        </p:nvSpPr>
        <p:spPr>
          <a:xfrm>
            <a:off x="7543800" y="2076450"/>
            <a:ext cx="1981200" cy="1009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 i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2B2B2B"/>
                </a:solidFill>
                <a:latin typeface="Aptos"/>
                <a:ea typeface="Aptos"/>
                <a:cs typeface="Aptos"/>
              </a:rPr>
              <a:t>Codex/Cline/OCI worker receives a smaller, role-specific handoff instead of a giant repeated prompt.</a:t>
            </a:r>
          </a:p>
        </p:txBody>
      </p:sp>
      <p:sp>
        <p:nvSpPr>
          <p:cNvPr id="81" name="Rounded Rectangle 80">
            <a:extLst>
              <a:ext uri="{FF2B5EF4-FFF2-40B4-BE49-F238E27FC236}">
                <a16:creationId xmlns:a16="http://schemas.microsoft.com/office/drawing/2014/main" id="{FAF78545-55C9-4C88-A837-D43D7EA4499E}"/>
              </a:ext>
            </a:extLst>
          </p:cNvPr>
          <p:cNvSpPr>
            <a:spLocks noGrp="1"/>
          </p:cNvSpPr>
          <p:nvPr/>
        </p:nvSpPr>
        <p:spPr>
          <a:xfrm>
            <a:off x="914400" y="3829050"/>
            <a:ext cx="9620250" cy="1104900"/>
          </a:xfrm>
          <a:prstGeom prst="roundRect">
            <a:avLst>
              <a:gd name="adj" fmla="val 6897"/>
            </a:avLst>
          </a:prstGeom>
          <a:solidFill>
            <a:srgbClr val="FFFDFC"/>
          </a:solidFill>
          <a:ln w="11430">
            <a:solidFill>
              <a:srgbClr val="DED8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D7364337-D458-404C-A8BE-E9ACF643A489}"/>
              </a:ext>
            </a:extLst>
          </p:cNvPr>
          <p:cNvSpPr>
            <a:spLocks noGrp="1"/>
          </p:cNvSpPr>
          <p:nvPr/>
        </p:nvSpPr>
        <p:spPr>
          <a:xfrm>
            <a:off x="1200150" y="4038600"/>
            <a:ext cx="1809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 i="0">
                <a:solidFill>
                  <a:srgbClr val="8C1D18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8C1D18"/>
                </a:solidFill>
                <a:latin typeface="Aptos"/>
                <a:ea typeface="Aptos"/>
                <a:cs typeface="Aptos"/>
              </a:rPr>
              <a:t>Expected benefits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8231D897-88B5-40AF-B6C4-349C4CCB4A50}"/>
              </a:ext>
            </a:extLst>
          </p:cNvPr>
          <p:cNvSpPr>
            <a:spLocks noGrp="1"/>
          </p:cNvSpPr>
          <p:nvPr/>
        </p:nvSpPr>
        <p:spPr>
          <a:xfrm>
            <a:off x="3105150" y="3981450"/>
            <a:ext cx="6858000" cy="762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 i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2B2B2B"/>
                </a:solidFill>
                <a:latin typeface="Aptos"/>
                <a:ea typeface="Aptos"/>
                <a:cs typeface="Aptos"/>
              </a:rPr>
              <a:t>1. Lower repeated prompt assembly</a:t>
            </a:r>
          </a:p>
          <a:p>
            <a:pPr algn="l">
              <a:defRPr sz="1425" b="0" i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2B2B2B"/>
                </a:solidFill>
                <a:latin typeface="Aptos"/>
                <a:ea typeface="Aptos"/>
                <a:cs typeface="Aptos"/>
              </a:rPr>
              <a:t>2. Better model focus</a:t>
            </a:r>
          </a:p>
          <a:p>
            <a:pPr algn="l">
              <a:defRPr sz="1425" b="0" i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2B2B2B"/>
                </a:solidFill>
                <a:latin typeface="Aptos"/>
                <a:ea typeface="Aptos"/>
                <a:cs typeface="Aptos"/>
              </a:rPr>
              <a:t>3. Less manual copying of sensitive context</a:t>
            </a:r>
          </a:p>
          <a:p>
            <a:pPr algn="l">
              <a:defRPr sz="1425" b="0" i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2B2B2B"/>
                </a:solidFill>
                <a:latin typeface="Aptos"/>
                <a:ea typeface="Aptos"/>
                <a:cs typeface="Aptos"/>
              </a:rPr>
              <a:t>4. Usage tracking by worker/provider/stage</a:t>
            </a:r>
          </a:p>
          <a:p>
            <a:pPr algn="l">
              <a:defRPr sz="1425" b="0" i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2B2B2B"/>
                </a:solidFill>
                <a:latin typeface="Aptos"/>
                <a:ea typeface="Aptos"/>
                <a:cs typeface="Aptos"/>
              </a:rPr>
              <a:t>5. Easier audit of what context was sent</a:t>
            </a: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03A282F4-839F-47AA-A648-84A22EA6970B}"/>
              </a:ext>
            </a:extLst>
          </p:cNvPr>
          <p:cNvSpPr>
            <a:spLocks noGrp="1"/>
          </p:cNvSpPr>
          <p:nvPr/>
        </p:nvSpPr>
        <p:spPr>
          <a:xfrm>
            <a:off x="800100" y="5505450"/>
            <a:ext cx="10477500" cy="495300"/>
          </a:xfrm>
          <a:prstGeom prst="rect">
            <a:avLst/>
          </a:prstGeom>
          <a:solidFill>
            <a:srgbClr val="FFF4D6"/>
          </a:solidFill>
          <a:ln w="9525">
            <a:solidFill>
              <a:srgbClr val="E9C8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BBA66DB0-1961-4266-8755-D1DA71D67BAC}"/>
              </a:ext>
            </a:extLst>
          </p:cNvPr>
          <p:cNvSpPr>
            <a:spLocks noGrp="1"/>
          </p:cNvSpPr>
          <p:nvPr/>
        </p:nvSpPr>
        <p:spPr>
          <a:xfrm>
            <a:off x="971550" y="5600700"/>
            <a:ext cx="101346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575" b="0" i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575" b="0" i="0">
                <a:solidFill>
                  <a:srgbClr val="2B2B2B"/>
                </a:solidFill>
                <a:latin typeface="Aptos"/>
                <a:ea typeface="Aptos"/>
                <a:cs typeface="Aptos"/>
              </a:rPr>
              <a:t>Privacy principle: raw repo and enterprise context should stay local by default; model calls should receive approved, minimal context.</a:t>
            </a:r>
          </a:p>
        </p:txBody>
      </p:sp>
    </p:spTree>
    <p:extLst>
      <p:ext uri="{BB962C8B-B14F-4D97-AF65-F5344CB8AC3E}">
        <p14:creationId xmlns:p14="http://schemas.microsoft.com/office/powerpoint/2010/main" val="17780039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Rectangle 83">
            <a:extLst>
              <a:ext uri="{FF2B5EF4-FFF2-40B4-BE49-F238E27FC236}">
                <a16:creationId xmlns:a16="http://schemas.microsoft.com/office/drawing/2014/main" id="{0A61E81E-1DF4-4B9D-89BE-184B599378F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561E5C3C-2142-4BEF-A002-BD2BDE04536B}"/>
              </a:ext>
            </a:extLst>
          </p:cNvPr>
          <p:cNvSpPr>
            <a:spLocks noGrp="1"/>
          </p:cNvSpPr>
          <p:nvPr/>
        </p:nvSpPr>
        <p:spPr>
          <a:xfrm>
            <a:off x="6858000" y="323850"/>
            <a:ext cx="1714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790322F9-6B42-4834-8F4F-7C62C6B8C568}"/>
              </a:ext>
            </a:extLst>
          </p:cNvPr>
          <p:cNvSpPr>
            <a:spLocks noGrp="1"/>
          </p:cNvSpPr>
          <p:nvPr/>
        </p:nvSpPr>
        <p:spPr>
          <a:xfrm>
            <a:off x="7105650" y="361950"/>
            <a:ext cx="26670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706C6D2B-73A0-4B8A-BD82-29944DC28C44}"/>
              </a:ext>
            </a:extLst>
          </p:cNvPr>
          <p:cNvSpPr>
            <a:spLocks noGrp="1"/>
          </p:cNvSpPr>
          <p:nvPr/>
        </p:nvSpPr>
        <p:spPr>
          <a:xfrm>
            <a:off x="7353300" y="400050"/>
            <a:ext cx="3619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69A128CF-4F96-4575-A1B0-9C921ABAB05E}"/>
              </a:ext>
            </a:extLst>
          </p:cNvPr>
          <p:cNvSpPr>
            <a:spLocks noGrp="1"/>
          </p:cNvSpPr>
          <p:nvPr/>
        </p:nvSpPr>
        <p:spPr>
          <a:xfrm>
            <a:off x="7600950" y="323850"/>
            <a:ext cx="45720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01080513-BB18-4935-A677-DAD76619B0C0}"/>
              </a:ext>
            </a:extLst>
          </p:cNvPr>
          <p:cNvSpPr>
            <a:spLocks noGrp="1"/>
          </p:cNvSpPr>
          <p:nvPr/>
        </p:nvSpPr>
        <p:spPr>
          <a:xfrm>
            <a:off x="7848600" y="361950"/>
            <a:ext cx="5524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C0D402F7-EDB1-411C-BCEA-6B89FF7F7057}"/>
              </a:ext>
            </a:extLst>
          </p:cNvPr>
          <p:cNvSpPr>
            <a:spLocks noGrp="1"/>
          </p:cNvSpPr>
          <p:nvPr/>
        </p:nvSpPr>
        <p:spPr>
          <a:xfrm>
            <a:off x="8096250" y="400050"/>
            <a:ext cx="1714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AF924535-8701-4709-827A-B56705780233}"/>
              </a:ext>
            </a:extLst>
          </p:cNvPr>
          <p:cNvSpPr>
            <a:spLocks noGrp="1"/>
          </p:cNvSpPr>
          <p:nvPr/>
        </p:nvSpPr>
        <p:spPr>
          <a:xfrm>
            <a:off x="8343900" y="323850"/>
            <a:ext cx="26670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5F1AA8EA-29E9-46BC-95AD-01C195149346}"/>
              </a:ext>
            </a:extLst>
          </p:cNvPr>
          <p:cNvSpPr>
            <a:spLocks noGrp="1"/>
          </p:cNvSpPr>
          <p:nvPr/>
        </p:nvSpPr>
        <p:spPr>
          <a:xfrm>
            <a:off x="8591550" y="361950"/>
            <a:ext cx="3619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D3C75078-10AC-4644-A943-8D1D91EA378E}"/>
              </a:ext>
            </a:extLst>
          </p:cNvPr>
          <p:cNvSpPr>
            <a:spLocks noGrp="1"/>
          </p:cNvSpPr>
          <p:nvPr/>
        </p:nvSpPr>
        <p:spPr>
          <a:xfrm>
            <a:off x="8839200" y="400050"/>
            <a:ext cx="45720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9798F5C0-61CC-45D2-A602-B097800D3975}"/>
              </a:ext>
            </a:extLst>
          </p:cNvPr>
          <p:cNvSpPr>
            <a:spLocks noGrp="1"/>
          </p:cNvSpPr>
          <p:nvPr/>
        </p:nvSpPr>
        <p:spPr>
          <a:xfrm>
            <a:off x="9086850" y="323850"/>
            <a:ext cx="5524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398ED8E5-2D56-4903-B2CE-4EC49A9AC087}"/>
              </a:ext>
            </a:extLst>
          </p:cNvPr>
          <p:cNvSpPr>
            <a:spLocks noGrp="1"/>
          </p:cNvSpPr>
          <p:nvPr/>
        </p:nvSpPr>
        <p:spPr>
          <a:xfrm>
            <a:off x="9334500" y="361950"/>
            <a:ext cx="1714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7210F37B-0BD9-470B-A9AD-07DBE87951DD}"/>
              </a:ext>
            </a:extLst>
          </p:cNvPr>
          <p:cNvSpPr>
            <a:spLocks noGrp="1"/>
          </p:cNvSpPr>
          <p:nvPr/>
        </p:nvSpPr>
        <p:spPr>
          <a:xfrm>
            <a:off x="9582150" y="400050"/>
            <a:ext cx="26670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3525C9F6-012D-4A42-9EAB-833097551299}"/>
              </a:ext>
            </a:extLst>
          </p:cNvPr>
          <p:cNvSpPr>
            <a:spLocks noGrp="1"/>
          </p:cNvSpPr>
          <p:nvPr/>
        </p:nvSpPr>
        <p:spPr>
          <a:xfrm>
            <a:off x="9829800" y="323850"/>
            <a:ext cx="3619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BE9612CA-18EB-4702-BC8E-C6B6F82337DB}"/>
              </a:ext>
            </a:extLst>
          </p:cNvPr>
          <p:cNvSpPr>
            <a:spLocks noGrp="1"/>
          </p:cNvSpPr>
          <p:nvPr/>
        </p:nvSpPr>
        <p:spPr>
          <a:xfrm>
            <a:off x="10077450" y="361950"/>
            <a:ext cx="45720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A2F3F043-E31D-453B-A549-273EA043C67B}"/>
              </a:ext>
            </a:extLst>
          </p:cNvPr>
          <p:cNvSpPr>
            <a:spLocks noGrp="1"/>
          </p:cNvSpPr>
          <p:nvPr/>
        </p:nvSpPr>
        <p:spPr>
          <a:xfrm>
            <a:off x="10325100" y="400050"/>
            <a:ext cx="5524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8F68D15A-5F9C-4CF9-B691-3E65EC5C9A72}"/>
              </a:ext>
            </a:extLst>
          </p:cNvPr>
          <p:cNvSpPr>
            <a:spLocks noGrp="1"/>
          </p:cNvSpPr>
          <p:nvPr/>
        </p:nvSpPr>
        <p:spPr>
          <a:xfrm>
            <a:off x="10572750" y="323850"/>
            <a:ext cx="1714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C5E59F7D-5862-4FDD-A3EE-9FACE78954B8}"/>
              </a:ext>
            </a:extLst>
          </p:cNvPr>
          <p:cNvSpPr>
            <a:spLocks noGrp="1"/>
          </p:cNvSpPr>
          <p:nvPr/>
        </p:nvSpPr>
        <p:spPr>
          <a:xfrm>
            <a:off x="6972300" y="552450"/>
            <a:ext cx="26670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A7F58029-DF50-4BF1-9C6E-2DCEA82F224B}"/>
              </a:ext>
            </a:extLst>
          </p:cNvPr>
          <p:cNvSpPr>
            <a:spLocks noGrp="1"/>
          </p:cNvSpPr>
          <p:nvPr/>
        </p:nvSpPr>
        <p:spPr>
          <a:xfrm>
            <a:off x="7219950" y="590550"/>
            <a:ext cx="3619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AA3C94AF-2BE5-46DA-A3C7-9773727D3724}"/>
              </a:ext>
            </a:extLst>
          </p:cNvPr>
          <p:cNvSpPr>
            <a:spLocks noGrp="1"/>
          </p:cNvSpPr>
          <p:nvPr/>
        </p:nvSpPr>
        <p:spPr>
          <a:xfrm>
            <a:off x="7467600" y="628650"/>
            <a:ext cx="45720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22C17BE6-0DE5-410D-9484-4CF664902F80}"/>
              </a:ext>
            </a:extLst>
          </p:cNvPr>
          <p:cNvSpPr>
            <a:spLocks noGrp="1"/>
          </p:cNvSpPr>
          <p:nvPr/>
        </p:nvSpPr>
        <p:spPr>
          <a:xfrm>
            <a:off x="7715250" y="552450"/>
            <a:ext cx="5524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315F3255-4915-4986-A55D-B3FE1B4F8796}"/>
              </a:ext>
            </a:extLst>
          </p:cNvPr>
          <p:cNvSpPr>
            <a:spLocks noGrp="1"/>
          </p:cNvSpPr>
          <p:nvPr/>
        </p:nvSpPr>
        <p:spPr>
          <a:xfrm>
            <a:off x="7962900" y="590550"/>
            <a:ext cx="1714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E6F23AA5-75E8-4116-B161-4CD8BAE30170}"/>
              </a:ext>
            </a:extLst>
          </p:cNvPr>
          <p:cNvSpPr>
            <a:spLocks noGrp="1"/>
          </p:cNvSpPr>
          <p:nvPr/>
        </p:nvSpPr>
        <p:spPr>
          <a:xfrm>
            <a:off x="8210550" y="628650"/>
            <a:ext cx="26670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E82D1F7F-11B5-4154-B0B8-64CECDFB942F}"/>
              </a:ext>
            </a:extLst>
          </p:cNvPr>
          <p:cNvSpPr>
            <a:spLocks noGrp="1"/>
          </p:cNvSpPr>
          <p:nvPr/>
        </p:nvSpPr>
        <p:spPr>
          <a:xfrm>
            <a:off x="8458200" y="552450"/>
            <a:ext cx="3619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80A53F00-191B-4C46-A92C-1EA399ECA211}"/>
              </a:ext>
            </a:extLst>
          </p:cNvPr>
          <p:cNvSpPr>
            <a:spLocks noGrp="1"/>
          </p:cNvSpPr>
          <p:nvPr/>
        </p:nvSpPr>
        <p:spPr>
          <a:xfrm>
            <a:off x="8705850" y="590550"/>
            <a:ext cx="45720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C0633CEB-0759-46FD-9125-D812917F63E2}"/>
              </a:ext>
            </a:extLst>
          </p:cNvPr>
          <p:cNvSpPr>
            <a:spLocks noGrp="1"/>
          </p:cNvSpPr>
          <p:nvPr/>
        </p:nvSpPr>
        <p:spPr>
          <a:xfrm>
            <a:off x="8953500" y="628650"/>
            <a:ext cx="5524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82531AEA-3804-499F-83BC-09CAB94CB0AC}"/>
              </a:ext>
            </a:extLst>
          </p:cNvPr>
          <p:cNvSpPr>
            <a:spLocks noGrp="1"/>
          </p:cNvSpPr>
          <p:nvPr/>
        </p:nvSpPr>
        <p:spPr>
          <a:xfrm>
            <a:off x="9201150" y="552450"/>
            <a:ext cx="1714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11C48755-2A1F-46B7-A009-DE602686177E}"/>
              </a:ext>
            </a:extLst>
          </p:cNvPr>
          <p:cNvSpPr>
            <a:spLocks noGrp="1"/>
          </p:cNvSpPr>
          <p:nvPr/>
        </p:nvSpPr>
        <p:spPr>
          <a:xfrm>
            <a:off x="9448800" y="590550"/>
            <a:ext cx="26670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27DC61A5-9D18-408C-BD93-6AD88AE5BBA9}"/>
              </a:ext>
            </a:extLst>
          </p:cNvPr>
          <p:cNvSpPr>
            <a:spLocks noGrp="1"/>
          </p:cNvSpPr>
          <p:nvPr/>
        </p:nvSpPr>
        <p:spPr>
          <a:xfrm>
            <a:off x="9696450" y="628650"/>
            <a:ext cx="3619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CB4A2D72-8A5C-4BF8-8B55-F11E94C73CE3}"/>
              </a:ext>
            </a:extLst>
          </p:cNvPr>
          <p:cNvSpPr>
            <a:spLocks noGrp="1"/>
          </p:cNvSpPr>
          <p:nvPr/>
        </p:nvSpPr>
        <p:spPr>
          <a:xfrm>
            <a:off x="9944100" y="552450"/>
            <a:ext cx="45720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D6D0F59B-C170-44A8-9A96-DF01969744BA}"/>
              </a:ext>
            </a:extLst>
          </p:cNvPr>
          <p:cNvSpPr>
            <a:spLocks noGrp="1"/>
          </p:cNvSpPr>
          <p:nvPr/>
        </p:nvSpPr>
        <p:spPr>
          <a:xfrm>
            <a:off x="10191750" y="590550"/>
            <a:ext cx="5524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FBD6710A-A94C-4975-8BE2-825ACA07AB49}"/>
              </a:ext>
            </a:extLst>
          </p:cNvPr>
          <p:cNvSpPr>
            <a:spLocks noGrp="1"/>
          </p:cNvSpPr>
          <p:nvPr/>
        </p:nvSpPr>
        <p:spPr>
          <a:xfrm>
            <a:off x="10439400" y="628650"/>
            <a:ext cx="1714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45CBC9C3-3B3D-4C9C-8FDF-8FF7FD1E3B82}"/>
              </a:ext>
            </a:extLst>
          </p:cNvPr>
          <p:cNvSpPr>
            <a:spLocks noGrp="1"/>
          </p:cNvSpPr>
          <p:nvPr/>
        </p:nvSpPr>
        <p:spPr>
          <a:xfrm>
            <a:off x="10687050" y="552450"/>
            <a:ext cx="26670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BE57B32A-7398-4905-8FAB-DF0DBD064E99}"/>
              </a:ext>
            </a:extLst>
          </p:cNvPr>
          <p:cNvSpPr>
            <a:spLocks noGrp="1"/>
          </p:cNvSpPr>
          <p:nvPr/>
        </p:nvSpPr>
        <p:spPr>
          <a:xfrm>
            <a:off x="6858000" y="781050"/>
            <a:ext cx="3619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3F9754CC-F23A-476D-8814-CD36550A8BFB}"/>
              </a:ext>
            </a:extLst>
          </p:cNvPr>
          <p:cNvSpPr>
            <a:spLocks noGrp="1"/>
          </p:cNvSpPr>
          <p:nvPr/>
        </p:nvSpPr>
        <p:spPr>
          <a:xfrm>
            <a:off x="7105650" y="819150"/>
            <a:ext cx="45720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5860F669-EA6B-4758-B412-51D24A1416E8}"/>
              </a:ext>
            </a:extLst>
          </p:cNvPr>
          <p:cNvSpPr>
            <a:spLocks noGrp="1"/>
          </p:cNvSpPr>
          <p:nvPr/>
        </p:nvSpPr>
        <p:spPr>
          <a:xfrm>
            <a:off x="7353300" y="857250"/>
            <a:ext cx="5524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B667FC22-0FFB-406A-905B-A34F8E1CADD5}"/>
              </a:ext>
            </a:extLst>
          </p:cNvPr>
          <p:cNvSpPr>
            <a:spLocks noGrp="1"/>
          </p:cNvSpPr>
          <p:nvPr/>
        </p:nvSpPr>
        <p:spPr>
          <a:xfrm>
            <a:off x="7600950" y="781050"/>
            <a:ext cx="1714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415C2185-FEEB-4D49-9241-C3FD48144ED6}"/>
              </a:ext>
            </a:extLst>
          </p:cNvPr>
          <p:cNvSpPr>
            <a:spLocks noGrp="1"/>
          </p:cNvSpPr>
          <p:nvPr/>
        </p:nvSpPr>
        <p:spPr>
          <a:xfrm>
            <a:off x="7848600" y="819150"/>
            <a:ext cx="26670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B6121F5A-A079-4C59-A721-579F2472CBC0}"/>
              </a:ext>
            </a:extLst>
          </p:cNvPr>
          <p:cNvSpPr>
            <a:spLocks noGrp="1"/>
          </p:cNvSpPr>
          <p:nvPr/>
        </p:nvSpPr>
        <p:spPr>
          <a:xfrm>
            <a:off x="8096250" y="857250"/>
            <a:ext cx="3619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E8EA32F5-DDB9-4CE8-9EEA-6C680443A530}"/>
              </a:ext>
            </a:extLst>
          </p:cNvPr>
          <p:cNvSpPr>
            <a:spLocks noGrp="1"/>
          </p:cNvSpPr>
          <p:nvPr/>
        </p:nvSpPr>
        <p:spPr>
          <a:xfrm>
            <a:off x="8343900" y="781050"/>
            <a:ext cx="45720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6DCBA141-D060-4AE1-AF4A-62A007214759}"/>
              </a:ext>
            </a:extLst>
          </p:cNvPr>
          <p:cNvSpPr>
            <a:spLocks noGrp="1"/>
          </p:cNvSpPr>
          <p:nvPr/>
        </p:nvSpPr>
        <p:spPr>
          <a:xfrm>
            <a:off x="8591550" y="819150"/>
            <a:ext cx="5524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09E68478-1573-42A7-8C13-2E468E5F89EE}"/>
              </a:ext>
            </a:extLst>
          </p:cNvPr>
          <p:cNvSpPr>
            <a:spLocks noGrp="1"/>
          </p:cNvSpPr>
          <p:nvPr/>
        </p:nvSpPr>
        <p:spPr>
          <a:xfrm>
            <a:off x="8839200" y="857250"/>
            <a:ext cx="1714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3E066F65-13C7-474A-9DC5-61CBB06D230B}"/>
              </a:ext>
            </a:extLst>
          </p:cNvPr>
          <p:cNvSpPr>
            <a:spLocks noGrp="1"/>
          </p:cNvSpPr>
          <p:nvPr/>
        </p:nvSpPr>
        <p:spPr>
          <a:xfrm>
            <a:off x="9086850" y="781050"/>
            <a:ext cx="26670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21E51F3C-EB6A-44AD-A25B-BD94EC5ED7BB}"/>
              </a:ext>
            </a:extLst>
          </p:cNvPr>
          <p:cNvSpPr>
            <a:spLocks noGrp="1"/>
          </p:cNvSpPr>
          <p:nvPr/>
        </p:nvSpPr>
        <p:spPr>
          <a:xfrm>
            <a:off x="9334500" y="819150"/>
            <a:ext cx="3619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Rounded Rectangle 44">
            <a:extLst>
              <a:ext uri="{FF2B5EF4-FFF2-40B4-BE49-F238E27FC236}">
                <a16:creationId xmlns:a16="http://schemas.microsoft.com/office/drawing/2014/main" id="{3086F803-867A-4E22-B209-8FDBA0C9418B}"/>
              </a:ext>
            </a:extLst>
          </p:cNvPr>
          <p:cNvSpPr>
            <a:spLocks noGrp="1"/>
          </p:cNvSpPr>
          <p:nvPr/>
        </p:nvSpPr>
        <p:spPr>
          <a:xfrm>
            <a:off x="9582150" y="857250"/>
            <a:ext cx="45720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Rounded Rectangle 45">
            <a:extLst>
              <a:ext uri="{FF2B5EF4-FFF2-40B4-BE49-F238E27FC236}">
                <a16:creationId xmlns:a16="http://schemas.microsoft.com/office/drawing/2014/main" id="{18CCFB73-6183-4417-8B44-59CD132E689A}"/>
              </a:ext>
            </a:extLst>
          </p:cNvPr>
          <p:cNvSpPr>
            <a:spLocks noGrp="1"/>
          </p:cNvSpPr>
          <p:nvPr/>
        </p:nvSpPr>
        <p:spPr>
          <a:xfrm>
            <a:off x="9829800" y="781050"/>
            <a:ext cx="5524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Rounded Rectangle 46">
            <a:extLst>
              <a:ext uri="{FF2B5EF4-FFF2-40B4-BE49-F238E27FC236}">
                <a16:creationId xmlns:a16="http://schemas.microsoft.com/office/drawing/2014/main" id="{022CAB36-8F18-4EA7-AEAA-BFE5ABC92C0C}"/>
              </a:ext>
            </a:extLst>
          </p:cNvPr>
          <p:cNvSpPr>
            <a:spLocks noGrp="1"/>
          </p:cNvSpPr>
          <p:nvPr/>
        </p:nvSpPr>
        <p:spPr>
          <a:xfrm>
            <a:off x="10077450" y="819150"/>
            <a:ext cx="1714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Rounded Rectangle 47">
            <a:extLst>
              <a:ext uri="{FF2B5EF4-FFF2-40B4-BE49-F238E27FC236}">
                <a16:creationId xmlns:a16="http://schemas.microsoft.com/office/drawing/2014/main" id="{F40D3EAA-8585-40BE-BAEA-4586CED58E82}"/>
              </a:ext>
            </a:extLst>
          </p:cNvPr>
          <p:cNvSpPr>
            <a:spLocks noGrp="1"/>
          </p:cNvSpPr>
          <p:nvPr/>
        </p:nvSpPr>
        <p:spPr>
          <a:xfrm>
            <a:off x="10325100" y="857250"/>
            <a:ext cx="26670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Rounded Rectangle 48">
            <a:extLst>
              <a:ext uri="{FF2B5EF4-FFF2-40B4-BE49-F238E27FC236}">
                <a16:creationId xmlns:a16="http://schemas.microsoft.com/office/drawing/2014/main" id="{AF546B24-E622-4EE1-9A69-1E694B16B118}"/>
              </a:ext>
            </a:extLst>
          </p:cNvPr>
          <p:cNvSpPr>
            <a:spLocks noGrp="1"/>
          </p:cNvSpPr>
          <p:nvPr/>
        </p:nvSpPr>
        <p:spPr>
          <a:xfrm>
            <a:off x="10572750" y="781050"/>
            <a:ext cx="3619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Rounded Rectangle 49">
            <a:extLst>
              <a:ext uri="{FF2B5EF4-FFF2-40B4-BE49-F238E27FC236}">
                <a16:creationId xmlns:a16="http://schemas.microsoft.com/office/drawing/2014/main" id="{6B55C0A5-DB9E-4CE6-BFEE-7A1ABF5FA86F}"/>
              </a:ext>
            </a:extLst>
          </p:cNvPr>
          <p:cNvSpPr>
            <a:spLocks noGrp="1"/>
          </p:cNvSpPr>
          <p:nvPr/>
        </p:nvSpPr>
        <p:spPr>
          <a:xfrm>
            <a:off x="6972300" y="1009650"/>
            <a:ext cx="45720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Rounded Rectangle 50">
            <a:extLst>
              <a:ext uri="{FF2B5EF4-FFF2-40B4-BE49-F238E27FC236}">
                <a16:creationId xmlns:a16="http://schemas.microsoft.com/office/drawing/2014/main" id="{97C6FD1D-D833-4F79-B5D6-36DB66C5F7DD}"/>
              </a:ext>
            </a:extLst>
          </p:cNvPr>
          <p:cNvSpPr>
            <a:spLocks noGrp="1"/>
          </p:cNvSpPr>
          <p:nvPr/>
        </p:nvSpPr>
        <p:spPr>
          <a:xfrm>
            <a:off x="7219950" y="1047750"/>
            <a:ext cx="5524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Rounded Rectangle 51">
            <a:extLst>
              <a:ext uri="{FF2B5EF4-FFF2-40B4-BE49-F238E27FC236}">
                <a16:creationId xmlns:a16="http://schemas.microsoft.com/office/drawing/2014/main" id="{4F837690-FBDB-4EB7-AB7E-321A332117C1}"/>
              </a:ext>
            </a:extLst>
          </p:cNvPr>
          <p:cNvSpPr>
            <a:spLocks noGrp="1"/>
          </p:cNvSpPr>
          <p:nvPr/>
        </p:nvSpPr>
        <p:spPr>
          <a:xfrm>
            <a:off x="7467600" y="1085850"/>
            <a:ext cx="1714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Rounded Rectangle 52">
            <a:extLst>
              <a:ext uri="{FF2B5EF4-FFF2-40B4-BE49-F238E27FC236}">
                <a16:creationId xmlns:a16="http://schemas.microsoft.com/office/drawing/2014/main" id="{32E4AA23-7B24-4033-9D67-4702E2D87A34}"/>
              </a:ext>
            </a:extLst>
          </p:cNvPr>
          <p:cNvSpPr>
            <a:spLocks noGrp="1"/>
          </p:cNvSpPr>
          <p:nvPr/>
        </p:nvSpPr>
        <p:spPr>
          <a:xfrm>
            <a:off x="7715250" y="1009650"/>
            <a:ext cx="26670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Rounded Rectangle 53">
            <a:extLst>
              <a:ext uri="{FF2B5EF4-FFF2-40B4-BE49-F238E27FC236}">
                <a16:creationId xmlns:a16="http://schemas.microsoft.com/office/drawing/2014/main" id="{9C4FD52D-A814-4A5F-A6C2-F7B57C277DA5}"/>
              </a:ext>
            </a:extLst>
          </p:cNvPr>
          <p:cNvSpPr>
            <a:spLocks noGrp="1"/>
          </p:cNvSpPr>
          <p:nvPr/>
        </p:nvSpPr>
        <p:spPr>
          <a:xfrm>
            <a:off x="7962900" y="1047750"/>
            <a:ext cx="3619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Rounded Rectangle 54">
            <a:extLst>
              <a:ext uri="{FF2B5EF4-FFF2-40B4-BE49-F238E27FC236}">
                <a16:creationId xmlns:a16="http://schemas.microsoft.com/office/drawing/2014/main" id="{3166F27B-1892-48E7-88DC-716B059B7EA0}"/>
              </a:ext>
            </a:extLst>
          </p:cNvPr>
          <p:cNvSpPr>
            <a:spLocks noGrp="1"/>
          </p:cNvSpPr>
          <p:nvPr/>
        </p:nvSpPr>
        <p:spPr>
          <a:xfrm>
            <a:off x="8210550" y="1085850"/>
            <a:ext cx="45720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Rounded Rectangle 55">
            <a:extLst>
              <a:ext uri="{FF2B5EF4-FFF2-40B4-BE49-F238E27FC236}">
                <a16:creationId xmlns:a16="http://schemas.microsoft.com/office/drawing/2014/main" id="{FA99DFF8-5E94-497C-A384-FB7E459155DB}"/>
              </a:ext>
            </a:extLst>
          </p:cNvPr>
          <p:cNvSpPr>
            <a:spLocks noGrp="1"/>
          </p:cNvSpPr>
          <p:nvPr/>
        </p:nvSpPr>
        <p:spPr>
          <a:xfrm>
            <a:off x="8458200" y="1009650"/>
            <a:ext cx="5524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Rounded Rectangle 56">
            <a:extLst>
              <a:ext uri="{FF2B5EF4-FFF2-40B4-BE49-F238E27FC236}">
                <a16:creationId xmlns:a16="http://schemas.microsoft.com/office/drawing/2014/main" id="{B806AAB7-473B-471F-9C55-FB06A7107C3C}"/>
              </a:ext>
            </a:extLst>
          </p:cNvPr>
          <p:cNvSpPr>
            <a:spLocks noGrp="1"/>
          </p:cNvSpPr>
          <p:nvPr/>
        </p:nvSpPr>
        <p:spPr>
          <a:xfrm>
            <a:off x="8705850" y="1047750"/>
            <a:ext cx="1714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Rounded Rectangle 57">
            <a:extLst>
              <a:ext uri="{FF2B5EF4-FFF2-40B4-BE49-F238E27FC236}">
                <a16:creationId xmlns:a16="http://schemas.microsoft.com/office/drawing/2014/main" id="{74EFCFAD-6747-4E18-99F4-AE7CB0E47C8D}"/>
              </a:ext>
            </a:extLst>
          </p:cNvPr>
          <p:cNvSpPr>
            <a:spLocks noGrp="1"/>
          </p:cNvSpPr>
          <p:nvPr/>
        </p:nvSpPr>
        <p:spPr>
          <a:xfrm>
            <a:off x="8953500" y="1085850"/>
            <a:ext cx="26670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Rounded Rectangle 58">
            <a:extLst>
              <a:ext uri="{FF2B5EF4-FFF2-40B4-BE49-F238E27FC236}">
                <a16:creationId xmlns:a16="http://schemas.microsoft.com/office/drawing/2014/main" id="{45FB43F2-7BEE-4CF2-B18F-CF630BABCBFB}"/>
              </a:ext>
            </a:extLst>
          </p:cNvPr>
          <p:cNvSpPr>
            <a:spLocks noGrp="1"/>
          </p:cNvSpPr>
          <p:nvPr/>
        </p:nvSpPr>
        <p:spPr>
          <a:xfrm>
            <a:off x="9201150" y="1009650"/>
            <a:ext cx="3619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194F9B29-64A3-4F96-891B-B6879B5F2D62}"/>
              </a:ext>
            </a:extLst>
          </p:cNvPr>
          <p:cNvSpPr>
            <a:spLocks noGrp="1"/>
          </p:cNvSpPr>
          <p:nvPr/>
        </p:nvSpPr>
        <p:spPr>
          <a:xfrm>
            <a:off x="342900" y="76200"/>
            <a:ext cx="342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 i="0">
                <a:solidFill>
                  <a:srgbClr val="8A8580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8A8580"/>
                </a:solidFill>
                <a:latin typeface="Aptos"/>
                <a:ea typeface="Aptos"/>
                <a:cs typeface="Aptos"/>
              </a:rPr>
              <a:t>Confidential - Oracle Restricted (Employees Only)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A9C26E62-9334-4CFB-A095-1588EA9A282F}"/>
              </a:ext>
            </a:extLst>
          </p:cNvPr>
          <p:cNvSpPr>
            <a:spLocks noGrp="1"/>
          </p:cNvSpPr>
          <p:nvPr/>
        </p:nvSpPr>
        <p:spPr>
          <a:xfrm>
            <a:off x="342900" y="6572250"/>
            <a:ext cx="2476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 i="0">
                <a:solidFill>
                  <a:srgbClr val="807A76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807A76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130BFE6D-7BED-4871-BED5-80FD98F1F097}"/>
              </a:ext>
            </a:extLst>
          </p:cNvPr>
          <p:cNvSpPr>
            <a:spLocks noGrp="1"/>
          </p:cNvSpPr>
          <p:nvPr/>
        </p:nvSpPr>
        <p:spPr>
          <a:xfrm>
            <a:off x="723900" y="6572250"/>
            <a:ext cx="4381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 i="0">
                <a:solidFill>
                  <a:srgbClr val="807A76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807A76"/>
                </a:solidFill>
                <a:latin typeface="Aptos"/>
                <a:ea typeface="Aptos"/>
                <a:cs typeface="Aptos"/>
              </a:rPr>
              <a:t>Roadmap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D9F6B430-6824-4969-B105-A69F2F24FF43}"/>
              </a:ext>
            </a:extLst>
          </p:cNvPr>
          <p:cNvSpPr>
            <a:spLocks noGrp="1"/>
          </p:cNvSpPr>
          <p:nvPr/>
        </p:nvSpPr>
        <p:spPr>
          <a:xfrm>
            <a:off x="11334750" y="6419850"/>
            <a:ext cx="419100" cy="419100"/>
          </a:xfrm>
          <a:prstGeom prst="rect">
            <a:avLst/>
          </a:prstGeom>
          <a:solidFill>
            <a:srgbClr val="C7463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Rounded Rectangle 63">
            <a:extLst>
              <a:ext uri="{FF2B5EF4-FFF2-40B4-BE49-F238E27FC236}">
                <a16:creationId xmlns:a16="http://schemas.microsoft.com/office/drawing/2014/main" id="{8651B25B-0105-4EA1-8097-A7590CC2689F}"/>
              </a:ext>
            </a:extLst>
          </p:cNvPr>
          <p:cNvSpPr>
            <a:spLocks noGrp="1"/>
          </p:cNvSpPr>
          <p:nvPr/>
        </p:nvSpPr>
        <p:spPr>
          <a:xfrm>
            <a:off x="11430000" y="6562725"/>
            <a:ext cx="228600" cy="114300"/>
          </a:xfrm>
          <a:prstGeom prst="roundRect">
            <a:avLst>
              <a:gd name="adj" fmla="val 50000"/>
            </a:avLst>
          </a:prstGeom>
          <a:solidFill>
            <a:srgbClr val="000000">
              <a:alpha val="0"/>
            </a:srgbClr>
          </a:solidFill>
          <a:ln w="2286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40EBB62D-0C5F-49FE-AB2D-CB1C28ED45E9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99060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 i="0">
                <a:solidFill>
                  <a:srgbClr val="2B2B2B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 i="0">
                <a:solidFill>
                  <a:srgbClr val="2B2B2B"/>
                </a:solidFill>
                <a:latin typeface="Aptos Display"/>
                <a:ea typeface="Aptos Display"/>
                <a:cs typeface="Aptos Display"/>
              </a:rPr>
              <a:t>ODT 2.0 roadmap moves from local pilot to enterprise agentic SDLC platform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B835D1DA-E965-43CE-8CEB-5F87A2789855}"/>
              </a:ext>
            </a:extLst>
          </p:cNvPr>
          <p:cNvSpPr>
            <a:spLocks noGrp="1"/>
          </p:cNvSpPr>
          <p:nvPr/>
        </p:nvSpPr>
        <p:spPr>
          <a:xfrm>
            <a:off x="609600" y="1219200"/>
            <a:ext cx="99060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 i="0">
                <a:solidFill>
                  <a:srgbClr val="333333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333333"/>
                </a:solidFill>
                <a:latin typeface="Aptos"/>
                <a:ea typeface="Aptos"/>
                <a:cs typeface="Aptos"/>
              </a:rPr>
              <a:t>The next work should harden execution, expand connectors, then add enterprise deployment controls.</a:t>
            </a:r>
          </a:p>
        </p:txBody>
      </p:sp>
      <p:sp>
        <p:nvSpPr>
          <p:cNvPr id="67" name="Rounded Rectangle 66">
            <a:extLst>
              <a:ext uri="{FF2B5EF4-FFF2-40B4-BE49-F238E27FC236}">
                <a16:creationId xmlns:a16="http://schemas.microsoft.com/office/drawing/2014/main" id="{D7B06309-3B05-44A0-AB14-422EC8C5D2C4}"/>
              </a:ext>
            </a:extLst>
          </p:cNvPr>
          <p:cNvSpPr>
            <a:spLocks noGrp="1"/>
          </p:cNvSpPr>
          <p:nvPr/>
        </p:nvSpPr>
        <p:spPr>
          <a:xfrm>
            <a:off x="685800" y="1676400"/>
            <a:ext cx="10668000" cy="99060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1430">
            <a:solidFill>
              <a:srgbClr val="DED8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557D40AE-43C3-4FDE-89F9-337E82475DFC}"/>
              </a:ext>
            </a:extLst>
          </p:cNvPr>
          <p:cNvSpPr>
            <a:spLocks noGrp="1"/>
          </p:cNvSpPr>
          <p:nvPr/>
        </p:nvSpPr>
        <p:spPr>
          <a:xfrm>
            <a:off x="685800" y="1676400"/>
            <a:ext cx="114300" cy="990600"/>
          </a:xfrm>
          <a:prstGeom prst="rect">
            <a:avLst/>
          </a:prstGeom>
          <a:solidFill>
            <a:srgbClr val="C7463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D41E215C-C149-4D1C-BEBF-257CE82A3762}"/>
              </a:ext>
            </a:extLst>
          </p:cNvPr>
          <p:cNvSpPr>
            <a:spLocks noGrp="1"/>
          </p:cNvSpPr>
          <p:nvPr/>
        </p:nvSpPr>
        <p:spPr>
          <a:xfrm>
            <a:off x="990600" y="1847850"/>
            <a:ext cx="1485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 i="0">
                <a:solidFill>
                  <a:srgbClr val="C74634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C74634"/>
                </a:solidFill>
                <a:latin typeface="Aptos"/>
                <a:ea typeface="Aptos"/>
                <a:cs typeface="Aptos"/>
              </a:rPr>
              <a:t>Near term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9BC90F4A-AA6C-4E5B-ACD1-107C797E483A}"/>
              </a:ext>
            </a:extLst>
          </p:cNvPr>
          <p:cNvSpPr>
            <a:spLocks noGrp="1"/>
          </p:cNvSpPr>
          <p:nvPr/>
        </p:nvSpPr>
        <p:spPr>
          <a:xfrm>
            <a:off x="2724150" y="1847850"/>
            <a:ext cx="57150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 i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2B2B2B"/>
                </a:solidFill>
                <a:latin typeface="Aptos"/>
                <a:ea typeface="Aptos"/>
                <a:cs typeface="Aptos"/>
              </a:rPr>
              <a:t>Stabilize reviewer/build verifier closeout, PR evidence gaps, Jira import, UI smoke validation, worker stop/ingest reliability.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FEB76715-8317-428D-9428-15EFA4E81B98}"/>
              </a:ext>
            </a:extLst>
          </p:cNvPr>
          <p:cNvSpPr>
            <a:spLocks noGrp="1"/>
          </p:cNvSpPr>
          <p:nvPr/>
        </p:nvSpPr>
        <p:spPr>
          <a:xfrm>
            <a:off x="8820150" y="1866900"/>
            <a:ext cx="21526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 i="0">
                <a:solidFill>
                  <a:srgbClr val="8C1D18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8C1D18"/>
                </a:solidFill>
                <a:latin typeface="Aptos"/>
                <a:ea typeface="Aptos"/>
                <a:cs typeface="Aptos"/>
              </a:rPr>
              <a:t>Reliable team pilot</a:t>
            </a:r>
          </a:p>
        </p:txBody>
      </p:sp>
      <p:sp>
        <p:nvSpPr>
          <p:cNvPr id="72" name="Rounded Rectangle 71">
            <a:extLst>
              <a:ext uri="{FF2B5EF4-FFF2-40B4-BE49-F238E27FC236}">
                <a16:creationId xmlns:a16="http://schemas.microsoft.com/office/drawing/2014/main" id="{076602BB-CDDB-426C-857B-841B6274B93D}"/>
              </a:ext>
            </a:extLst>
          </p:cNvPr>
          <p:cNvSpPr>
            <a:spLocks noGrp="1"/>
          </p:cNvSpPr>
          <p:nvPr/>
        </p:nvSpPr>
        <p:spPr>
          <a:xfrm>
            <a:off x="685800" y="2933700"/>
            <a:ext cx="10668000" cy="99060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1430">
            <a:solidFill>
              <a:srgbClr val="DED8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B8108A67-4016-4937-87E3-766F8281F6CD}"/>
              </a:ext>
            </a:extLst>
          </p:cNvPr>
          <p:cNvSpPr>
            <a:spLocks noGrp="1"/>
          </p:cNvSpPr>
          <p:nvPr/>
        </p:nvSpPr>
        <p:spPr>
          <a:xfrm>
            <a:off x="685800" y="2933700"/>
            <a:ext cx="114300" cy="990600"/>
          </a:xfrm>
          <a:prstGeom prst="rect">
            <a:avLst/>
          </a:prstGeom>
          <a:solidFill>
            <a:srgbClr val="2E5F8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8E9B0ACF-A204-4273-AFE4-FA412D926160}"/>
              </a:ext>
            </a:extLst>
          </p:cNvPr>
          <p:cNvSpPr>
            <a:spLocks noGrp="1"/>
          </p:cNvSpPr>
          <p:nvPr/>
        </p:nvSpPr>
        <p:spPr>
          <a:xfrm>
            <a:off x="990600" y="3105150"/>
            <a:ext cx="1485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 i="0">
                <a:solidFill>
                  <a:srgbClr val="2E5F8A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2E5F8A"/>
                </a:solidFill>
                <a:latin typeface="Aptos"/>
                <a:ea typeface="Aptos"/>
                <a:cs typeface="Aptos"/>
              </a:rPr>
              <a:t>Mid term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302FF45B-9755-4A7D-B676-7DB3966AE549}"/>
              </a:ext>
            </a:extLst>
          </p:cNvPr>
          <p:cNvSpPr>
            <a:spLocks noGrp="1"/>
          </p:cNvSpPr>
          <p:nvPr/>
        </p:nvSpPr>
        <p:spPr>
          <a:xfrm>
            <a:off x="2724150" y="3105150"/>
            <a:ext cx="57150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 i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2B2B2B"/>
                </a:solidFill>
                <a:latin typeface="Aptos"/>
                <a:ea typeface="Aptos"/>
                <a:cs typeface="Aptos"/>
              </a:rPr>
              <a:t>Policy packs, ODT Guide RAG, Git/SCM and build connectors, Cline adapter, token budgeting, context compression.</a:t>
            </a: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366158D7-E646-4975-B768-A2D5F710657D}"/>
              </a:ext>
            </a:extLst>
          </p:cNvPr>
          <p:cNvSpPr>
            <a:spLocks noGrp="1"/>
          </p:cNvSpPr>
          <p:nvPr/>
        </p:nvSpPr>
        <p:spPr>
          <a:xfrm>
            <a:off x="8820150" y="3124200"/>
            <a:ext cx="21526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 i="0">
                <a:solidFill>
                  <a:srgbClr val="8C1D18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8C1D18"/>
                </a:solidFill>
                <a:latin typeface="Aptos"/>
                <a:ea typeface="Aptos"/>
                <a:cs typeface="Aptos"/>
              </a:rPr>
              <a:t>Customizable multi-worker workbench</a:t>
            </a:r>
          </a:p>
        </p:txBody>
      </p:sp>
      <p:sp>
        <p:nvSpPr>
          <p:cNvPr id="77" name="Rounded Rectangle 76">
            <a:extLst>
              <a:ext uri="{FF2B5EF4-FFF2-40B4-BE49-F238E27FC236}">
                <a16:creationId xmlns:a16="http://schemas.microsoft.com/office/drawing/2014/main" id="{3E025EB3-6731-4101-A657-0A5C5C509004}"/>
              </a:ext>
            </a:extLst>
          </p:cNvPr>
          <p:cNvSpPr>
            <a:spLocks noGrp="1"/>
          </p:cNvSpPr>
          <p:nvPr/>
        </p:nvSpPr>
        <p:spPr>
          <a:xfrm>
            <a:off x="685800" y="4191000"/>
            <a:ext cx="10668000" cy="99060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1430">
            <a:solidFill>
              <a:srgbClr val="DED8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679E8795-846B-4DE4-B299-3354A7420C0E}"/>
              </a:ext>
            </a:extLst>
          </p:cNvPr>
          <p:cNvSpPr>
            <a:spLocks noGrp="1"/>
          </p:cNvSpPr>
          <p:nvPr/>
        </p:nvSpPr>
        <p:spPr>
          <a:xfrm>
            <a:off x="685800" y="4191000"/>
            <a:ext cx="114300" cy="990600"/>
          </a:xfrm>
          <a:prstGeom prst="rect">
            <a:avLst/>
          </a:prstGeom>
          <a:solidFill>
            <a:srgbClr val="2F7D4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1BC88C37-7291-44A9-8BEC-0503950B5765}"/>
              </a:ext>
            </a:extLst>
          </p:cNvPr>
          <p:cNvSpPr>
            <a:spLocks noGrp="1"/>
          </p:cNvSpPr>
          <p:nvPr/>
        </p:nvSpPr>
        <p:spPr>
          <a:xfrm>
            <a:off x="990600" y="4362450"/>
            <a:ext cx="1485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 i="0">
                <a:solidFill>
                  <a:srgbClr val="2F7D4B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2F7D4B"/>
                </a:solidFill>
                <a:latin typeface="Aptos"/>
                <a:ea typeface="Aptos"/>
                <a:cs typeface="Aptos"/>
              </a:rPr>
              <a:t>Long term</a:t>
            </a: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39B94A3A-DBE3-403C-86CC-36A2B56B17E5}"/>
              </a:ext>
            </a:extLst>
          </p:cNvPr>
          <p:cNvSpPr>
            <a:spLocks noGrp="1"/>
          </p:cNvSpPr>
          <p:nvPr/>
        </p:nvSpPr>
        <p:spPr>
          <a:xfrm>
            <a:off x="2724150" y="4362450"/>
            <a:ext cx="57150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 i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2B2B2B"/>
                </a:solidFill>
                <a:latin typeface="Aptos"/>
                <a:ea typeface="Aptos"/>
                <a:cs typeface="Aptos"/>
              </a:rPr>
              <a:t>Enterprise auth/RBAC, shared evidence store, MCP-native orchestration, OCI GenAI/OCA adapter, DB awareness, audit exports.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24F2A3EF-881B-4D0B-A8A3-C19618998988}"/>
              </a:ext>
            </a:extLst>
          </p:cNvPr>
          <p:cNvSpPr>
            <a:spLocks noGrp="1"/>
          </p:cNvSpPr>
          <p:nvPr/>
        </p:nvSpPr>
        <p:spPr>
          <a:xfrm>
            <a:off x="8820150" y="4381500"/>
            <a:ext cx="21526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 i="0">
                <a:solidFill>
                  <a:srgbClr val="8C1D18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8C1D18"/>
                </a:solidFill>
                <a:latin typeface="Aptos"/>
                <a:ea typeface="Aptos"/>
                <a:cs typeface="Aptos"/>
              </a:rPr>
              <a:t>Production-grade agentic SDLC platform</a:t>
            </a: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2D8BBF74-B03B-4953-A1C6-D266C673B95D}"/>
              </a:ext>
            </a:extLst>
          </p:cNvPr>
          <p:cNvSpPr>
            <a:spLocks noGrp="1"/>
          </p:cNvSpPr>
          <p:nvPr/>
        </p:nvSpPr>
        <p:spPr>
          <a:xfrm>
            <a:off x="685800" y="5695950"/>
            <a:ext cx="10668000" cy="419100"/>
          </a:xfrm>
          <a:prstGeom prst="rect">
            <a:avLst/>
          </a:prstGeom>
          <a:solidFill>
            <a:srgbClr val="FFF4D6"/>
          </a:solidFill>
          <a:ln w="9525">
            <a:solidFill>
              <a:srgbClr val="E9C8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1695EF93-D659-4EA1-A837-98E6993351AE}"/>
              </a:ext>
            </a:extLst>
          </p:cNvPr>
          <p:cNvSpPr>
            <a:spLocks noGrp="1"/>
          </p:cNvSpPr>
          <p:nvPr/>
        </p:nvSpPr>
        <p:spPr>
          <a:xfrm>
            <a:off x="857250" y="5791200"/>
            <a:ext cx="103251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575" b="0" i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575" b="0" i="0">
                <a:solidFill>
                  <a:srgbClr val="2B2B2B"/>
                </a:solidFill>
                <a:latin typeface="Aptos"/>
                <a:ea typeface="Aptos"/>
                <a:cs typeface="Aptos"/>
              </a:rPr>
              <a:t>Future upgrades should be added behind governance gates first, then exposed through simple workbench actions.</a:t>
            </a:r>
          </a:p>
        </p:txBody>
      </p:sp>
    </p:spTree>
    <p:extLst>
      <p:ext uri="{BB962C8B-B14F-4D97-AF65-F5344CB8AC3E}">
        <p14:creationId xmlns:p14="http://schemas.microsoft.com/office/powerpoint/2010/main" val="13591503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Rectangle 95">
            <a:extLst>
              <a:ext uri="{FF2B5EF4-FFF2-40B4-BE49-F238E27FC236}">
                <a16:creationId xmlns:a16="http://schemas.microsoft.com/office/drawing/2014/main" id="{34129481-75BD-4DE1-AD1D-C47867AE758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96B308CB-60E4-4313-B472-C8679EBF0A79}"/>
              </a:ext>
            </a:extLst>
          </p:cNvPr>
          <p:cNvSpPr>
            <a:spLocks noGrp="1"/>
          </p:cNvSpPr>
          <p:nvPr/>
        </p:nvSpPr>
        <p:spPr>
          <a:xfrm>
            <a:off x="6858000" y="323850"/>
            <a:ext cx="1714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70203E03-FC1B-4BCB-AD03-CBAD529B175D}"/>
              </a:ext>
            </a:extLst>
          </p:cNvPr>
          <p:cNvSpPr>
            <a:spLocks noGrp="1"/>
          </p:cNvSpPr>
          <p:nvPr/>
        </p:nvSpPr>
        <p:spPr>
          <a:xfrm>
            <a:off x="7105650" y="361950"/>
            <a:ext cx="26670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D4B60E06-B500-4CD8-A885-F0A96EEE252F}"/>
              </a:ext>
            </a:extLst>
          </p:cNvPr>
          <p:cNvSpPr>
            <a:spLocks noGrp="1"/>
          </p:cNvSpPr>
          <p:nvPr/>
        </p:nvSpPr>
        <p:spPr>
          <a:xfrm>
            <a:off x="7353300" y="400050"/>
            <a:ext cx="3619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A1F42F53-6EDC-41E6-A90B-0AEAD479F855}"/>
              </a:ext>
            </a:extLst>
          </p:cNvPr>
          <p:cNvSpPr>
            <a:spLocks noGrp="1"/>
          </p:cNvSpPr>
          <p:nvPr/>
        </p:nvSpPr>
        <p:spPr>
          <a:xfrm>
            <a:off x="7600950" y="323850"/>
            <a:ext cx="45720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9B0D12C0-873C-478F-924A-820EFA6590B3}"/>
              </a:ext>
            </a:extLst>
          </p:cNvPr>
          <p:cNvSpPr>
            <a:spLocks noGrp="1"/>
          </p:cNvSpPr>
          <p:nvPr/>
        </p:nvSpPr>
        <p:spPr>
          <a:xfrm>
            <a:off x="7848600" y="361950"/>
            <a:ext cx="5524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195654F2-D403-4852-BACC-BC6AA0D96BD0}"/>
              </a:ext>
            </a:extLst>
          </p:cNvPr>
          <p:cNvSpPr>
            <a:spLocks noGrp="1"/>
          </p:cNvSpPr>
          <p:nvPr/>
        </p:nvSpPr>
        <p:spPr>
          <a:xfrm>
            <a:off x="8096250" y="400050"/>
            <a:ext cx="1714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610BBC14-61B6-4287-B9F7-7AE559C36D4A}"/>
              </a:ext>
            </a:extLst>
          </p:cNvPr>
          <p:cNvSpPr>
            <a:spLocks noGrp="1"/>
          </p:cNvSpPr>
          <p:nvPr/>
        </p:nvSpPr>
        <p:spPr>
          <a:xfrm>
            <a:off x="8343900" y="323850"/>
            <a:ext cx="26670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80B74E56-5EEA-4A88-9BC7-87F1474C1339}"/>
              </a:ext>
            </a:extLst>
          </p:cNvPr>
          <p:cNvSpPr>
            <a:spLocks noGrp="1"/>
          </p:cNvSpPr>
          <p:nvPr/>
        </p:nvSpPr>
        <p:spPr>
          <a:xfrm>
            <a:off x="8591550" y="361950"/>
            <a:ext cx="3619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D8A260FE-6E1B-4A48-8868-D1C11D41E728}"/>
              </a:ext>
            </a:extLst>
          </p:cNvPr>
          <p:cNvSpPr>
            <a:spLocks noGrp="1"/>
          </p:cNvSpPr>
          <p:nvPr/>
        </p:nvSpPr>
        <p:spPr>
          <a:xfrm>
            <a:off x="8839200" y="400050"/>
            <a:ext cx="45720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073F1D72-37F5-4F0D-9001-E7D3AC539027}"/>
              </a:ext>
            </a:extLst>
          </p:cNvPr>
          <p:cNvSpPr>
            <a:spLocks noGrp="1"/>
          </p:cNvSpPr>
          <p:nvPr/>
        </p:nvSpPr>
        <p:spPr>
          <a:xfrm>
            <a:off x="9086850" y="323850"/>
            <a:ext cx="5524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7E5D7B3D-58D9-4AC2-9FD9-B299C1E0F510}"/>
              </a:ext>
            </a:extLst>
          </p:cNvPr>
          <p:cNvSpPr>
            <a:spLocks noGrp="1"/>
          </p:cNvSpPr>
          <p:nvPr/>
        </p:nvSpPr>
        <p:spPr>
          <a:xfrm>
            <a:off x="9334500" y="361950"/>
            <a:ext cx="1714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EF1B575E-9EEE-4F25-BC18-E846062F9EF2}"/>
              </a:ext>
            </a:extLst>
          </p:cNvPr>
          <p:cNvSpPr>
            <a:spLocks noGrp="1"/>
          </p:cNvSpPr>
          <p:nvPr/>
        </p:nvSpPr>
        <p:spPr>
          <a:xfrm>
            <a:off x="9582150" y="400050"/>
            <a:ext cx="26670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DB0D9A60-286D-4924-BDF6-8826C94BBA38}"/>
              </a:ext>
            </a:extLst>
          </p:cNvPr>
          <p:cNvSpPr>
            <a:spLocks noGrp="1"/>
          </p:cNvSpPr>
          <p:nvPr/>
        </p:nvSpPr>
        <p:spPr>
          <a:xfrm>
            <a:off x="9829800" y="323850"/>
            <a:ext cx="3619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FC416A90-2648-427A-9912-0D1FE9125684}"/>
              </a:ext>
            </a:extLst>
          </p:cNvPr>
          <p:cNvSpPr>
            <a:spLocks noGrp="1"/>
          </p:cNvSpPr>
          <p:nvPr/>
        </p:nvSpPr>
        <p:spPr>
          <a:xfrm>
            <a:off x="10077450" y="361950"/>
            <a:ext cx="45720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765F1207-91F7-482D-8C1F-9647BE74403E}"/>
              </a:ext>
            </a:extLst>
          </p:cNvPr>
          <p:cNvSpPr>
            <a:spLocks noGrp="1"/>
          </p:cNvSpPr>
          <p:nvPr/>
        </p:nvSpPr>
        <p:spPr>
          <a:xfrm>
            <a:off x="10325100" y="400050"/>
            <a:ext cx="5524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88BD1A2E-7B2D-4985-9C12-A39B1C682D3C}"/>
              </a:ext>
            </a:extLst>
          </p:cNvPr>
          <p:cNvSpPr>
            <a:spLocks noGrp="1"/>
          </p:cNvSpPr>
          <p:nvPr/>
        </p:nvSpPr>
        <p:spPr>
          <a:xfrm>
            <a:off x="10572750" y="323850"/>
            <a:ext cx="1714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789C063E-9635-497C-94EE-BED305FD1F25}"/>
              </a:ext>
            </a:extLst>
          </p:cNvPr>
          <p:cNvSpPr>
            <a:spLocks noGrp="1"/>
          </p:cNvSpPr>
          <p:nvPr/>
        </p:nvSpPr>
        <p:spPr>
          <a:xfrm>
            <a:off x="6972300" y="552450"/>
            <a:ext cx="26670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37637411-CBFC-4513-A1F5-46E6D313F7BF}"/>
              </a:ext>
            </a:extLst>
          </p:cNvPr>
          <p:cNvSpPr>
            <a:spLocks noGrp="1"/>
          </p:cNvSpPr>
          <p:nvPr/>
        </p:nvSpPr>
        <p:spPr>
          <a:xfrm>
            <a:off x="7219950" y="590550"/>
            <a:ext cx="3619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EE3CF72C-1837-4C85-9C0C-923901B2E976}"/>
              </a:ext>
            </a:extLst>
          </p:cNvPr>
          <p:cNvSpPr>
            <a:spLocks noGrp="1"/>
          </p:cNvSpPr>
          <p:nvPr/>
        </p:nvSpPr>
        <p:spPr>
          <a:xfrm>
            <a:off x="7467600" y="628650"/>
            <a:ext cx="45720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618AE5A8-13A8-4199-A89B-C6D410FF527D}"/>
              </a:ext>
            </a:extLst>
          </p:cNvPr>
          <p:cNvSpPr>
            <a:spLocks noGrp="1"/>
          </p:cNvSpPr>
          <p:nvPr/>
        </p:nvSpPr>
        <p:spPr>
          <a:xfrm>
            <a:off x="7715250" y="552450"/>
            <a:ext cx="5524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A3450186-A716-45BB-8CF8-842937B4581F}"/>
              </a:ext>
            </a:extLst>
          </p:cNvPr>
          <p:cNvSpPr>
            <a:spLocks noGrp="1"/>
          </p:cNvSpPr>
          <p:nvPr/>
        </p:nvSpPr>
        <p:spPr>
          <a:xfrm>
            <a:off x="7962900" y="590550"/>
            <a:ext cx="1714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82E4F9C9-F744-4FD4-8260-EE6C5D4F53BA}"/>
              </a:ext>
            </a:extLst>
          </p:cNvPr>
          <p:cNvSpPr>
            <a:spLocks noGrp="1"/>
          </p:cNvSpPr>
          <p:nvPr/>
        </p:nvSpPr>
        <p:spPr>
          <a:xfrm>
            <a:off x="8210550" y="628650"/>
            <a:ext cx="26670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BA0ED782-BA70-4B71-B94C-02A6D8DE1E72}"/>
              </a:ext>
            </a:extLst>
          </p:cNvPr>
          <p:cNvSpPr>
            <a:spLocks noGrp="1"/>
          </p:cNvSpPr>
          <p:nvPr/>
        </p:nvSpPr>
        <p:spPr>
          <a:xfrm>
            <a:off x="8458200" y="552450"/>
            <a:ext cx="3619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EF7991D1-BF77-419D-B2A0-BC6CB931D40F}"/>
              </a:ext>
            </a:extLst>
          </p:cNvPr>
          <p:cNvSpPr>
            <a:spLocks noGrp="1"/>
          </p:cNvSpPr>
          <p:nvPr/>
        </p:nvSpPr>
        <p:spPr>
          <a:xfrm>
            <a:off x="8705850" y="590550"/>
            <a:ext cx="45720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994A1072-81F7-473F-9891-E54F86C2D846}"/>
              </a:ext>
            </a:extLst>
          </p:cNvPr>
          <p:cNvSpPr>
            <a:spLocks noGrp="1"/>
          </p:cNvSpPr>
          <p:nvPr/>
        </p:nvSpPr>
        <p:spPr>
          <a:xfrm>
            <a:off x="8953500" y="628650"/>
            <a:ext cx="5524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C0F0FD49-0BC9-4AF5-9B68-F56E2BA6FDC5}"/>
              </a:ext>
            </a:extLst>
          </p:cNvPr>
          <p:cNvSpPr>
            <a:spLocks noGrp="1"/>
          </p:cNvSpPr>
          <p:nvPr/>
        </p:nvSpPr>
        <p:spPr>
          <a:xfrm>
            <a:off x="9201150" y="552450"/>
            <a:ext cx="1714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F4935357-E1BB-461B-ADA6-DC30F269A585}"/>
              </a:ext>
            </a:extLst>
          </p:cNvPr>
          <p:cNvSpPr>
            <a:spLocks noGrp="1"/>
          </p:cNvSpPr>
          <p:nvPr/>
        </p:nvSpPr>
        <p:spPr>
          <a:xfrm>
            <a:off x="9448800" y="590550"/>
            <a:ext cx="26670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13018215-CCF3-477E-9980-BE0F2DC62E78}"/>
              </a:ext>
            </a:extLst>
          </p:cNvPr>
          <p:cNvSpPr>
            <a:spLocks noGrp="1"/>
          </p:cNvSpPr>
          <p:nvPr/>
        </p:nvSpPr>
        <p:spPr>
          <a:xfrm>
            <a:off x="9696450" y="628650"/>
            <a:ext cx="3619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827ED5B7-8259-4C35-BC09-9700C5614520}"/>
              </a:ext>
            </a:extLst>
          </p:cNvPr>
          <p:cNvSpPr>
            <a:spLocks noGrp="1"/>
          </p:cNvSpPr>
          <p:nvPr/>
        </p:nvSpPr>
        <p:spPr>
          <a:xfrm>
            <a:off x="9944100" y="552450"/>
            <a:ext cx="45720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7B14431A-443F-4F09-BFF3-232E537CF112}"/>
              </a:ext>
            </a:extLst>
          </p:cNvPr>
          <p:cNvSpPr>
            <a:spLocks noGrp="1"/>
          </p:cNvSpPr>
          <p:nvPr/>
        </p:nvSpPr>
        <p:spPr>
          <a:xfrm>
            <a:off x="10191750" y="590550"/>
            <a:ext cx="5524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2678A80C-30FB-405B-9D3B-D5247F734826}"/>
              </a:ext>
            </a:extLst>
          </p:cNvPr>
          <p:cNvSpPr>
            <a:spLocks noGrp="1"/>
          </p:cNvSpPr>
          <p:nvPr/>
        </p:nvSpPr>
        <p:spPr>
          <a:xfrm>
            <a:off x="10439400" y="628650"/>
            <a:ext cx="1714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B1DDB512-F351-451D-A746-60F9F0F08A14}"/>
              </a:ext>
            </a:extLst>
          </p:cNvPr>
          <p:cNvSpPr>
            <a:spLocks noGrp="1"/>
          </p:cNvSpPr>
          <p:nvPr/>
        </p:nvSpPr>
        <p:spPr>
          <a:xfrm>
            <a:off x="10687050" y="552450"/>
            <a:ext cx="26670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AADC4CC0-A6EE-40E5-8896-84E5404C1D2F}"/>
              </a:ext>
            </a:extLst>
          </p:cNvPr>
          <p:cNvSpPr>
            <a:spLocks noGrp="1"/>
          </p:cNvSpPr>
          <p:nvPr/>
        </p:nvSpPr>
        <p:spPr>
          <a:xfrm>
            <a:off x="6858000" y="781050"/>
            <a:ext cx="3619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8CEFCFE1-DBA8-442B-B1C6-8A8243CDE049}"/>
              </a:ext>
            </a:extLst>
          </p:cNvPr>
          <p:cNvSpPr>
            <a:spLocks noGrp="1"/>
          </p:cNvSpPr>
          <p:nvPr/>
        </p:nvSpPr>
        <p:spPr>
          <a:xfrm>
            <a:off x="7105650" y="819150"/>
            <a:ext cx="45720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F2516AD9-7DF6-4D44-84D9-A25EADA9C7D7}"/>
              </a:ext>
            </a:extLst>
          </p:cNvPr>
          <p:cNvSpPr>
            <a:spLocks noGrp="1"/>
          </p:cNvSpPr>
          <p:nvPr/>
        </p:nvSpPr>
        <p:spPr>
          <a:xfrm>
            <a:off x="7353300" y="857250"/>
            <a:ext cx="5524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DACAE5E8-A6AB-4553-A65E-82FA0E4AF84D}"/>
              </a:ext>
            </a:extLst>
          </p:cNvPr>
          <p:cNvSpPr>
            <a:spLocks noGrp="1"/>
          </p:cNvSpPr>
          <p:nvPr/>
        </p:nvSpPr>
        <p:spPr>
          <a:xfrm>
            <a:off x="7600950" y="781050"/>
            <a:ext cx="1714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DD3F1A63-E677-436D-B028-A3C908D73CB5}"/>
              </a:ext>
            </a:extLst>
          </p:cNvPr>
          <p:cNvSpPr>
            <a:spLocks noGrp="1"/>
          </p:cNvSpPr>
          <p:nvPr/>
        </p:nvSpPr>
        <p:spPr>
          <a:xfrm>
            <a:off x="7848600" y="819150"/>
            <a:ext cx="26670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5AFAAEE8-5A7D-48DD-8F34-014E3F8173BD}"/>
              </a:ext>
            </a:extLst>
          </p:cNvPr>
          <p:cNvSpPr>
            <a:spLocks noGrp="1"/>
          </p:cNvSpPr>
          <p:nvPr/>
        </p:nvSpPr>
        <p:spPr>
          <a:xfrm>
            <a:off x="8096250" y="857250"/>
            <a:ext cx="3619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55EEA3C2-1313-4F47-B23B-7029658C8348}"/>
              </a:ext>
            </a:extLst>
          </p:cNvPr>
          <p:cNvSpPr>
            <a:spLocks noGrp="1"/>
          </p:cNvSpPr>
          <p:nvPr/>
        </p:nvSpPr>
        <p:spPr>
          <a:xfrm>
            <a:off x="8343900" y="781050"/>
            <a:ext cx="45720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34F35A77-51EE-43AA-88C9-6AD4C8662DCE}"/>
              </a:ext>
            </a:extLst>
          </p:cNvPr>
          <p:cNvSpPr>
            <a:spLocks noGrp="1"/>
          </p:cNvSpPr>
          <p:nvPr/>
        </p:nvSpPr>
        <p:spPr>
          <a:xfrm>
            <a:off x="8591550" y="819150"/>
            <a:ext cx="5524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3BE742C5-0A0C-4927-BD64-714B57069874}"/>
              </a:ext>
            </a:extLst>
          </p:cNvPr>
          <p:cNvSpPr>
            <a:spLocks noGrp="1"/>
          </p:cNvSpPr>
          <p:nvPr/>
        </p:nvSpPr>
        <p:spPr>
          <a:xfrm>
            <a:off x="8839200" y="857250"/>
            <a:ext cx="1714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CB4241C9-4225-4A0A-AEF4-89F6FE6DF992}"/>
              </a:ext>
            </a:extLst>
          </p:cNvPr>
          <p:cNvSpPr>
            <a:spLocks noGrp="1"/>
          </p:cNvSpPr>
          <p:nvPr/>
        </p:nvSpPr>
        <p:spPr>
          <a:xfrm>
            <a:off x="9086850" y="781050"/>
            <a:ext cx="26670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CEF01662-EADB-4190-8128-FAD9D8B39145}"/>
              </a:ext>
            </a:extLst>
          </p:cNvPr>
          <p:cNvSpPr>
            <a:spLocks noGrp="1"/>
          </p:cNvSpPr>
          <p:nvPr/>
        </p:nvSpPr>
        <p:spPr>
          <a:xfrm>
            <a:off x="9334500" y="819150"/>
            <a:ext cx="3619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Rounded Rectangle 44">
            <a:extLst>
              <a:ext uri="{FF2B5EF4-FFF2-40B4-BE49-F238E27FC236}">
                <a16:creationId xmlns:a16="http://schemas.microsoft.com/office/drawing/2014/main" id="{2E208646-675F-4C94-8F46-D320DE56FB41}"/>
              </a:ext>
            </a:extLst>
          </p:cNvPr>
          <p:cNvSpPr>
            <a:spLocks noGrp="1"/>
          </p:cNvSpPr>
          <p:nvPr/>
        </p:nvSpPr>
        <p:spPr>
          <a:xfrm>
            <a:off x="9582150" y="857250"/>
            <a:ext cx="45720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Rounded Rectangle 45">
            <a:extLst>
              <a:ext uri="{FF2B5EF4-FFF2-40B4-BE49-F238E27FC236}">
                <a16:creationId xmlns:a16="http://schemas.microsoft.com/office/drawing/2014/main" id="{7DBE0D56-3189-4F1A-A169-6968E8103B4E}"/>
              </a:ext>
            </a:extLst>
          </p:cNvPr>
          <p:cNvSpPr>
            <a:spLocks noGrp="1"/>
          </p:cNvSpPr>
          <p:nvPr/>
        </p:nvSpPr>
        <p:spPr>
          <a:xfrm>
            <a:off x="9829800" y="781050"/>
            <a:ext cx="5524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Rounded Rectangle 46">
            <a:extLst>
              <a:ext uri="{FF2B5EF4-FFF2-40B4-BE49-F238E27FC236}">
                <a16:creationId xmlns:a16="http://schemas.microsoft.com/office/drawing/2014/main" id="{4B442ABD-7ACA-40A5-878C-9273859A917D}"/>
              </a:ext>
            </a:extLst>
          </p:cNvPr>
          <p:cNvSpPr>
            <a:spLocks noGrp="1"/>
          </p:cNvSpPr>
          <p:nvPr/>
        </p:nvSpPr>
        <p:spPr>
          <a:xfrm>
            <a:off x="10077450" y="819150"/>
            <a:ext cx="1714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Rounded Rectangle 47">
            <a:extLst>
              <a:ext uri="{FF2B5EF4-FFF2-40B4-BE49-F238E27FC236}">
                <a16:creationId xmlns:a16="http://schemas.microsoft.com/office/drawing/2014/main" id="{C0A98D1A-9FD8-4994-A13F-D1642419213F}"/>
              </a:ext>
            </a:extLst>
          </p:cNvPr>
          <p:cNvSpPr>
            <a:spLocks noGrp="1"/>
          </p:cNvSpPr>
          <p:nvPr/>
        </p:nvSpPr>
        <p:spPr>
          <a:xfrm>
            <a:off x="10325100" y="857250"/>
            <a:ext cx="26670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Rounded Rectangle 48">
            <a:extLst>
              <a:ext uri="{FF2B5EF4-FFF2-40B4-BE49-F238E27FC236}">
                <a16:creationId xmlns:a16="http://schemas.microsoft.com/office/drawing/2014/main" id="{6CFC2359-54EF-4CF0-8F4F-DDCBA7F697BE}"/>
              </a:ext>
            </a:extLst>
          </p:cNvPr>
          <p:cNvSpPr>
            <a:spLocks noGrp="1"/>
          </p:cNvSpPr>
          <p:nvPr/>
        </p:nvSpPr>
        <p:spPr>
          <a:xfrm>
            <a:off x="10572750" y="781050"/>
            <a:ext cx="3619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Rounded Rectangle 49">
            <a:extLst>
              <a:ext uri="{FF2B5EF4-FFF2-40B4-BE49-F238E27FC236}">
                <a16:creationId xmlns:a16="http://schemas.microsoft.com/office/drawing/2014/main" id="{6FEB3C99-7760-4CBB-B87B-8F80CBBD31EF}"/>
              </a:ext>
            </a:extLst>
          </p:cNvPr>
          <p:cNvSpPr>
            <a:spLocks noGrp="1"/>
          </p:cNvSpPr>
          <p:nvPr/>
        </p:nvSpPr>
        <p:spPr>
          <a:xfrm>
            <a:off x="6972300" y="1009650"/>
            <a:ext cx="45720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Rounded Rectangle 50">
            <a:extLst>
              <a:ext uri="{FF2B5EF4-FFF2-40B4-BE49-F238E27FC236}">
                <a16:creationId xmlns:a16="http://schemas.microsoft.com/office/drawing/2014/main" id="{3D4BAF35-197A-4DDC-9D80-563E774795E3}"/>
              </a:ext>
            </a:extLst>
          </p:cNvPr>
          <p:cNvSpPr>
            <a:spLocks noGrp="1"/>
          </p:cNvSpPr>
          <p:nvPr/>
        </p:nvSpPr>
        <p:spPr>
          <a:xfrm>
            <a:off x="7219950" y="1047750"/>
            <a:ext cx="5524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Rounded Rectangle 51">
            <a:extLst>
              <a:ext uri="{FF2B5EF4-FFF2-40B4-BE49-F238E27FC236}">
                <a16:creationId xmlns:a16="http://schemas.microsoft.com/office/drawing/2014/main" id="{8E7B0CF7-090D-453F-BD30-9865663F40FC}"/>
              </a:ext>
            </a:extLst>
          </p:cNvPr>
          <p:cNvSpPr>
            <a:spLocks noGrp="1"/>
          </p:cNvSpPr>
          <p:nvPr/>
        </p:nvSpPr>
        <p:spPr>
          <a:xfrm>
            <a:off x="7467600" y="1085850"/>
            <a:ext cx="1714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Rounded Rectangle 52">
            <a:extLst>
              <a:ext uri="{FF2B5EF4-FFF2-40B4-BE49-F238E27FC236}">
                <a16:creationId xmlns:a16="http://schemas.microsoft.com/office/drawing/2014/main" id="{A891C844-3CDE-4506-A90E-0046723C608A}"/>
              </a:ext>
            </a:extLst>
          </p:cNvPr>
          <p:cNvSpPr>
            <a:spLocks noGrp="1"/>
          </p:cNvSpPr>
          <p:nvPr/>
        </p:nvSpPr>
        <p:spPr>
          <a:xfrm>
            <a:off x="7715250" y="1009650"/>
            <a:ext cx="26670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Rounded Rectangle 53">
            <a:extLst>
              <a:ext uri="{FF2B5EF4-FFF2-40B4-BE49-F238E27FC236}">
                <a16:creationId xmlns:a16="http://schemas.microsoft.com/office/drawing/2014/main" id="{3CAF5AD8-B213-4103-9C38-F54F13AB2C48}"/>
              </a:ext>
            </a:extLst>
          </p:cNvPr>
          <p:cNvSpPr>
            <a:spLocks noGrp="1"/>
          </p:cNvSpPr>
          <p:nvPr/>
        </p:nvSpPr>
        <p:spPr>
          <a:xfrm>
            <a:off x="7962900" y="1047750"/>
            <a:ext cx="3619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Rounded Rectangle 54">
            <a:extLst>
              <a:ext uri="{FF2B5EF4-FFF2-40B4-BE49-F238E27FC236}">
                <a16:creationId xmlns:a16="http://schemas.microsoft.com/office/drawing/2014/main" id="{DC6495D7-917B-48BA-91F8-F5360FAA4273}"/>
              </a:ext>
            </a:extLst>
          </p:cNvPr>
          <p:cNvSpPr>
            <a:spLocks noGrp="1"/>
          </p:cNvSpPr>
          <p:nvPr/>
        </p:nvSpPr>
        <p:spPr>
          <a:xfrm>
            <a:off x="8210550" y="1085850"/>
            <a:ext cx="45720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Rounded Rectangle 55">
            <a:extLst>
              <a:ext uri="{FF2B5EF4-FFF2-40B4-BE49-F238E27FC236}">
                <a16:creationId xmlns:a16="http://schemas.microsoft.com/office/drawing/2014/main" id="{072ECA53-E4BF-4416-A4E5-E514EF0E3489}"/>
              </a:ext>
            </a:extLst>
          </p:cNvPr>
          <p:cNvSpPr>
            <a:spLocks noGrp="1"/>
          </p:cNvSpPr>
          <p:nvPr/>
        </p:nvSpPr>
        <p:spPr>
          <a:xfrm>
            <a:off x="8458200" y="1009650"/>
            <a:ext cx="5524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Rounded Rectangle 56">
            <a:extLst>
              <a:ext uri="{FF2B5EF4-FFF2-40B4-BE49-F238E27FC236}">
                <a16:creationId xmlns:a16="http://schemas.microsoft.com/office/drawing/2014/main" id="{CCE95722-49E5-44A8-AE61-F24DE54D3072}"/>
              </a:ext>
            </a:extLst>
          </p:cNvPr>
          <p:cNvSpPr>
            <a:spLocks noGrp="1"/>
          </p:cNvSpPr>
          <p:nvPr/>
        </p:nvSpPr>
        <p:spPr>
          <a:xfrm>
            <a:off x="8705850" y="1047750"/>
            <a:ext cx="1714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Rounded Rectangle 57">
            <a:extLst>
              <a:ext uri="{FF2B5EF4-FFF2-40B4-BE49-F238E27FC236}">
                <a16:creationId xmlns:a16="http://schemas.microsoft.com/office/drawing/2014/main" id="{4E9E3169-978E-4852-9FF9-E573B64FE3FA}"/>
              </a:ext>
            </a:extLst>
          </p:cNvPr>
          <p:cNvSpPr>
            <a:spLocks noGrp="1"/>
          </p:cNvSpPr>
          <p:nvPr/>
        </p:nvSpPr>
        <p:spPr>
          <a:xfrm>
            <a:off x="8953500" y="1085850"/>
            <a:ext cx="26670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Rounded Rectangle 58">
            <a:extLst>
              <a:ext uri="{FF2B5EF4-FFF2-40B4-BE49-F238E27FC236}">
                <a16:creationId xmlns:a16="http://schemas.microsoft.com/office/drawing/2014/main" id="{37E3D2CF-DB4E-437A-9876-85A020020145}"/>
              </a:ext>
            </a:extLst>
          </p:cNvPr>
          <p:cNvSpPr>
            <a:spLocks noGrp="1"/>
          </p:cNvSpPr>
          <p:nvPr/>
        </p:nvSpPr>
        <p:spPr>
          <a:xfrm>
            <a:off x="9201150" y="1009650"/>
            <a:ext cx="3619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256DF2D0-CCE2-4D87-8FEE-FA351828B2D8}"/>
              </a:ext>
            </a:extLst>
          </p:cNvPr>
          <p:cNvSpPr>
            <a:spLocks noGrp="1"/>
          </p:cNvSpPr>
          <p:nvPr/>
        </p:nvSpPr>
        <p:spPr>
          <a:xfrm>
            <a:off x="342900" y="76200"/>
            <a:ext cx="342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 i="0">
                <a:solidFill>
                  <a:srgbClr val="8A8580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8A8580"/>
                </a:solidFill>
                <a:latin typeface="Aptos"/>
                <a:ea typeface="Aptos"/>
                <a:cs typeface="Aptos"/>
              </a:rPr>
              <a:t>Confidential - Oracle Restricted (Employees Only)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779B3D6B-A602-4F26-83E4-F53E6B3AE9FE}"/>
              </a:ext>
            </a:extLst>
          </p:cNvPr>
          <p:cNvSpPr>
            <a:spLocks noGrp="1"/>
          </p:cNvSpPr>
          <p:nvPr/>
        </p:nvSpPr>
        <p:spPr>
          <a:xfrm>
            <a:off x="342900" y="6572250"/>
            <a:ext cx="2476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 i="0">
                <a:solidFill>
                  <a:srgbClr val="807A76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807A76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B3D612D4-E192-47A7-83CB-9DCC78673871}"/>
              </a:ext>
            </a:extLst>
          </p:cNvPr>
          <p:cNvSpPr>
            <a:spLocks noGrp="1"/>
          </p:cNvSpPr>
          <p:nvPr/>
        </p:nvSpPr>
        <p:spPr>
          <a:xfrm>
            <a:off x="723900" y="6572250"/>
            <a:ext cx="4381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 i="0">
                <a:solidFill>
                  <a:srgbClr val="807A76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807A76"/>
                </a:solidFill>
                <a:latin typeface="Aptos"/>
                <a:ea typeface="Aptos"/>
                <a:cs typeface="Aptos"/>
              </a:rPr>
              <a:t>Working Example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E147D95F-4663-4A69-BE79-2D7B1DD827B2}"/>
              </a:ext>
            </a:extLst>
          </p:cNvPr>
          <p:cNvSpPr>
            <a:spLocks noGrp="1"/>
          </p:cNvSpPr>
          <p:nvPr/>
        </p:nvSpPr>
        <p:spPr>
          <a:xfrm>
            <a:off x="11334750" y="6419850"/>
            <a:ext cx="419100" cy="419100"/>
          </a:xfrm>
          <a:prstGeom prst="rect">
            <a:avLst/>
          </a:prstGeom>
          <a:solidFill>
            <a:srgbClr val="C7463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Rounded Rectangle 63">
            <a:extLst>
              <a:ext uri="{FF2B5EF4-FFF2-40B4-BE49-F238E27FC236}">
                <a16:creationId xmlns:a16="http://schemas.microsoft.com/office/drawing/2014/main" id="{68FB4C32-348D-46E7-8CAB-5AE31E75788C}"/>
              </a:ext>
            </a:extLst>
          </p:cNvPr>
          <p:cNvSpPr>
            <a:spLocks noGrp="1"/>
          </p:cNvSpPr>
          <p:nvPr/>
        </p:nvSpPr>
        <p:spPr>
          <a:xfrm>
            <a:off x="11430000" y="6562725"/>
            <a:ext cx="228600" cy="114300"/>
          </a:xfrm>
          <a:prstGeom prst="roundRect">
            <a:avLst>
              <a:gd name="adj" fmla="val 50000"/>
            </a:avLst>
          </a:prstGeom>
          <a:solidFill>
            <a:srgbClr val="000000">
              <a:alpha val="0"/>
            </a:srgbClr>
          </a:solidFill>
          <a:ln w="2286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F4A6EE87-0DC7-401F-B582-7D9CBE40864A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99060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 i="0">
                <a:solidFill>
                  <a:srgbClr val="2B2B2B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 i="0">
                <a:solidFill>
                  <a:srgbClr val="2B2B2B"/>
                </a:solidFill>
                <a:latin typeface="Aptos Display"/>
                <a:ea typeface="Aptos Display"/>
                <a:cs typeface="Aptos Display"/>
              </a:rPr>
              <a:t>Real working example: completed Jira work should be verified before PR readiness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7C4E48AB-720B-4814-955E-05BAB100362C}"/>
              </a:ext>
            </a:extLst>
          </p:cNvPr>
          <p:cNvSpPr>
            <a:spLocks noGrp="1"/>
          </p:cNvSpPr>
          <p:nvPr/>
        </p:nvSpPr>
        <p:spPr>
          <a:xfrm>
            <a:off x="609600" y="1219200"/>
            <a:ext cx="99060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 i="0">
                <a:solidFill>
                  <a:srgbClr val="333333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333333"/>
                </a:solidFill>
                <a:latin typeface="Aptos"/>
                <a:ea typeface="Aptos"/>
                <a:cs typeface="Aptos"/>
              </a:rPr>
              <a:t>ODT should not blindly implement when Jira is already Done; it should validate the repository evidence and close the workflow correctly.</a:t>
            </a:r>
          </a:p>
        </p:txBody>
      </p:sp>
      <p:sp>
        <p:nvSpPr>
          <p:cNvPr id="67" name="Rounded Rectangle 66">
            <a:extLst>
              <a:ext uri="{FF2B5EF4-FFF2-40B4-BE49-F238E27FC236}">
                <a16:creationId xmlns:a16="http://schemas.microsoft.com/office/drawing/2014/main" id="{9CCDA0B1-2CFC-43B3-9151-326B7333FC6F}"/>
              </a:ext>
            </a:extLst>
          </p:cNvPr>
          <p:cNvSpPr>
            <a:spLocks noGrp="1"/>
          </p:cNvSpPr>
          <p:nvPr/>
        </p:nvSpPr>
        <p:spPr>
          <a:xfrm>
            <a:off x="590550" y="1952625"/>
            <a:ext cx="1905000" cy="1466850"/>
          </a:xfrm>
          <a:prstGeom prst="roundRect">
            <a:avLst>
              <a:gd name="adj" fmla="val 5195"/>
            </a:avLst>
          </a:prstGeom>
          <a:solidFill>
            <a:srgbClr val="FFFFFF"/>
          </a:solidFill>
          <a:ln w="11430">
            <a:solidFill>
              <a:srgbClr val="DED8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E332FA03-689D-464E-89AB-D2972AA42AA6}"/>
              </a:ext>
            </a:extLst>
          </p:cNvPr>
          <p:cNvSpPr>
            <a:spLocks noGrp="1"/>
          </p:cNvSpPr>
          <p:nvPr/>
        </p:nvSpPr>
        <p:spPr>
          <a:xfrm>
            <a:off x="590550" y="1952625"/>
            <a:ext cx="76200" cy="1466850"/>
          </a:xfrm>
          <a:prstGeom prst="rect">
            <a:avLst/>
          </a:prstGeom>
          <a:solidFill>
            <a:srgbClr val="C7463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64568721-519C-431F-9EF8-6DFA919343A4}"/>
              </a:ext>
            </a:extLst>
          </p:cNvPr>
          <p:cNvSpPr>
            <a:spLocks noGrp="1"/>
          </p:cNvSpPr>
          <p:nvPr/>
        </p:nvSpPr>
        <p:spPr>
          <a:xfrm>
            <a:off x="800100" y="2124075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 i="0">
                <a:solidFill>
                  <a:srgbClr val="C74634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C74634"/>
                </a:solidFill>
                <a:latin typeface="Aptos"/>
                <a:ea typeface="Aptos"/>
                <a:cs typeface="Aptos"/>
              </a:rPr>
              <a:t>Import Jira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48512921-64FB-448F-91E1-D5C632F8DE20}"/>
              </a:ext>
            </a:extLst>
          </p:cNvPr>
          <p:cNvSpPr>
            <a:spLocks noGrp="1"/>
          </p:cNvSpPr>
          <p:nvPr/>
        </p:nvSpPr>
        <p:spPr>
          <a:xfrm>
            <a:off x="800100" y="2428875"/>
            <a:ext cx="150495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 i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B2B2B"/>
                </a:solidFill>
                <a:latin typeface="Aptos"/>
                <a:ea typeface="Aptos"/>
                <a:cs typeface="Aptos"/>
              </a:rPr>
              <a:t>JOURNEY-style issue is read via Jira2; current state shows completed verification path.</a:t>
            </a:r>
          </a:p>
        </p:txBody>
      </p:sp>
      <p:sp>
        <p:nvSpPr>
          <p:cNvPr id="71" name="Right Arrow 70">
            <a:extLst>
              <a:ext uri="{FF2B5EF4-FFF2-40B4-BE49-F238E27FC236}">
                <a16:creationId xmlns:a16="http://schemas.microsoft.com/office/drawing/2014/main" id="{9CCA6A86-0EC6-459D-A40D-3D3E887CD0FF}"/>
              </a:ext>
            </a:extLst>
          </p:cNvPr>
          <p:cNvSpPr>
            <a:spLocks noGrp="1"/>
          </p:cNvSpPr>
          <p:nvPr/>
        </p:nvSpPr>
        <p:spPr>
          <a:xfrm>
            <a:off x="2533650" y="2552700"/>
            <a:ext cx="266700" cy="152400"/>
          </a:xfrm>
          <a:prstGeom prst="rightArrow">
            <a:avLst/>
          </a:prstGeom>
          <a:solidFill>
            <a:srgbClr val="C74634"/>
          </a:solidFill>
          <a:ln w="9525">
            <a:solidFill>
              <a:srgbClr val="C746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Rounded Rectangle 71">
            <a:extLst>
              <a:ext uri="{FF2B5EF4-FFF2-40B4-BE49-F238E27FC236}">
                <a16:creationId xmlns:a16="http://schemas.microsoft.com/office/drawing/2014/main" id="{7EAC9FCF-C40B-4D26-A2FA-78EE2026DF0B}"/>
              </a:ext>
            </a:extLst>
          </p:cNvPr>
          <p:cNvSpPr>
            <a:spLocks noGrp="1"/>
          </p:cNvSpPr>
          <p:nvPr/>
        </p:nvSpPr>
        <p:spPr>
          <a:xfrm>
            <a:off x="2838450" y="1952625"/>
            <a:ext cx="1905000" cy="1466850"/>
          </a:xfrm>
          <a:prstGeom prst="roundRect">
            <a:avLst>
              <a:gd name="adj" fmla="val 5195"/>
            </a:avLst>
          </a:prstGeom>
          <a:solidFill>
            <a:srgbClr val="FFFFFF"/>
          </a:solidFill>
          <a:ln w="11430">
            <a:solidFill>
              <a:srgbClr val="DED8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9332DF3A-FF52-4884-8268-B6C9E9C53ED8}"/>
              </a:ext>
            </a:extLst>
          </p:cNvPr>
          <p:cNvSpPr>
            <a:spLocks noGrp="1"/>
          </p:cNvSpPr>
          <p:nvPr/>
        </p:nvSpPr>
        <p:spPr>
          <a:xfrm>
            <a:off x="2838450" y="1952625"/>
            <a:ext cx="76200" cy="1466850"/>
          </a:xfrm>
          <a:prstGeom prst="rect">
            <a:avLst/>
          </a:prstGeom>
          <a:solidFill>
            <a:srgbClr val="2E5F8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DA43E774-51D7-4F4A-9E75-B124501CD1C9}"/>
              </a:ext>
            </a:extLst>
          </p:cNvPr>
          <p:cNvSpPr>
            <a:spLocks noGrp="1"/>
          </p:cNvSpPr>
          <p:nvPr/>
        </p:nvSpPr>
        <p:spPr>
          <a:xfrm>
            <a:off x="3048000" y="2124075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 i="0">
                <a:solidFill>
                  <a:srgbClr val="2E5F8A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2E5F8A"/>
                </a:solidFill>
                <a:latin typeface="Aptos"/>
                <a:ea typeface="Aptos"/>
                <a:cs typeface="Aptos"/>
              </a:rPr>
              <a:t>Analyze repo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FD252A21-6F23-435C-96AF-2459B9DFC97F}"/>
              </a:ext>
            </a:extLst>
          </p:cNvPr>
          <p:cNvSpPr>
            <a:spLocks noGrp="1"/>
          </p:cNvSpPr>
          <p:nvPr/>
        </p:nvSpPr>
        <p:spPr>
          <a:xfrm>
            <a:off x="3048000" y="2428875"/>
            <a:ext cx="150495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 i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B2B2B"/>
                </a:solidFill>
                <a:latin typeface="Aptos"/>
                <a:ea typeface="Aptos"/>
                <a:cs typeface="Aptos"/>
              </a:rPr>
              <a:t>ODT finds matching commits and repository evidence without writing files.</a:t>
            </a:r>
          </a:p>
        </p:txBody>
      </p:sp>
      <p:sp>
        <p:nvSpPr>
          <p:cNvPr id="76" name="Right Arrow 75">
            <a:extLst>
              <a:ext uri="{FF2B5EF4-FFF2-40B4-BE49-F238E27FC236}">
                <a16:creationId xmlns:a16="http://schemas.microsoft.com/office/drawing/2014/main" id="{5B6BD54B-D118-484A-B989-46F52C730943}"/>
              </a:ext>
            </a:extLst>
          </p:cNvPr>
          <p:cNvSpPr>
            <a:spLocks noGrp="1"/>
          </p:cNvSpPr>
          <p:nvPr/>
        </p:nvSpPr>
        <p:spPr>
          <a:xfrm>
            <a:off x="4781550" y="2552700"/>
            <a:ext cx="266700" cy="152400"/>
          </a:xfrm>
          <a:prstGeom prst="rightArrow">
            <a:avLst/>
          </a:prstGeom>
          <a:solidFill>
            <a:srgbClr val="C74634"/>
          </a:solidFill>
          <a:ln w="9525">
            <a:solidFill>
              <a:srgbClr val="C746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Rounded Rectangle 76">
            <a:extLst>
              <a:ext uri="{FF2B5EF4-FFF2-40B4-BE49-F238E27FC236}">
                <a16:creationId xmlns:a16="http://schemas.microsoft.com/office/drawing/2014/main" id="{7913FDDF-9C83-4C3A-837E-AB4970EBB370}"/>
              </a:ext>
            </a:extLst>
          </p:cNvPr>
          <p:cNvSpPr>
            <a:spLocks noGrp="1"/>
          </p:cNvSpPr>
          <p:nvPr/>
        </p:nvSpPr>
        <p:spPr>
          <a:xfrm>
            <a:off x="5086350" y="1952625"/>
            <a:ext cx="1905000" cy="1466850"/>
          </a:xfrm>
          <a:prstGeom prst="roundRect">
            <a:avLst>
              <a:gd name="adj" fmla="val 5195"/>
            </a:avLst>
          </a:prstGeom>
          <a:solidFill>
            <a:srgbClr val="FFFFFF"/>
          </a:solidFill>
          <a:ln w="11430">
            <a:solidFill>
              <a:srgbClr val="DED8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3F648E6F-3724-4E70-9F31-BADE5F91DB4F}"/>
              </a:ext>
            </a:extLst>
          </p:cNvPr>
          <p:cNvSpPr>
            <a:spLocks noGrp="1"/>
          </p:cNvSpPr>
          <p:nvPr/>
        </p:nvSpPr>
        <p:spPr>
          <a:xfrm>
            <a:off x="5086350" y="1952625"/>
            <a:ext cx="76200" cy="1466850"/>
          </a:xfrm>
          <a:prstGeom prst="rect">
            <a:avLst/>
          </a:prstGeom>
          <a:solidFill>
            <a:srgbClr val="D99B2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12262EF1-EC9E-4E34-B888-3670A20346D0}"/>
              </a:ext>
            </a:extLst>
          </p:cNvPr>
          <p:cNvSpPr>
            <a:spLocks noGrp="1"/>
          </p:cNvSpPr>
          <p:nvPr/>
        </p:nvSpPr>
        <p:spPr>
          <a:xfrm>
            <a:off x="5295900" y="2124075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 i="0">
                <a:solidFill>
                  <a:srgbClr val="D99B2B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D99B2B"/>
                </a:solidFill>
                <a:latin typeface="Aptos"/>
                <a:ea typeface="Aptos"/>
                <a:cs typeface="Aptos"/>
              </a:rPr>
              <a:t>Launch Reviewer</a:t>
            </a: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116B0150-27E4-4E7A-8AFB-1AAFFB2D745E}"/>
              </a:ext>
            </a:extLst>
          </p:cNvPr>
          <p:cNvSpPr>
            <a:spLocks noGrp="1"/>
          </p:cNvSpPr>
          <p:nvPr/>
        </p:nvSpPr>
        <p:spPr>
          <a:xfrm>
            <a:off x="5295900" y="2428875"/>
            <a:ext cx="150495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 i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B2B2B"/>
                </a:solidFill>
                <a:latin typeface="Aptos"/>
                <a:ea typeface="Aptos"/>
                <a:cs typeface="Aptos"/>
              </a:rPr>
              <a:t>Reviewer checks gaps, standards impact, tests, and missing information.</a:t>
            </a:r>
          </a:p>
        </p:txBody>
      </p:sp>
      <p:sp>
        <p:nvSpPr>
          <p:cNvPr id="81" name="Right Arrow 80">
            <a:extLst>
              <a:ext uri="{FF2B5EF4-FFF2-40B4-BE49-F238E27FC236}">
                <a16:creationId xmlns:a16="http://schemas.microsoft.com/office/drawing/2014/main" id="{B353C52F-F03D-4913-B4D4-32EA5851090D}"/>
              </a:ext>
            </a:extLst>
          </p:cNvPr>
          <p:cNvSpPr>
            <a:spLocks noGrp="1"/>
          </p:cNvSpPr>
          <p:nvPr/>
        </p:nvSpPr>
        <p:spPr>
          <a:xfrm>
            <a:off x="7029450" y="2552700"/>
            <a:ext cx="266700" cy="152400"/>
          </a:xfrm>
          <a:prstGeom prst="rightArrow">
            <a:avLst/>
          </a:prstGeom>
          <a:solidFill>
            <a:srgbClr val="C74634"/>
          </a:solidFill>
          <a:ln w="9525">
            <a:solidFill>
              <a:srgbClr val="C746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Rounded Rectangle 81">
            <a:extLst>
              <a:ext uri="{FF2B5EF4-FFF2-40B4-BE49-F238E27FC236}">
                <a16:creationId xmlns:a16="http://schemas.microsoft.com/office/drawing/2014/main" id="{2CFA3AB0-0C4E-49A0-8198-2CC4F5F0FEA7}"/>
              </a:ext>
            </a:extLst>
          </p:cNvPr>
          <p:cNvSpPr>
            <a:spLocks noGrp="1"/>
          </p:cNvSpPr>
          <p:nvPr/>
        </p:nvSpPr>
        <p:spPr>
          <a:xfrm>
            <a:off x="7334250" y="1952625"/>
            <a:ext cx="1905000" cy="1466850"/>
          </a:xfrm>
          <a:prstGeom prst="roundRect">
            <a:avLst>
              <a:gd name="adj" fmla="val 5195"/>
            </a:avLst>
          </a:prstGeom>
          <a:solidFill>
            <a:srgbClr val="FFFFFF"/>
          </a:solidFill>
          <a:ln w="11430">
            <a:solidFill>
              <a:srgbClr val="DED8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B2AE61E2-B2B4-48EB-B78D-F60473B3B39E}"/>
              </a:ext>
            </a:extLst>
          </p:cNvPr>
          <p:cNvSpPr>
            <a:spLocks noGrp="1"/>
          </p:cNvSpPr>
          <p:nvPr/>
        </p:nvSpPr>
        <p:spPr>
          <a:xfrm>
            <a:off x="7334250" y="1952625"/>
            <a:ext cx="76200" cy="1466850"/>
          </a:xfrm>
          <a:prstGeom prst="rect">
            <a:avLst/>
          </a:prstGeom>
          <a:solidFill>
            <a:srgbClr val="2F7D4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07ACD0B6-BEBC-46F4-8687-09FA46E6B067}"/>
              </a:ext>
            </a:extLst>
          </p:cNvPr>
          <p:cNvSpPr>
            <a:spLocks noGrp="1"/>
          </p:cNvSpPr>
          <p:nvPr/>
        </p:nvSpPr>
        <p:spPr>
          <a:xfrm>
            <a:off x="7543800" y="2124075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 i="0">
                <a:solidFill>
                  <a:srgbClr val="2F7D4B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2F7D4B"/>
                </a:solidFill>
                <a:latin typeface="Aptos"/>
                <a:ea typeface="Aptos"/>
                <a:cs typeface="Aptos"/>
              </a:rPr>
              <a:t>Build Verify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290E9FD4-C9D3-4E4C-B1A0-0E67E58BB713}"/>
              </a:ext>
            </a:extLst>
          </p:cNvPr>
          <p:cNvSpPr>
            <a:spLocks noGrp="1"/>
          </p:cNvSpPr>
          <p:nvPr/>
        </p:nvSpPr>
        <p:spPr>
          <a:xfrm>
            <a:off x="7543800" y="2428875"/>
            <a:ext cx="150495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 i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B2B2B"/>
                </a:solidFill>
                <a:latin typeface="Aptos"/>
                <a:ea typeface="Aptos"/>
                <a:cs typeface="Aptos"/>
              </a:rPr>
              <a:t>Approved validation path captures test/build evidence.</a:t>
            </a:r>
          </a:p>
        </p:txBody>
      </p:sp>
      <p:sp>
        <p:nvSpPr>
          <p:cNvPr id="86" name="Right Arrow 85">
            <a:extLst>
              <a:ext uri="{FF2B5EF4-FFF2-40B4-BE49-F238E27FC236}">
                <a16:creationId xmlns:a16="http://schemas.microsoft.com/office/drawing/2014/main" id="{FFEA017B-B560-48F6-971B-98C09B58E757}"/>
              </a:ext>
            </a:extLst>
          </p:cNvPr>
          <p:cNvSpPr>
            <a:spLocks noGrp="1"/>
          </p:cNvSpPr>
          <p:nvPr/>
        </p:nvSpPr>
        <p:spPr>
          <a:xfrm>
            <a:off x="9277350" y="2552700"/>
            <a:ext cx="266700" cy="152400"/>
          </a:xfrm>
          <a:prstGeom prst="rightArrow">
            <a:avLst/>
          </a:prstGeom>
          <a:solidFill>
            <a:srgbClr val="C74634"/>
          </a:solidFill>
          <a:ln w="9525">
            <a:solidFill>
              <a:srgbClr val="C746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7" name="Rounded Rectangle 86">
            <a:extLst>
              <a:ext uri="{FF2B5EF4-FFF2-40B4-BE49-F238E27FC236}">
                <a16:creationId xmlns:a16="http://schemas.microsoft.com/office/drawing/2014/main" id="{CD3ACA1D-B5C3-42DA-BA74-86FC2D0DAB39}"/>
              </a:ext>
            </a:extLst>
          </p:cNvPr>
          <p:cNvSpPr>
            <a:spLocks noGrp="1"/>
          </p:cNvSpPr>
          <p:nvPr/>
        </p:nvSpPr>
        <p:spPr>
          <a:xfrm>
            <a:off x="9582150" y="1952625"/>
            <a:ext cx="1905000" cy="1466850"/>
          </a:xfrm>
          <a:prstGeom prst="roundRect">
            <a:avLst>
              <a:gd name="adj" fmla="val 5195"/>
            </a:avLst>
          </a:prstGeom>
          <a:solidFill>
            <a:srgbClr val="FFFFFF"/>
          </a:solidFill>
          <a:ln w="11430">
            <a:solidFill>
              <a:srgbClr val="DED8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A6529327-6062-42E3-9EED-5C56F743F7E8}"/>
              </a:ext>
            </a:extLst>
          </p:cNvPr>
          <p:cNvSpPr>
            <a:spLocks noGrp="1"/>
          </p:cNvSpPr>
          <p:nvPr/>
        </p:nvSpPr>
        <p:spPr>
          <a:xfrm>
            <a:off x="9582150" y="1952625"/>
            <a:ext cx="76200" cy="1466850"/>
          </a:xfrm>
          <a:prstGeom prst="rect">
            <a:avLst/>
          </a:prstGeom>
          <a:solidFill>
            <a:srgbClr val="7A5AC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4F4D8093-A703-4DF1-855D-1DF849F98955}"/>
              </a:ext>
            </a:extLst>
          </p:cNvPr>
          <p:cNvSpPr>
            <a:spLocks noGrp="1"/>
          </p:cNvSpPr>
          <p:nvPr/>
        </p:nvSpPr>
        <p:spPr>
          <a:xfrm>
            <a:off x="9791700" y="2124075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 i="0">
                <a:solidFill>
                  <a:srgbClr val="7A5AC8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7A5AC8"/>
                </a:solidFill>
                <a:latin typeface="Aptos"/>
                <a:ea typeface="Aptos"/>
                <a:cs typeface="Aptos"/>
              </a:rPr>
              <a:t>PR Ready</a:t>
            </a: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A3ED8D07-E099-411F-8FAF-A7B0EED4C6BC}"/>
              </a:ext>
            </a:extLst>
          </p:cNvPr>
          <p:cNvSpPr>
            <a:spLocks noGrp="1"/>
          </p:cNvSpPr>
          <p:nvPr/>
        </p:nvSpPr>
        <p:spPr>
          <a:xfrm>
            <a:off x="9791700" y="2428875"/>
            <a:ext cx="150495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 i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B2B2B"/>
                </a:solidFill>
                <a:latin typeface="Aptos"/>
                <a:ea typeface="Aptos"/>
                <a:cs typeface="Aptos"/>
              </a:rPr>
              <a:t>ODT packages only evidence-backed readiness, not stale history.</a:t>
            </a:r>
          </a:p>
        </p:txBody>
      </p:sp>
      <p:sp>
        <p:nvSpPr>
          <p:cNvPr id="91" name="Rounded Rectangle 90">
            <a:extLst>
              <a:ext uri="{FF2B5EF4-FFF2-40B4-BE49-F238E27FC236}">
                <a16:creationId xmlns:a16="http://schemas.microsoft.com/office/drawing/2014/main" id="{1641B429-35C9-414B-BAF7-206CCDBE18B3}"/>
              </a:ext>
            </a:extLst>
          </p:cNvPr>
          <p:cNvSpPr>
            <a:spLocks noGrp="1"/>
          </p:cNvSpPr>
          <p:nvPr/>
        </p:nvSpPr>
        <p:spPr>
          <a:xfrm>
            <a:off x="1066800" y="4114800"/>
            <a:ext cx="9620250" cy="876300"/>
          </a:xfrm>
          <a:prstGeom prst="roundRect">
            <a:avLst>
              <a:gd name="adj" fmla="val 8696"/>
            </a:avLst>
          </a:prstGeom>
          <a:solidFill>
            <a:srgbClr val="FFFDFC"/>
          </a:solidFill>
          <a:ln w="11430">
            <a:solidFill>
              <a:srgbClr val="DED8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5972D286-CFD7-4A4B-BC9D-6A6F45237134}"/>
              </a:ext>
            </a:extLst>
          </p:cNvPr>
          <p:cNvSpPr>
            <a:spLocks noGrp="1"/>
          </p:cNvSpPr>
          <p:nvPr/>
        </p:nvSpPr>
        <p:spPr>
          <a:xfrm>
            <a:off x="1352550" y="4324350"/>
            <a:ext cx="13906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 i="0">
                <a:solidFill>
                  <a:srgbClr val="8C1D18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8C1D18"/>
                </a:solidFill>
                <a:latin typeface="Aptos"/>
                <a:ea typeface="Aptos"/>
                <a:cs typeface="Aptos"/>
              </a:rPr>
              <a:t>Behavior rule</a:t>
            </a: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B51748D1-84FC-488A-BB93-5C8451A051A3}"/>
              </a:ext>
            </a:extLst>
          </p:cNvPr>
          <p:cNvSpPr>
            <a:spLocks noGrp="1"/>
          </p:cNvSpPr>
          <p:nvPr/>
        </p:nvSpPr>
        <p:spPr>
          <a:xfrm>
            <a:off x="2857500" y="4267200"/>
            <a:ext cx="72390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0" i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575" b="0" i="0">
                <a:solidFill>
                  <a:srgbClr val="2B2B2B"/>
                </a:solidFill>
                <a:latin typeface="Aptos"/>
                <a:ea typeface="Aptos"/>
                <a:cs typeface="Aptos"/>
              </a:rPr>
              <a:t>A launched worker is not evidence. Current workflow readiness must depend on reviewable worker output, current evidence, accepted risk, and build/test proof.</a:t>
            </a: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7F2A327D-FEBD-4E61-A867-6E1BEC3DD006}"/>
              </a:ext>
            </a:extLst>
          </p:cNvPr>
          <p:cNvSpPr>
            <a:spLocks noGrp="1"/>
          </p:cNvSpPr>
          <p:nvPr/>
        </p:nvSpPr>
        <p:spPr>
          <a:xfrm>
            <a:off x="1066800" y="5562600"/>
            <a:ext cx="9620250" cy="438150"/>
          </a:xfrm>
          <a:prstGeom prst="rect">
            <a:avLst/>
          </a:prstGeom>
          <a:solidFill>
            <a:srgbClr val="FFF4D6"/>
          </a:solidFill>
          <a:ln w="9525">
            <a:solidFill>
              <a:srgbClr val="E9C8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0A7635C1-E66E-459F-B3E1-CC0311CC5078}"/>
              </a:ext>
            </a:extLst>
          </p:cNvPr>
          <p:cNvSpPr>
            <a:spLocks noGrp="1"/>
          </p:cNvSpPr>
          <p:nvPr/>
        </p:nvSpPr>
        <p:spPr>
          <a:xfrm>
            <a:off x="1238250" y="5657850"/>
            <a:ext cx="92773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650" b="0" i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650" b="0" i="0">
                <a:solidFill>
                  <a:srgbClr val="2B2B2B"/>
                </a:solidFill>
                <a:latin typeface="Aptos"/>
                <a:ea typeface="Aptos"/>
                <a:cs typeface="Aptos"/>
              </a:rPr>
              <a:t>This is the kind of product behavior that makes ODT feel like a real-time developer workbench.</a:t>
            </a:r>
          </a:p>
        </p:txBody>
      </p:sp>
    </p:spTree>
    <p:extLst>
      <p:ext uri="{BB962C8B-B14F-4D97-AF65-F5344CB8AC3E}">
        <p14:creationId xmlns:p14="http://schemas.microsoft.com/office/powerpoint/2010/main" val="14193169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Rectangle 82">
            <a:extLst>
              <a:ext uri="{FF2B5EF4-FFF2-40B4-BE49-F238E27FC236}">
                <a16:creationId xmlns:a16="http://schemas.microsoft.com/office/drawing/2014/main" id="{AA1A40F2-8291-4F71-9016-BA83AC3EE7B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1F746A20-80B2-4972-AC24-012ECCDDCDB4}"/>
              </a:ext>
            </a:extLst>
          </p:cNvPr>
          <p:cNvSpPr>
            <a:spLocks noGrp="1"/>
          </p:cNvSpPr>
          <p:nvPr/>
        </p:nvSpPr>
        <p:spPr>
          <a:xfrm>
            <a:off x="6858000" y="323850"/>
            <a:ext cx="1714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480F95FD-7830-4A00-B17E-9EEEFC562AF6}"/>
              </a:ext>
            </a:extLst>
          </p:cNvPr>
          <p:cNvSpPr>
            <a:spLocks noGrp="1"/>
          </p:cNvSpPr>
          <p:nvPr/>
        </p:nvSpPr>
        <p:spPr>
          <a:xfrm>
            <a:off x="7105650" y="361950"/>
            <a:ext cx="26670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C0FC66D4-B0BC-4DC7-A863-6D112C47E8AA}"/>
              </a:ext>
            </a:extLst>
          </p:cNvPr>
          <p:cNvSpPr>
            <a:spLocks noGrp="1"/>
          </p:cNvSpPr>
          <p:nvPr/>
        </p:nvSpPr>
        <p:spPr>
          <a:xfrm>
            <a:off x="7353300" y="400050"/>
            <a:ext cx="3619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2321419E-BC15-45AD-9561-C18FE56BA12A}"/>
              </a:ext>
            </a:extLst>
          </p:cNvPr>
          <p:cNvSpPr>
            <a:spLocks noGrp="1"/>
          </p:cNvSpPr>
          <p:nvPr/>
        </p:nvSpPr>
        <p:spPr>
          <a:xfrm>
            <a:off x="7600950" y="323850"/>
            <a:ext cx="45720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9D1F3AC8-96C6-496C-8517-C86BE54F4033}"/>
              </a:ext>
            </a:extLst>
          </p:cNvPr>
          <p:cNvSpPr>
            <a:spLocks noGrp="1"/>
          </p:cNvSpPr>
          <p:nvPr/>
        </p:nvSpPr>
        <p:spPr>
          <a:xfrm>
            <a:off x="7848600" y="361950"/>
            <a:ext cx="5524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923B30E1-64D9-41BA-AC9E-A41FD1220B1D}"/>
              </a:ext>
            </a:extLst>
          </p:cNvPr>
          <p:cNvSpPr>
            <a:spLocks noGrp="1"/>
          </p:cNvSpPr>
          <p:nvPr/>
        </p:nvSpPr>
        <p:spPr>
          <a:xfrm>
            <a:off x="8096250" y="400050"/>
            <a:ext cx="1714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EBBF1852-E1A6-453E-88D3-A277300302C5}"/>
              </a:ext>
            </a:extLst>
          </p:cNvPr>
          <p:cNvSpPr>
            <a:spLocks noGrp="1"/>
          </p:cNvSpPr>
          <p:nvPr/>
        </p:nvSpPr>
        <p:spPr>
          <a:xfrm>
            <a:off x="8343900" y="323850"/>
            <a:ext cx="26670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57BEC758-EBD4-4883-A16C-782EBEE62849}"/>
              </a:ext>
            </a:extLst>
          </p:cNvPr>
          <p:cNvSpPr>
            <a:spLocks noGrp="1"/>
          </p:cNvSpPr>
          <p:nvPr/>
        </p:nvSpPr>
        <p:spPr>
          <a:xfrm>
            <a:off x="8591550" y="361950"/>
            <a:ext cx="3619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7DDB93BA-2629-4A5C-BA52-7F13546EA8F2}"/>
              </a:ext>
            </a:extLst>
          </p:cNvPr>
          <p:cNvSpPr>
            <a:spLocks noGrp="1"/>
          </p:cNvSpPr>
          <p:nvPr/>
        </p:nvSpPr>
        <p:spPr>
          <a:xfrm>
            <a:off x="8839200" y="400050"/>
            <a:ext cx="45720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DC6F2FF7-DB39-49C6-8821-D327183F688F}"/>
              </a:ext>
            </a:extLst>
          </p:cNvPr>
          <p:cNvSpPr>
            <a:spLocks noGrp="1"/>
          </p:cNvSpPr>
          <p:nvPr/>
        </p:nvSpPr>
        <p:spPr>
          <a:xfrm>
            <a:off x="9086850" y="323850"/>
            <a:ext cx="5524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27369D27-0A9E-4B18-9279-8A880EC3C99C}"/>
              </a:ext>
            </a:extLst>
          </p:cNvPr>
          <p:cNvSpPr>
            <a:spLocks noGrp="1"/>
          </p:cNvSpPr>
          <p:nvPr/>
        </p:nvSpPr>
        <p:spPr>
          <a:xfrm>
            <a:off x="9334500" y="361950"/>
            <a:ext cx="1714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436483B6-5A92-4755-AE2D-25C591FEB9E2}"/>
              </a:ext>
            </a:extLst>
          </p:cNvPr>
          <p:cNvSpPr>
            <a:spLocks noGrp="1"/>
          </p:cNvSpPr>
          <p:nvPr/>
        </p:nvSpPr>
        <p:spPr>
          <a:xfrm>
            <a:off x="9582150" y="400050"/>
            <a:ext cx="26670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7D50D3A8-153B-4DE4-9F30-3BFCA3416191}"/>
              </a:ext>
            </a:extLst>
          </p:cNvPr>
          <p:cNvSpPr>
            <a:spLocks noGrp="1"/>
          </p:cNvSpPr>
          <p:nvPr/>
        </p:nvSpPr>
        <p:spPr>
          <a:xfrm>
            <a:off x="9829800" y="323850"/>
            <a:ext cx="3619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D3085190-0E11-4ACE-8AD2-DA1EEBB7CB82}"/>
              </a:ext>
            </a:extLst>
          </p:cNvPr>
          <p:cNvSpPr>
            <a:spLocks noGrp="1"/>
          </p:cNvSpPr>
          <p:nvPr/>
        </p:nvSpPr>
        <p:spPr>
          <a:xfrm>
            <a:off x="10077450" y="361950"/>
            <a:ext cx="45720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A15AAA45-DCCA-48B3-BC1B-1EBD79FC3D2D}"/>
              </a:ext>
            </a:extLst>
          </p:cNvPr>
          <p:cNvSpPr>
            <a:spLocks noGrp="1"/>
          </p:cNvSpPr>
          <p:nvPr/>
        </p:nvSpPr>
        <p:spPr>
          <a:xfrm>
            <a:off x="10325100" y="400050"/>
            <a:ext cx="5524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47F7E2FB-AADC-4AE8-9B8F-FF23484CC328}"/>
              </a:ext>
            </a:extLst>
          </p:cNvPr>
          <p:cNvSpPr>
            <a:spLocks noGrp="1"/>
          </p:cNvSpPr>
          <p:nvPr/>
        </p:nvSpPr>
        <p:spPr>
          <a:xfrm>
            <a:off x="10572750" y="323850"/>
            <a:ext cx="1714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1D43CFC1-4F07-4D04-AA2D-1D51F34E702D}"/>
              </a:ext>
            </a:extLst>
          </p:cNvPr>
          <p:cNvSpPr>
            <a:spLocks noGrp="1"/>
          </p:cNvSpPr>
          <p:nvPr/>
        </p:nvSpPr>
        <p:spPr>
          <a:xfrm>
            <a:off x="6972300" y="552450"/>
            <a:ext cx="26670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3842E5A0-212D-4D00-A2F7-BD5E492B619C}"/>
              </a:ext>
            </a:extLst>
          </p:cNvPr>
          <p:cNvSpPr>
            <a:spLocks noGrp="1"/>
          </p:cNvSpPr>
          <p:nvPr/>
        </p:nvSpPr>
        <p:spPr>
          <a:xfrm>
            <a:off x="7219950" y="590550"/>
            <a:ext cx="3619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2B0F391E-CEEE-4336-8807-F8F4276D7C4F}"/>
              </a:ext>
            </a:extLst>
          </p:cNvPr>
          <p:cNvSpPr>
            <a:spLocks noGrp="1"/>
          </p:cNvSpPr>
          <p:nvPr/>
        </p:nvSpPr>
        <p:spPr>
          <a:xfrm>
            <a:off x="7467600" y="628650"/>
            <a:ext cx="45720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BFC3F9C9-F8B2-48B5-8949-687749AE59F1}"/>
              </a:ext>
            </a:extLst>
          </p:cNvPr>
          <p:cNvSpPr>
            <a:spLocks noGrp="1"/>
          </p:cNvSpPr>
          <p:nvPr/>
        </p:nvSpPr>
        <p:spPr>
          <a:xfrm>
            <a:off x="7715250" y="552450"/>
            <a:ext cx="5524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2415BA38-B27A-4B40-BA56-C3229CCF5DFB}"/>
              </a:ext>
            </a:extLst>
          </p:cNvPr>
          <p:cNvSpPr>
            <a:spLocks noGrp="1"/>
          </p:cNvSpPr>
          <p:nvPr/>
        </p:nvSpPr>
        <p:spPr>
          <a:xfrm>
            <a:off x="7962900" y="590550"/>
            <a:ext cx="1714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65976995-60CF-4271-A55C-018D0D9956D6}"/>
              </a:ext>
            </a:extLst>
          </p:cNvPr>
          <p:cNvSpPr>
            <a:spLocks noGrp="1"/>
          </p:cNvSpPr>
          <p:nvPr/>
        </p:nvSpPr>
        <p:spPr>
          <a:xfrm>
            <a:off x="8210550" y="628650"/>
            <a:ext cx="26670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07441232-89FE-408D-85FF-D2D54316F93F}"/>
              </a:ext>
            </a:extLst>
          </p:cNvPr>
          <p:cNvSpPr>
            <a:spLocks noGrp="1"/>
          </p:cNvSpPr>
          <p:nvPr/>
        </p:nvSpPr>
        <p:spPr>
          <a:xfrm>
            <a:off x="8458200" y="552450"/>
            <a:ext cx="3619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4C84045B-E948-4548-848D-DCA7228795EC}"/>
              </a:ext>
            </a:extLst>
          </p:cNvPr>
          <p:cNvSpPr>
            <a:spLocks noGrp="1"/>
          </p:cNvSpPr>
          <p:nvPr/>
        </p:nvSpPr>
        <p:spPr>
          <a:xfrm>
            <a:off x="8705850" y="590550"/>
            <a:ext cx="45720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A07050E3-A445-4B1D-960F-CD6209687B92}"/>
              </a:ext>
            </a:extLst>
          </p:cNvPr>
          <p:cNvSpPr>
            <a:spLocks noGrp="1"/>
          </p:cNvSpPr>
          <p:nvPr/>
        </p:nvSpPr>
        <p:spPr>
          <a:xfrm>
            <a:off x="8953500" y="628650"/>
            <a:ext cx="5524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48582E30-BD2A-403E-8EFD-DE95C12D9939}"/>
              </a:ext>
            </a:extLst>
          </p:cNvPr>
          <p:cNvSpPr>
            <a:spLocks noGrp="1"/>
          </p:cNvSpPr>
          <p:nvPr/>
        </p:nvSpPr>
        <p:spPr>
          <a:xfrm>
            <a:off x="9201150" y="552450"/>
            <a:ext cx="1714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740A04D8-D6ED-4A3F-8D0C-9B46167AC143}"/>
              </a:ext>
            </a:extLst>
          </p:cNvPr>
          <p:cNvSpPr>
            <a:spLocks noGrp="1"/>
          </p:cNvSpPr>
          <p:nvPr/>
        </p:nvSpPr>
        <p:spPr>
          <a:xfrm>
            <a:off x="9448800" y="590550"/>
            <a:ext cx="26670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280CC511-A221-454A-9973-75AA332ABDFE}"/>
              </a:ext>
            </a:extLst>
          </p:cNvPr>
          <p:cNvSpPr>
            <a:spLocks noGrp="1"/>
          </p:cNvSpPr>
          <p:nvPr/>
        </p:nvSpPr>
        <p:spPr>
          <a:xfrm>
            <a:off x="9696450" y="628650"/>
            <a:ext cx="3619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E9E3D43A-364E-43BC-9480-3AF850C41864}"/>
              </a:ext>
            </a:extLst>
          </p:cNvPr>
          <p:cNvSpPr>
            <a:spLocks noGrp="1"/>
          </p:cNvSpPr>
          <p:nvPr/>
        </p:nvSpPr>
        <p:spPr>
          <a:xfrm>
            <a:off x="9944100" y="552450"/>
            <a:ext cx="45720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F9D879B1-3AC1-42D0-A868-2D875E89E19D}"/>
              </a:ext>
            </a:extLst>
          </p:cNvPr>
          <p:cNvSpPr>
            <a:spLocks noGrp="1"/>
          </p:cNvSpPr>
          <p:nvPr/>
        </p:nvSpPr>
        <p:spPr>
          <a:xfrm>
            <a:off x="10191750" y="590550"/>
            <a:ext cx="5524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50661694-22F7-44AF-AB53-C3CE90B7F0E4}"/>
              </a:ext>
            </a:extLst>
          </p:cNvPr>
          <p:cNvSpPr>
            <a:spLocks noGrp="1"/>
          </p:cNvSpPr>
          <p:nvPr/>
        </p:nvSpPr>
        <p:spPr>
          <a:xfrm>
            <a:off x="10439400" y="628650"/>
            <a:ext cx="1714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EC677E46-E6E5-485A-A7DB-675CA0682DAD}"/>
              </a:ext>
            </a:extLst>
          </p:cNvPr>
          <p:cNvSpPr>
            <a:spLocks noGrp="1"/>
          </p:cNvSpPr>
          <p:nvPr/>
        </p:nvSpPr>
        <p:spPr>
          <a:xfrm>
            <a:off x="10687050" y="552450"/>
            <a:ext cx="26670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7AD4D376-2001-46BB-8263-8F3B8291719A}"/>
              </a:ext>
            </a:extLst>
          </p:cNvPr>
          <p:cNvSpPr>
            <a:spLocks noGrp="1"/>
          </p:cNvSpPr>
          <p:nvPr/>
        </p:nvSpPr>
        <p:spPr>
          <a:xfrm>
            <a:off x="6858000" y="781050"/>
            <a:ext cx="3619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08948F31-4C73-41AD-B79B-975A73E51951}"/>
              </a:ext>
            </a:extLst>
          </p:cNvPr>
          <p:cNvSpPr>
            <a:spLocks noGrp="1"/>
          </p:cNvSpPr>
          <p:nvPr/>
        </p:nvSpPr>
        <p:spPr>
          <a:xfrm>
            <a:off x="7105650" y="819150"/>
            <a:ext cx="45720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5289FD53-A2CF-48E6-9662-93FB62584DB4}"/>
              </a:ext>
            </a:extLst>
          </p:cNvPr>
          <p:cNvSpPr>
            <a:spLocks noGrp="1"/>
          </p:cNvSpPr>
          <p:nvPr/>
        </p:nvSpPr>
        <p:spPr>
          <a:xfrm>
            <a:off x="7353300" y="857250"/>
            <a:ext cx="5524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F79B90F9-7FBA-4B9A-B1BE-C672055363AD}"/>
              </a:ext>
            </a:extLst>
          </p:cNvPr>
          <p:cNvSpPr>
            <a:spLocks noGrp="1"/>
          </p:cNvSpPr>
          <p:nvPr/>
        </p:nvSpPr>
        <p:spPr>
          <a:xfrm>
            <a:off x="7600950" y="781050"/>
            <a:ext cx="1714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DB97B2AE-DD2D-4845-A256-CF7F1A6025C8}"/>
              </a:ext>
            </a:extLst>
          </p:cNvPr>
          <p:cNvSpPr>
            <a:spLocks noGrp="1"/>
          </p:cNvSpPr>
          <p:nvPr/>
        </p:nvSpPr>
        <p:spPr>
          <a:xfrm>
            <a:off x="7848600" y="819150"/>
            <a:ext cx="26670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034EC005-3499-491D-A7BF-EBA3671C03C3}"/>
              </a:ext>
            </a:extLst>
          </p:cNvPr>
          <p:cNvSpPr>
            <a:spLocks noGrp="1"/>
          </p:cNvSpPr>
          <p:nvPr/>
        </p:nvSpPr>
        <p:spPr>
          <a:xfrm>
            <a:off x="8096250" y="857250"/>
            <a:ext cx="3619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62B3D613-AC4A-41E8-9445-4BF4391E2C13}"/>
              </a:ext>
            </a:extLst>
          </p:cNvPr>
          <p:cNvSpPr>
            <a:spLocks noGrp="1"/>
          </p:cNvSpPr>
          <p:nvPr/>
        </p:nvSpPr>
        <p:spPr>
          <a:xfrm>
            <a:off x="8343900" y="781050"/>
            <a:ext cx="45720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D743820B-F41A-49D9-A05D-1D1E96AE1F1F}"/>
              </a:ext>
            </a:extLst>
          </p:cNvPr>
          <p:cNvSpPr>
            <a:spLocks noGrp="1"/>
          </p:cNvSpPr>
          <p:nvPr/>
        </p:nvSpPr>
        <p:spPr>
          <a:xfrm>
            <a:off x="8591550" y="819150"/>
            <a:ext cx="5524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E6F975FF-5D1C-4AEC-8E6F-69747F64E076}"/>
              </a:ext>
            </a:extLst>
          </p:cNvPr>
          <p:cNvSpPr>
            <a:spLocks noGrp="1"/>
          </p:cNvSpPr>
          <p:nvPr/>
        </p:nvSpPr>
        <p:spPr>
          <a:xfrm>
            <a:off x="8839200" y="857250"/>
            <a:ext cx="1714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07998EE9-365E-4EDE-972B-744DFE27A134}"/>
              </a:ext>
            </a:extLst>
          </p:cNvPr>
          <p:cNvSpPr>
            <a:spLocks noGrp="1"/>
          </p:cNvSpPr>
          <p:nvPr/>
        </p:nvSpPr>
        <p:spPr>
          <a:xfrm>
            <a:off x="9086850" y="781050"/>
            <a:ext cx="26670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CE91C64C-C95B-4500-AACB-05B0617E4571}"/>
              </a:ext>
            </a:extLst>
          </p:cNvPr>
          <p:cNvSpPr>
            <a:spLocks noGrp="1"/>
          </p:cNvSpPr>
          <p:nvPr/>
        </p:nvSpPr>
        <p:spPr>
          <a:xfrm>
            <a:off x="9334500" y="819150"/>
            <a:ext cx="3619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Rounded Rectangle 44">
            <a:extLst>
              <a:ext uri="{FF2B5EF4-FFF2-40B4-BE49-F238E27FC236}">
                <a16:creationId xmlns:a16="http://schemas.microsoft.com/office/drawing/2014/main" id="{A88612AD-209F-456F-9E97-1E0EB53F33D8}"/>
              </a:ext>
            </a:extLst>
          </p:cNvPr>
          <p:cNvSpPr>
            <a:spLocks noGrp="1"/>
          </p:cNvSpPr>
          <p:nvPr/>
        </p:nvSpPr>
        <p:spPr>
          <a:xfrm>
            <a:off x="9582150" y="857250"/>
            <a:ext cx="45720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Rounded Rectangle 45">
            <a:extLst>
              <a:ext uri="{FF2B5EF4-FFF2-40B4-BE49-F238E27FC236}">
                <a16:creationId xmlns:a16="http://schemas.microsoft.com/office/drawing/2014/main" id="{3E3F1DA9-2627-498A-B3C9-2E007A7C539E}"/>
              </a:ext>
            </a:extLst>
          </p:cNvPr>
          <p:cNvSpPr>
            <a:spLocks noGrp="1"/>
          </p:cNvSpPr>
          <p:nvPr/>
        </p:nvSpPr>
        <p:spPr>
          <a:xfrm>
            <a:off x="9829800" y="781050"/>
            <a:ext cx="5524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Rounded Rectangle 46">
            <a:extLst>
              <a:ext uri="{FF2B5EF4-FFF2-40B4-BE49-F238E27FC236}">
                <a16:creationId xmlns:a16="http://schemas.microsoft.com/office/drawing/2014/main" id="{29506682-0CD3-4F02-A65B-7D0AD5314B02}"/>
              </a:ext>
            </a:extLst>
          </p:cNvPr>
          <p:cNvSpPr>
            <a:spLocks noGrp="1"/>
          </p:cNvSpPr>
          <p:nvPr/>
        </p:nvSpPr>
        <p:spPr>
          <a:xfrm>
            <a:off x="10077450" y="819150"/>
            <a:ext cx="1714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Rounded Rectangle 47">
            <a:extLst>
              <a:ext uri="{FF2B5EF4-FFF2-40B4-BE49-F238E27FC236}">
                <a16:creationId xmlns:a16="http://schemas.microsoft.com/office/drawing/2014/main" id="{975D16F7-49F2-4429-B61B-066F51CE3987}"/>
              </a:ext>
            </a:extLst>
          </p:cNvPr>
          <p:cNvSpPr>
            <a:spLocks noGrp="1"/>
          </p:cNvSpPr>
          <p:nvPr/>
        </p:nvSpPr>
        <p:spPr>
          <a:xfrm>
            <a:off x="10325100" y="857250"/>
            <a:ext cx="26670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Rounded Rectangle 48">
            <a:extLst>
              <a:ext uri="{FF2B5EF4-FFF2-40B4-BE49-F238E27FC236}">
                <a16:creationId xmlns:a16="http://schemas.microsoft.com/office/drawing/2014/main" id="{A8F6B975-88D0-458E-89AF-CA5A58FEB315}"/>
              </a:ext>
            </a:extLst>
          </p:cNvPr>
          <p:cNvSpPr>
            <a:spLocks noGrp="1"/>
          </p:cNvSpPr>
          <p:nvPr/>
        </p:nvSpPr>
        <p:spPr>
          <a:xfrm>
            <a:off x="10572750" y="781050"/>
            <a:ext cx="3619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Rounded Rectangle 49">
            <a:extLst>
              <a:ext uri="{FF2B5EF4-FFF2-40B4-BE49-F238E27FC236}">
                <a16:creationId xmlns:a16="http://schemas.microsoft.com/office/drawing/2014/main" id="{827BF30D-308B-40C9-9DDF-2843954140CE}"/>
              </a:ext>
            </a:extLst>
          </p:cNvPr>
          <p:cNvSpPr>
            <a:spLocks noGrp="1"/>
          </p:cNvSpPr>
          <p:nvPr/>
        </p:nvSpPr>
        <p:spPr>
          <a:xfrm>
            <a:off x="6972300" y="1009650"/>
            <a:ext cx="45720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Rounded Rectangle 50">
            <a:extLst>
              <a:ext uri="{FF2B5EF4-FFF2-40B4-BE49-F238E27FC236}">
                <a16:creationId xmlns:a16="http://schemas.microsoft.com/office/drawing/2014/main" id="{A19DE744-20EB-457C-949C-12FE3301B538}"/>
              </a:ext>
            </a:extLst>
          </p:cNvPr>
          <p:cNvSpPr>
            <a:spLocks noGrp="1"/>
          </p:cNvSpPr>
          <p:nvPr/>
        </p:nvSpPr>
        <p:spPr>
          <a:xfrm>
            <a:off x="7219950" y="1047750"/>
            <a:ext cx="5524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Rounded Rectangle 51">
            <a:extLst>
              <a:ext uri="{FF2B5EF4-FFF2-40B4-BE49-F238E27FC236}">
                <a16:creationId xmlns:a16="http://schemas.microsoft.com/office/drawing/2014/main" id="{80896BFD-8A4D-4AAC-AE2E-AD57909D3504}"/>
              </a:ext>
            </a:extLst>
          </p:cNvPr>
          <p:cNvSpPr>
            <a:spLocks noGrp="1"/>
          </p:cNvSpPr>
          <p:nvPr/>
        </p:nvSpPr>
        <p:spPr>
          <a:xfrm>
            <a:off x="7467600" y="1085850"/>
            <a:ext cx="1714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Rounded Rectangle 52">
            <a:extLst>
              <a:ext uri="{FF2B5EF4-FFF2-40B4-BE49-F238E27FC236}">
                <a16:creationId xmlns:a16="http://schemas.microsoft.com/office/drawing/2014/main" id="{29675DDC-F566-432A-9798-421952A86B05}"/>
              </a:ext>
            </a:extLst>
          </p:cNvPr>
          <p:cNvSpPr>
            <a:spLocks noGrp="1"/>
          </p:cNvSpPr>
          <p:nvPr/>
        </p:nvSpPr>
        <p:spPr>
          <a:xfrm>
            <a:off x="7715250" y="1009650"/>
            <a:ext cx="26670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Rounded Rectangle 53">
            <a:extLst>
              <a:ext uri="{FF2B5EF4-FFF2-40B4-BE49-F238E27FC236}">
                <a16:creationId xmlns:a16="http://schemas.microsoft.com/office/drawing/2014/main" id="{7CE7A36A-4036-40A5-BEB2-45DD9253B5FD}"/>
              </a:ext>
            </a:extLst>
          </p:cNvPr>
          <p:cNvSpPr>
            <a:spLocks noGrp="1"/>
          </p:cNvSpPr>
          <p:nvPr/>
        </p:nvSpPr>
        <p:spPr>
          <a:xfrm>
            <a:off x="7962900" y="1047750"/>
            <a:ext cx="3619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Rounded Rectangle 54">
            <a:extLst>
              <a:ext uri="{FF2B5EF4-FFF2-40B4-BE49-F238E27FC236}">
                <a16:creationId xmlns:a16="http://schemas.microsoft.com/office/drawing/2014/main" id="{1110DE3A-D64A-4445-BBE0-0B25446CDD75}"/>
              </a:ext>
            </a:extLst>
          </p:cNvPr>
          <p:cNvSpPr>
            <a:spLocks noGrp="1"/>
          </p:cNvSpPr>
          <p:nvPr/>
        </p:nvSpPr>
        <p:spPr>
          <a:xfrm>
            <a:off x="8210550" y="1085850"/>
            <a:ext cx="45720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Rounded Rectangle 55">
            <a:extLst>
              <a:ext uri="{FF2B5EF4-FFF2-40B4-BE49-F238E27FC236}">
                <a16:creationId xmlns:a16="http://schemas.microsoft.com/office/drawing/2014/main" id="{CDDC1E92-21F7-47BD-BFE1-272A04F4788B}"/>
              </a:ext>
            </a:extLst>
          </p:cNvPr>
          <p:cNvSpPr>
            <a:spLocks noGrp="1"/>
          </p:cNvSpPr>
          <p:nvPr/>
        </p:nvSpPr>
        <p:spPr>
          <a:xfrm>
            <a:off x="8458200" y="1009650"/>
            <a:ext cx="5524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Rounded Rectangle 56">
            <a:extLst>
              <a:ext uri="{FF2B5EF4-FFF2-40B4-BE49-F238E27FC236}">
                <a16:creationId xmlns:a16="http://schemas.microsoft.com/office/drawing/2014/main" id="{2E303B13-E212-4C7A-A15C-3EA2A736FA15}"/>
              </a:ext>
            </a:extLst>
          </p:cNvPr>
          <p:cNvSpPr>
            <a:spLocks noGrp="1"/>
          </p:cNvSpPr>
          <p:nvPr/>
        </p:nvSpPr>
        <p:spPr>
          <a:xfrm>
            <a:off x="8705850" y="1047750"/>
            <a:ext cx="1714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Rounded Rectangle 57">
            <a:extLst>
              <a:ext uri="{FF2B5EF4-FFF2-40B4-BE49-F238E27FC236}">
                <a16:creationId xmlns:a16="http://schemas.microsoft.com/office/drawing/2014/main" id="{66442A69-68C6-43DA-A8E0-AB2D394A5CB2}"/>
              </a:ext>
            </a:extLst>
          </p:cNvPr>
          <p:cNvSpPr>
            <a:spLocks noGrp="1"/>
          </p:cNvSpPr>
          <p:nvPr/>
        </p:nvSpPr>
        <p:spPr>
          <a:xfrm>
            <a:off x="8953500" y="1085850"/>
            <a:ext cx="26670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Rounded Rectangle 58">
            <a:extLst>
              <a:ext uri="{FF2B5EF4-FFF2-40B4-BE49-F238E27FC236}">
                <a16:creationId xmlns:a16="http://schemas.microsoft.com/office/drawing/2014/main" id="{6C34598C-9438-40D0-BB45-AEA506729C5A}"/>
              </a:ext>
            </a:extLst>
          </p:cNvPr>
          <p:cNvSpPr>
            <a:spLocks noGrp="1"/>
          </p:cNvSpPr>
          <p:nvPr/>
        </p:nvSpPr>
        <p:spPr>
          <a:xfrm>
            <a:off x="9201150" y="1009650"/>
            <a:ext cx="361950" cy="28575"/>
          </a:xfrm>
          <a:prstGeom prst="roundRect">
            <a:avLst>
              <a:gd name="adj" fmla="val 50000"/>
            </a:avLst>
          </a:prstGeom>
          <a:solidFill>
            <a:srgbClr val="E8E2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CCE6D128-7549-4AF3-B8B8-5C55690BC06C}"/>
              </a:ext>
            </a:extLst>
          </p:cNvPr>
          <p:cNvSpPr>
            <a:spLocks noGrp="1"/>
          </p:cNvSpPr>
          <p:nvPr/>
        </p:nvSpPr>
        <p:spPr>
          <a:xfrm>
            <a:off x="342900" y="76200"/>
            <a:ext cx="342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 i="0">
                <a:solidFill>
                  <a:srgbClr val="8A8580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8A8580"/>
                </a:solidFill>
                <a:latin typeface="Aptos"/>
                <a:ea typeface="Aptos"/>
                <a:cs typeface="Aptos"/>
              </a:rPr>
              <a:t>Confidential - Oracle Restricted (Employees Only)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3C473835-1680-467B-9335-79FDC5D4C20D}"/>
              </a:ext>
            </a:extLst>
          </p:cNvPr>
          <p:cNvSpPr>
            <a:spLocks noGrp="1"/>
          </p:cNvSpPr>
          <p:nvPr/>
        </p:nvSpPr>
        <p:spPr>
          <a:xfrm>
            <a:off x="342900" y="6572250"/>
            <a:ext cx="2476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 i="0">
                <a:solidFill>
                  <a:srgbClr val="807A76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807A76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DB776B5D-FF64-441A-A69B-82FF4C8DDD5E}"/>
              </a:ext>
            </a:extLst>
          </p:cNvPr>
          <p:cNvSpPr>
            <a:spLocks noGrp="1"/>
          </p:cNvSpPr>
          <p:nvPr/>
        </p:nvSpPr>
        <p:spPr>
          <a:xfrm>
            <a:off x="723900" y="6572250"/>
            <a:ext cx="4381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 i="0">
                <a:solidFill>
                  <a:srgbClr val="807A76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807A76"/>
                </a:solidFill>
                <a:latin typeface="Aptos"/>
                <a:ea typeface="Aptos"/>
                <a:cs typeface="Aptos"/>
              </a:rPr>
              <a:t>Summary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6B8342A5-401B-47EE-86FA-19B9ADED5234}"/>
              </a:ext>
            </a:extLst>
          </p:cNvPr>
          <p:cNvSpPr>
            <a:spLocks noGrp="1"/>
          </p:cNvSpPr>
          <p:nvPr/>
        </p:nvSpPr>
        <p:spPr>
          <a:xfrm>
            <a:off x="11334750" y="6419850"/>
            <a:ext cx="419100" cy="419100"/>
          </a:xfrm>
          <a:prstGeom prst="rect">
            <a:avLst/>
          </a:prstGeom>
          <a:solidFill>
            <a:srgbClr val="C7463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Rounded Rectangle 63">
            <a:extLst>
              <a:ext uri="{FF2B5EF4-FFF2-40B4-BE49-F238E27FC236}">
                <a16:creationId xmlns:a16="http://schemas.microsoft.com/office/drawing/2014/main" id="{38175EE6-7268-47F2-8706-FFE2FFD48EF7}"/>
              </a:ext>
            </a:extLst>
          </p:cNvPr>
          <p:cNvSpPr>
            <a:spLocks noGrp="1"/>
          </p:cNvSpPr>
          <p:nvPr/>
        </p:nvSpPr>
        <p:spPr>
          <a:xfrm>
            <a:off x="11430000" y="6562725"/>
            <a:ext cx="228600" cy="114300"/>
          </a:xfrm>
          <a:prstGeom prst="roundRect">
            <a:avLst>
              <a:gd name="adj" fmla="val 50000"/>
            </a:avLst>
          </a:prstGeom>
          <a:solidFill>
            <a:srgbClr val="000000">
              <a:alpha val="0"/>
            </a:srgbClr>
          </a:solidFill>
          <a:ln w="2286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3D595127-9FCF-4D4A-AE85-4256B72FFDAA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99060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 i="0">
                <a:solidFill>
                  <a:srgbClr val="2B2B2B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 i="0">
                <a:solidFill>
                  <a:srgbClr val="2B2B2B"/>
                </a:solidFill>
                <a:latin typeface="Aptos Display"/>
                <a:ea typeface="Aptos Display"/>
                <a:cs typeface="Aptos Display"/>
              </a:rPr>
              <a:t>Summary: ODT 2.0 makes AI-assisted delivery governable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5708BC4F-D541-4A68-BC98-DF906D19804A}"/>
              </a:ext>
            </a:extLst>
          </p:cNvPr>
          <p:cNvSpPr>
            <a:spLocks noGrp="1"/>
          </p:cNvSpPr>
          <p:nvPr/>
        </p:nvSpPr>
        <p:spPr>
          <a:xfrm>
            <a:off x="609600" y="1219200"/>
            <a:ext cx="99060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 i="0">
                <a:solidFill>
                  <a:srgbClr val="333333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333333"/>
                </a:solidFill>
                <a:latin typeface="Aptos"/>
                <a:ea typeface="Aptos"/>
                <a:cs typeface="Aptos"/>
              </a:rPr>
              <a:t>The opportunity is to scale AI coding safely by adding enterprise workflow, evidence, policy, and review around worker engines.</a:t>
            </a:r>
          </a:p>
        </p:txBody>
      </p:sp>
      <p:sp>
        <p:nvSpPr>
          <p:cNvPr id="67" name="Rounded Rectangle 66">
            <a:extLst>
              <a:ext uri="{FF2B5EF4-FFF2-40B4-BE49-F238E27FC236}">
                <a16:creationId xmlns:a16="http://schemas.microsoft.com/office/drawing/2014/main" id="{76B59328-24F5-41B7-BAFB-AC42935C2B2B}"/>
              </a:ext>
            </a:extLst>
          </p:cNvPr>
          <p:cNvSpPr>
            <a:spLocks noGrp="1"/>
          </p:cNvSpPr>
          <p:nvPr/>
        </p:nvSpPr>
        <p:spPr>
          <a:xfrm>
            <a:off x="685800" y="1619250"/>
            <a:ext cx="3143250" cy="20955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1430">
            <a:solidFill>
              <a:srgbClr val="DED8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E8446CCB-90D1-4C07-B515-97B9F1468F1F}"/>
              </a:ext>
            </a:extLst>
          </p:cNvPr>
          <p:cNvSpPr>
            <a:spLocks noGrp="1"/>
          </p:cNvSpPr>
          <p:nvPr/>
        </p:nvSpPr>
        <p:spPr>
          <a:xfrm>
            <a:off x="685800" y="1619250"/>
            <a:ext cx="76200" cy="2095500"/>
          </a:xfrm>
          <a:prstGeom prst="rect">
            <a:avLst/>
          </a:prstGeom>
          <a:solidFill>
            <a:srgbClr val="C7463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B574CAC5-6700-40D4-8ABD-B48B75467C8B}"/>
              </a:ext>
            </a:extLst>
          </p:cNvPr>
          <p:cNvSpPr>
            <a:spLocks noGrp="1"/>
          </p:cNvSpPr>
          <p:nvPr/>
        </p:nvSpPr>
        <p:spPr>
          <a:xfrm>
            <a:off x="895350" y="1790700"/>
            <a:ext cx="27432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 i="0">
                <a:solidFill>
                  <a:srgbClr val="8C1D18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8C1D18"/>
                </a:solidFill>
                <a:latin typeface="Aptos"/>
                <a:ea typeface="Aptos"/>
                <a:cs typeface="Aptos"/>
              </a:rPr>
              <a:t>Business impact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905F3C68-ACD8-4390-AB4C-77410B228413}"/>
              </a:ext>
            </a:extLst>
          </p:cNvPr>
          <p:cNvSpPr>
            <a:spLocks noGrp="1"/>
          </p:cNvSpPr>
          <p:nvPr/>
        </p:nvSpPr>
        <p:spPr>
          <a:xfrm>
            <a:off x="895350" y="2095500"/>
            <a:ext cx="2743200" cy="1504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 i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2B2B2B"/>
                </a:solidFill>
                <a:latin typeface="Aptos"/>
                <a:ea typeface="Aptos"/>
                <a:cs typeface="Aptos"/>
              </a:rPr>
              <a:t>Less repetitive planning work, faster requirement-to-action flow, better review consistency, earlier standards visibility, and measurable PR readiness.</a:t>
            </a:r>
          </a:p>
        </p:txBody>
      </p:sp>
      <p:sp>
        <p:nvSpPr>
          <p:cNvPr id="71" name="Rounded Rectangle 70">
            <a:extLst>
              <a:ext uri="{FF2B5EF4-FFF2-40B4-BE49-F238E27FC236}">
                <a16:creationId xmlns:a16="http://schemas.microsoft.com/office/drawing/2014/main" id="{3D0D9DFF-FDD2-41F9-AD00-D0D96FD6592F}"/>
              </a:ext>
            </a:extLst>
          </p:cNvPr>
          <p:cNvSpPr>
            <a:spLocks noGrp="1"/>
          </p:cNvSpPr>
          <p:nvPr/>
        </p:nvSpPr>
        <p:spPr>
          <a:xfrm>
            <a:off x="4514850" y="1619250"/>
            <a:ext cx="3143250" cy="20955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1430">
            <a:solidFill>
              <a:srgbClr val="DED8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E1C66122-3D0D-4D44-A940-4C79DB1739A5}"/>
              </a:ext>
            </a:extLst>
          </p:cNvPr>
          <p:cNvSpPr>
            <a:spLocks noGrp="1"/>
          </p:cNvSpPr>
          <p:nvPr/>
        </p:nvSpPr>
        <p:spPr>
          <a:xfrm>
            <a:off x="4514850" y="1619250"/>
            <a:ext cx="76200" cy="2095500"/>
          </a:xfrm>
          <a:prstGeom prst="rect">
            <a:avLst/>
          </a:prstGeom>
          <a:solidFill>
            <a:srgbClr val="2F7D4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C8F16BA8-0BC6-4FB1-81E2-6197793698CE}"/>
              </a:ext>
            </a:extLst>
          </p:cNvPr>
          <p:cNvSpPr>
            <a:spLocks noGrp="1"/>
          </p:cNvSpPr>
          <p:nvPr/>
        </p:nvSpPr>
        <p:spPr>
          <a:xfrm>
            <a:off x="4724400" y="1790700"/>
            <a:ext cx="27432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 i="0">
                <a:solidFill>
                  <a:srgbClr val="8C1D18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8C1D18"/>
                </a:solidFill>
                <a:latin typeface="Aptos"/>
                <a:ea typeface="Aptos"/>
                <a:cs typeface="Aptos"/>
              </a:rPr>
              <a:t>Responsible AI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5443550F-1950-4094-85DA-6E5ACB95BE66}"/>
              </a:ext>
            </a:extLst>
          </p:cNvPr>
          <p:cNvSpPr>
            <a:spLocks noGrp="1"/>
          </p:cNvSpPr>
          <p:nvPr/>
        </p:nvSpPr>
        <p:spPr>
          <a:xfrm>
            <a:off x="4724400" y="2095500"/>
            <a:ext cx="2743200" cy="1504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 i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2B2B2B"/>
                </a:solidFill>
                <a:latin typeface="Aptos"/>
                <a:ea typeface="Aptos"/>
                <a:cs typeface="Aptos"/>
              </a:rPr>
              <a:t>Human approval remains mandatory; worker context is scoped; evidence is stored; prompts, actions, and outputs are auditable.</a:t>
            </a:r>
          </a:p>
        </p:txBody>
      </p:sp>
      <p:sp>
        <p:nvSpPr>
          <p:cNvPr id="75" name="Rounded Rectangle 74">
            <a:extLst>
              <a:ext uri="{FF2B5EF4-FFF2-40B4-BE49-F238E27FC236}">
                <a16:creationId xmlns:a16="http://schemas.microsoft.com/office/drawing/2014/main" id="{B331C0B8-FBCA-48B1-921C-3AEE1E294C32}"/>
              </a:ext>
            </a:extLst>
          </p:cNvPr>
          <p:cNvSpPr>
            <a:spLocks noGrp="1"/>
          </p:cNvSpPr>
          <p:nvPr/>
        </p:nvSpPr>
        <p:spPr>
          <a:xfrm>
            <a:off x="8343900" y="1619250"/>
            <a:ext cx="3143250" cy="20955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1430">
            <a:solidFill>
              <a:srgbClr val="DED8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AE6AF7B9-4751-4E74-9081-C4C557BA1328}"/>
              </a:ext>
            </a:extLst>
          </p:cNvPr>
          <p:cNvSpPr>
            <a:spLocks noGrp="1"/>
          </p:cNvSpPr>
          <p:nvPr/>
        </p:nvSpPr>
        <p:spPr>
          <a:xfrm>
            <a:off x="8343900" y="1619250"/>
            <a:ext cx="76200" cy="2095500"/>
          </a:xfrm>
          <a:prstGeom prst="rect">
            <a:avLst/>
          </a:prstGeom>
          <a:solidFill>
            <a:srgbClr val="2E5F8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7ABBCCB3-20CE-43A8-B7B1-F7990A7BFE65}"/>
              </a:ext>
            </a:extLst>
          </p:cNvPr>
          <p:cNvSpPr>
            <a:spLocks noGrp="1"/>
          </p:cNvSpPr>
          <p:nvPr/>
        </p:nvSpPr>
        <p:spPr>
          <a:xfrm>
            <a:off x="8553450" y="1790700"/>
            <a:ext cx="27432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 i="0">
                <a:solidFill>
                  <a:srgbClr val="8C1D18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8C1D18"/>
                </a:solidFill>
                <a:latin typeface="Aptos"/>
                <a:ea typeface="Aptos"/>
                <a:cs typeface="Aptos"/>
              </a:rPr>
              <a:t>Pilot expectation</a:t>
            </a: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4EE044BA-E656-4697-BE0C-16CF9DCE9645}"/>
              </a:ext>
            </a:extLst>
          </p:cNvPr>
          <p:cNvSpPr>
            <a:spLocks noGrp="1"/>
          </p:cNvSpPr>
          <p:nvPr/>
        </p:nvSpPr>
        <p:spPr>
          <a:xfrm>
            <a:off x="8553450" y="2095500"/>
            <a:ext cx="2743200" cy="1504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 i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2B2B2B"/>
                </a:solidFill>
                <a:latin typeface="Aptos"/>
                <a:ea typeface="Aptos"/>
                <a:cs typeface="Aptos"/>
              </a:rPr>
              <a:t>Use two or three teams, measure planning time, prompt size, review rework, PR blockers, accepted risk, and audit completeness.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466E573B-6EB8-445A-A0CB-AF1F260F0048}"/>
              </a:ext>
            </a:extLst>
          </p:cNvPr>
          <p:cNvSpPr>
            <a:spLocks noGrp="1"/>
          </p:cNvSpPr>
          <p:nvPr/>
        </p:nvSpPr>
        <p:spPr>
          <a:xfrm>
            <a:off x="685800" y="4400550"/>
            <a:ext cx="10801350" cy="685800"/>
          </a:xfrm>
          <a:prstGeom prst="rect">
            <a:avLst/>
          </a:prstGeom>
          <a:solidFill>
            <a:srgbClr val="FFF4D6"/>
          </a:solidFill>
          <a:ln w="9525">
            <a:solidFill>
              <a:srgbClr val="E9C8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DDED43D3-E8F2-4CF5-85B1-DBE1D9932DEA}"/>
              </a:ext>
            </a:extLst>
          </p:cNvPr>
          <p:cNvSpPr>
            <a:spLocks noGrp="1"/>
          </p:cNvSpPr>
          <p:nvPr/>
        </p:nvSpPr>
        <p:spPr>
          <a:xfrm>
            <a:off x="857250" y="4495800"/>
            <a:ext cx="104584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875" b="0" i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875" b="0" i="0">
                <a:solidFill>
                  <a:srgbClr val="2B2B2B"/>
                </a:solidFill>
                <a:latin typeface="Aptos"/>
                <a:ea typeface="Aptos"/>
                <a:cs typeface="Aptos"/>
              </a:rPr>
              <a:t>Leadership ask: approve a controlled ODT 2.0 pilot and evaluate it as an enterprise SDLC control plane, not merely a coding assistant.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29061A66-02A5-41EC-8FD1-698CE40FB7EC}"/>
              </a:ext>
            </a:extLst>
          </p:cNvPr>
          <p:cNvSpPr>
            <a:spLocks noGrp="1"/>
          </p:cNvSpPr>
          <p:nvPr/>
        </p:nvSpPr>
        <p:spPr>
          <a:xfrm>
            <a:off x="704850" y="5467350"/>
            <a:ext cx="2095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1" i="0">
                <a:solidFill>
                  <a:srgbClr val="8C1D18"/>
                </a:solidFill>
                <a:latin typeface="Aptos"/>
                <a:ea typeface="Aptos"/>
                <a:cs typeface="Aptos"/>
              </a:defRPr>
            </a:pPr>
            <a:r>
              <a:rPr sz="1725" b="1" i="0">
                <a:solidFill>
                  <a:srgbClr val="8C1D18"/>
                </a:solidFill>
                <a:latin typeface="Aptos"/>
                <a:ea typeface="Aptos"/>
                <a:cs typeface="Aptos"/>
              </a:rPr>
              <a:t>Closing takeaway</a:t>
            </a: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10EE4058-3506-4462-BB13-F699BB81AE44}"/>
              </a:ext>
            </a:extLst>
          </p:cNvPr>
          <p:cNvSpPr>
            <a:spLocks noGrp="1"/>
          </p:cNvSpPr>
          <p:nvPr/>
        </p:nvSpPr>
        <p:spPr>
          <a:xfrm>
            <a:off x="704850" y="5829300"/>
            <a:ext cx="100965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0" i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650" b="0" i="0">
                <a:solidFill>
                  <a:srgbClr val="2B2B2B"/>
                </a:solidFill>
                <a:latin typeface="Aptos"/>
                <a:ea typeface="Aptos"/>
                <a:cs typeface="Aptos"/>
              </a:rPr>
              <a:t>ODT stands out by combining modern AI worker execution with enterprise governance, traceability, customization, privacy posture, and cost-aware context management.</a:t>
            </a:r>
          </a:p>
        </p:txBody>
      </p:sp>
    </p:spTree>
    <p:extLst>
      <p:ext uri="{BB962C8B-B14F-4D97-AF65-F5344CB8AC3E}">
        <p14:creationId xmlns:p14="http://schemas.microsoft.com/office/powerpoint/2010/main" val="1092729480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825c952f-1947-4719-99e7-7bc5a76060a8}" enabled="1" method="Standard" siteId="{4e2c6054-71cb-48f1-bd6c-3a9705aca71b}" contentBits="3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2242</Words>
  <Application>Microsoft Macintosh PowerPoint</Application>
  <DocSecurity>0</DocSecurity>
  <PresentationFormat>Widescreen</PresentationFormat>
  <Paragraphs>307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Vijay N</cp:lastModifiedBy>
  <cp:revision>2</cp:revision>
  <dcterms:created xsi:type="dcterms:W3CDTF">2026-06-10T07:23:11Z</dcterms:created>
  <dcterms:modified xsi:type="dcterms:W3CDTF">2026-06-10T09:14:43Z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ChatGPT:5</vt:lpwstr>
  </property>
  <property fmtid="{D5CDD505-2E9C-101B-9397-08002B2CF9AE}" pid="3" name="ClassificationContentMarkingFooterText">
    <vt:lpwstr>Confidential - Oracle Restricted \Employees Only</vt:lpwstr>
  </property>
  <property fmtid="{D5CDD505-2E9C-101B-9397-08002B2CF9AE}" pid="4" name="ClassificationContentMarkingHeaderLocations">
    <vt:lpwstr>ChatGPT:4</vt:lpwstr>
  </property>
  <property fmtid="{D5CDD505-2E9C-101B-9397-08002B2CF9AE}" pid="5" name="ClassificationContentMarkingHeaderText">
    <vt:lpwstr>Confidential - Oracle Restricted \Employees Only</vt:lpwstr>
  </property>
</Properties>
</file>